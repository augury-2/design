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1 minute
PURPOSE — Frame inventory as a managerial choice, not only a formula.
FACILITATION
Welcome the class. State that the session will move from item economics to policy design. The promise is practical: students will leave able to recommend and challenge an inventory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4 minutes
PURPOSE — Surface the central cost–service–risk tension through a judgment call.
FACILITATION
Run a show-of-hands poll. Ask one student from each side to defend the choice. Then ask what information is missing. Keep the case illustrative rather than solving it as a newsvendor problem.
LIKELY MISCONCEPTION
Students may treat the higher gross margin as sufficient reason to buy more.
SUGGESTED ANSWER / DEBRIEF
Useful missing inputs include demand distribution, salvage value, substitution, expediting options, cash constraints, shelf life, forecast update timing, and reputational impact of stockouts.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 minutes
PURPOSE — State all seven learning objectives and connect them to the decision sequence.
FACILITATION
Preview the mini-case. Explain that classification determines attention, EOQ informs batch size, ROP and safety stock determine timing and protection, and network design decides where risk is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30 seconds
PURPOSE — Transition from the dilemma to inventory’s operating roles.
FACILITATION
Signal that before choosing a model, the class must distinguish why inventory is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 minutes
PURPOSE — Differentiate the four functions and link each to a managerial lever.
FACILITATION
Use one familiar example for each: truckload order, spare buffer, pre-holiday build, and in-transit stock. Ask which stock would fall if supplier lead time were cut.
LIKELY MISCONCEPTION
Students often call all inventory “safety stock.”
SUGGESTED ANSWER / DEBRIEF
Lead-time reduction directly lowers pipeline stock and usually lowers required safety stock. Cycle stock changes only if order quantities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2.5 minutes
PURPOSE — Connect physical flow to working capital and disruption protection.
FACILITATION
Walk left to right. Explain that decoupling stock allows stages to operate at different rhythms. Emphasize that inventory in transit is economically owned even when unavailable for customer service.
LIKELY MISCONCEPTION
Students may ignore pipeline inventory because it is not on a shelf.
SUGGESTED ANSWER / DEBRIEF
Pipeline inventory ties up cash and is exposed to delay, damage, and obsolescence; it may not be available to fulfill current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 minutes
PURPOSE — Establish the recurring managerial lens for every model.
FACILITATION
Ask students for a policy that improves one corner but harms another. Example: centralizing stock can reduce safety stock but increase response time and concentration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 minutes
PURPOSE — Introduce the cost families and the idea of a total relevant-cost optimum.
FACILITATION
Trace each curve. Ordering cost falls as Q rises; cycle-stock holding cost rises; total relevant cost is U-shaped. Explain that purchase cost is excluded only when price does not vary with Q. Transport and shortage costs may also change with the policy.
LIKELY MISCONCEPTION
Students may conclude product cost is unimportant because DC is omitted.
SUGGESTED ANSWER / DEBRIEF
Product cost remains financially important. It is mathematically constant across Q only under a constant unit price, so it does not affect the location of the basic EOQ optimum.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30 seconds
PURPOSE — Transition from system economics to portfolio segmentation.
FACILITATION
Tell students that the same replenishment model and service target should not be applied uniformly across thousands of SKUs.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3.5 minutes
PURPOSE — Teach the Pareto logic and its governance use.
FACILITATION
Explain that cutoffs are managerial conventions rather than laws; many firms use approximate shares such as A items representing a small fraction of SKUs but a large share of annual value. The chart is illustrative and intentionally not tied to a universal 80/20 claim.
LIKELY MISCONCEPTION
Students may infer that C items are unimportant.
SUGGESTED ANSWER / DEBRIEF
C means low annual consumption value, not low consequence. Cross-classify with criticality and movement before setting service or review intensity.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2.5 minutes
PURPOSE — Compare ABC, VED, and FSN as complementary lenses.
FACILITATION
Use a $2 gasket that can stop a production line as the VED counterexample to ABC. Use an obsolete replacement part as the FSN counterexample: it may not move but still needs a conscious disposition decision.
LIKELY MISCONCEPTION
Students may treat classification as permanent.
SUGGESTED ANSWER / DEBRIEF
Reclassify on a cadence and at lifecycle events. Promotions, product launches, engineering changes, and supplier disruptions can change a category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2.5 minutes
PURPOSE — Force students to combine classification lenses rather than choose a single hierarchy.
FACILITATION
Give 90 seconds individually and 60 seconds in pairs. Take two rankings. Distinguish “tight control” from “hold lots of stock.”
LIKELY MISCONCEPTION
Students may automatically rank P1 first because it is A-class.
SUGGESTED ANSWER / DEBRIEF
P1 and P2 both warrant tight control for different reasons. P2 may deserve the highest availability attention because it is vital, despite low value and slow movement. P4 needs an explicit lifecycle/disposition decision, not passive neglect.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30 seconds
PURPOSE — Transition from segmentation to lot size.
FACILITATION
Signal that EOQ applies to the replenishment batch, not directly to uncertainty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2.5 minutes
PURPOSE — Define every EOQ variable and frame assumptions as managerial claims.
FACILITATION
Clarify that D and H share an annual clock. Explain that safety stock, if constant across candidate Q values, does not change the basic EOQ derivation.
LIKELY MISCONCEPTION
Students may think EOQ requires perfectly predictable daily demand.
SUGGESTED ANSWER / DEBRIEF
EOQ primarily uses aggregate annual demand to balance batch costs. Day-to-day uncertainty is usually addressed in reorder-point and safety-stock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2.5 minutes
PURPOSE — Make the ordering-versus-holding trade-off visually intuitive.
FACILITATION
Point to the equality of annual ordering and cycle holding costs at 600. Emphasize the flatness near the bottom; exact precision in S and H is rarely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4 minutes
PURPOSE — Walk through the required EOQ arithmetic and interpretation.
FACILITATION
Pause before revealing each conceptual step. Check units aloud. Explain that average cycle stock is Q/2 = 300 units under the sawtooth assumptions. Verify 600² = 360,000.
LIKELY MISCONCEPTION
Students may report 600 as the reorder point.
SUGGESTED ANSWER / DEBRIEF
EOQ answers how much to order. The reorder point answers when to trigger replenishment and depends on lead-time demand and safety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2.5 minutes
PURPOSE — Build intuition for EOQ sensitivity and operational rounding.
FACILITATION
Students calculate or verify total annual relevant cost for each Q. Ask whether the $200 difference is decision-relevant once pack-size benefits are considered.
LIKELY MISCONCEPTION
Students may believe any quantity other than exact EOQ is wrong.
SUGGESTED ANSWER / DEBRIEF
Q = 500 is only 1.7% above the minimum modeled relevant cost. A practical constraint or process benefit worth more than $200/year would justify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4 minutes
PURPOSE — Compare the requested lot-sizing alternatives and their model fit.
FACILITATION
Explain periodic order quantity as translating an economic batch into an order interval. Explain lot-for-lot in MRP settings where demand is time-phased and dependent. Emphasize that capacity-constrained ordering is an optimization or heuristic problem, not merely a rounded EOQ.
LIKELY MISCONCEPTION
Students may select the most sophisticated model automatically.
SUGGESTED ANSWER / DEBRIEF
The appropriate model is the simplest one that captures the economically important features and constraints. More complexity without reliable inputs can reduce decision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 minutes
PURPOSE — Introduce quantity-discount logic without overloading the class with another long calculation.
FACILITATION
Ask students to name every term that changes. Explain that a candidate EOQ may not be feasible within a price tier, so the break quantity itself becomes a candidate.
LIKELY MISCONCEPTION
Students may multiply 2% by annual spend and stop.
SUGGESTED ANSWER / DEBRIEF
The decision should compare total annual purchase, ordering, holding, transport, and relevant risk/obsolescence consequences at feasible candidate quantities.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30 seconds
PURPOSE — Transition from lot size to order timing and protection.
FACILITATION
Remind students that Q and R answer different questions and can be designed separately in a basic continuous-review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3.5 minutes
PURPOSE — Explain sawtooth mechanics, lead-time demand, safety stock, and inventory position.
FACILITATION
Trace the blue line. At the ROP, an order is placed. During lead time inventory falls; receipt raises it by Q. Explain that this idealized sawtooth is a teaching picture; real demand arrives unevenly.
LIKELY MISCONCEPTION
Students may use on-hand inventory as the continuous-review trigger.
SUGGESTED ANSWER / DEBRIEF
Use inventory position = on-hand + on-order − backorders. Otherwise duplicate orders can be placed while replenishment is already in transit.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2.5 minutes
PURPOSE — Calculate and interpret a deterministic reorder point.
FACILITATION
Ask the class to compute daily demand before showing 80. Stress consistent time units. This policy assumes constant demand and no uncertainty.
LIKELY MISCONCEPTION
Students may add EOQ to the reorder point or use annual demand × 5.
SUGGESTED ANSWER / DEBRIEF
EOQ is the arriving quantity. ROP is the trigger. Convert 24,000 annual units to 80 units per working day, then multiply by five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 minutes
PURPOSE — State and bound the safety-stock formula.
FACILITATION
Define every symbol. Explain why independent daily variances add across L, producing √L rather than L. Mention the variable-lead-time approximation but do not derive it.
LIKELY MISCONCEPTION
Students may multiply σd by L rather than √L.
SUGGESTED ANSWER / DEBRIEF
Independent variances add over time. Standard deviation is the square root of variance, so lead-time-demand standard deviation scales with √L.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3.5 minutes
PURPOSE — Complete the safety-stock arithmetic and integrate Q with R.
FACILITATION
Have students estimate 20√5 before revealing 44.72. Explain that the unrounded calculation is 73.57 units, which rounds upward to 74. The annual safety-stock carrying cost is incremental to cycle-stock holding cost.
LIKELY MISCONCEPTION
Students may interpret 74 units as the entire reorder point.
SUGGESTED ANSWER / DEBRIEF
Safety stock is only the uncertainty buffer. ROP combines 400 units of expected lead-time demand with 74 safety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 minutes
PURPOSE — Differentiate cycle-service level from fill rate through an active misconception check.
FACILITATION
Run the vote before revealing the answer. Explain that z in the previous slide was selected for a cycle-service probability under Normal lead-time demand.
LIKELY MISCONCEPTION
Students commonly use CSL and fill rate interchangeably.
SUGGESTED ANSWER / DEBRIEF
False. CSL is the probability that a replenishment cycle has no stockout. Fill rate is the fraction of units filled immediately. One cannot infer one from the other without the shortage distribution and order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2.5 minutes
PURPOSE — Show why high service becomes disproportionately inventory-intensive.
FACILITATION
Read the chart as safety stock measured in standard-deviation units. The relationship is nonlinear near 100%. State that real cost can be even steeper if capacity, expiry, or expediting effects appear.
LIKELY MISCONCEPTION
Students may treat 99% as only four percentage points more than 95%.
SUGGESTED ANSWER / DEBRIEF
Under the Normal model z rises from 1.645 to 2.326, so required safety stock rises by (2.326/1.645 − 1) ≈ 41.4% when lead-time-demand variability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30 seconds
PURPOSE — Transition from item-level policy to network placement.
FACILITATION
Explain that the same aggregate stock can perform differently depending on where it sits and how quickly it can be repositioned.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 minutes
PURPOSE — Introduce multi-echelon coordination and the placement decision.
FACILITATION
Explain that a central DC must consider what regional locations hold and need, not only its own on-hand stock. Mention allocation rules during scarcity as part of policy design.
LIKELY MISCONCEPTION
Students may assume each node can optimize independently.
SUGGESTED ANSWER / DEBRIEF
Independent node-level optimization can duplicate safety stock, amplify orders, and create the wrong mix. Multi-echelon planning coordinates upstream and downstream inventory and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3.5 minutes
PURPOSE — Quantify risk-pooling value under explicit assumptions.
FACILITATION
Calculate decentralized safety stock using unrounded values: 2 × 98.7 = 197.4. Pooled safety stock is 139.58, a reduction of 57.82 units or 29.3%. After location-level rounding, the slide shows 198 versus 140.
LIKELY MISCONCEPTION
Students may add standard deviations or assume demand disappears.
SUGGESTED ANSWER / DEBRIEF
Expected demand still adds to 800 units of mean lead-time demand. Pooling changes relative variability and required safety stock, not expected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2.5 minutes
PURPOSE — Challenge the universal-centralization misconception and show the role of correlation.
FACILITATION
Use σpool = 60√(2 + 2ρ). At ρ = 0.5, σpool = 103.92 and SS = 170.95. At ρ = 1, pooled σ = 120 and SS = 197.4, exactly matching unrounded decentralized safety stock.
LIKELY MISCONCEPTION
Students may claim centralization is always cheaper.
SUGGESTED ANSWER / DEBRIEF
Pooling value requires imperfect correlation and effective access to the shared stock. Longer response time, higher freight, allocation friction, or concentration risk can outweigh the stock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 minutes
PURPOSE — Introduce the team case, assumptions, and the deliberate model-fit trap.
FACILITATION
Form teams of three to five. Assign one team member as “assumption challenger.” State the rounding rule: round Q to nearest unit; round SS and ROP upward. Emphasize that all data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5 minutes
PURPOSE — Run the core application activity.
FACILITATION
Circulate. Prompt teams that finish calculations early to question stationarity, criticality, and service economics. At 3 minutes, announce two minutes remaining. Ask teams to select one SKU for verbal defense.
LIKELY MISCONCEPTION
Teams may focus entirely on arithmetic.
SUGGESTED ANSWER / DEBRIEF
A strong answer combines numbers with model-fit critique and an intervention such as lead-time reduction, setup reduction, supplier flexibility, postponement, or lifecycle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3 minutes
PURPOSE — Debrief numerical answers and portfolio policy logic.
FACILITATION
Ask one team to defend SKU C and another to challenge SKU D. Explain that A is ABC high value and fast moving; C is likely Vital and slow; D is slow/intermittent with high obsolescence risk. Validate exact calculations from the slide.
LIKELY MISCONCEPTION
Students may set the highest service target for the highest annual-value SKU.
SUGGESTED ANSWER / DEBRIEF
Service should follow shortage consequence, margin, substitutability, and strategic importance—not annual value alone. SKU C’s 98% target may be justified by criticality, while SKU D needs a different demand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2.5 minutes
PURPOSE — Explain policy monitoring and metric trade-offs.
FACILITATION
Use a dashboard conversation: if turns rise while fill rate falls and premium freight rises, inventory may have been cut too far. If service is high but ageing rises, targets or lifecycle controls may be excessive. Recalibrate parameters after structural changes rather than reacting to every random fluctuation.
LIKELY MISCONCEPTION
Students may optimize turns as a standalone KPI.
SUGGESTED ANSWER / DEBRIEF
Turns measure capital efficiency, not customer impact or resilience. Pair them with service, forecast, shortage, expediting, and ageing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2 minutes
PURPOSE — Provide a reusable executive sequence and implementation artifact.
FACILITATION
Walk through the arrows quickly. Recommend a one-page policy card for each segment rather than for every SKU when scale is large. Emphasize named ownership and a recalibration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 1.5 minutes
PURPOSE — Consolidate the lecture and connect inventory to cash flow, customer experience, and resilience.
FACILITATION
Ask students to write the exit ticket, then invite one response if time allows. Good non-inventory levers include reducing setup cost, shortening/stabilizing lead time, improving substitution, using postponement, redesigning supplier terms, and changing service targets by segment.
LIKELY MISCONCEPTION
Students may leave with “more safety stock” as the default resilience answer.
SUGGESTED ANSWER / DEBRIEF
Resilience can come from flexibility, redundancy, visibility, lead-time reduction, postponement, substitution, and recovery speed. Inventory is only one form of insurance and can itself create obsolescence or concentration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1F33"/>
          </a:solidFill>
          <a:ln w="12700">
            <a:solidFill>
              <a:srgbClr val="0B1F33"/>
            </a:solidFill>
            <a:prstDash val="solid"/>
          </a:ln>
        </p:spPr>
      </p:sp>
      <p:sp>
        <p:nvSpPr>
          <p:cNvPr id="3" name="Text 1"/>
          <p:cNvSpPr/>
          <p:nvPr/>
        </p:nvSpPr>
        <p:spPr>
          <a:xfrm>
            <a:off x="411480" y="6547104"/>
            <a:ext cx="4206240" cy="146304"/>
          </a:xfrm>
          <a:prstGeom prst="rect">
            <a:avLst/>
          </a:prstGeom>
          <a:noFill/>
          <a:ln/>
        </p:spPr>
        <p:txBody>
          <a:bodyPr wrap="square" lIns="0" tIns="0" rIns="0" bIns="0" rtlCol="0" anchor="ctr"/>
          <a:lstStyle/>
          <a:p>
            <a:pPr indent="0" marL="0">
              <a:buNone/>
            </a:pPr>
            <a:r>
              <a:rPr lang="en-US" sz="800" b="1" dirty="0">
                <a:solidFill>
                  <a:srgbClr val="6B7785"/>
                </a:solidFill>
                <a:latin typeface="Aptos" pitchFamily="34" charset="0"/>
                <a:ea typeface="Aptos" pitchFamily="34" charset="-122"/>
                <a:cs typeface="Aptos" pitchFamily="34" charset="-120"/>
              </a:rPr>
              <a:t>INVENTORY PLANNING &amp; CONTROL</a:t>
            </a:r>
            <a:endParaRPr lang="en-US" sz="800" dirty="0"/>
          </a:p>
        </p:txBody>
      </p:sp>
      <p:sp>
        <p:nvSpPr>
          <p:cNvPr id="4" name="Text 2"/>
          <p:cNvSpPr/>
          <p:nvPr/>
        </p:nvSpPr>
        <p:spPr>
          <a:xfrm>
            <a:off x="10698480" y="6547104"/>
            <a:ext cx="1051560" cy="146304"/>
          </a:xfrm>
          <a:prstGeom prst="rect">
            <a:avLst/>
          </a:prstGeom>
          <a:noFill/>
          <a:ln/>
        </p:spPr>
        <p:txBody>
          <a:bodyPr wrap="square" lIns="0" tIns="0" rIns="0" bIns="0" rtlCol="0" anchor="ctr"/>
          <a:lstStyle/>
          <a:p>
            <a:pPr algn="r" indent="0" marL="0">
              <a:buNone/>
            </a:pPr>
            <a:r>
              <a:rPr lang="en-US" sz="800" b="1" dirty="0">
                <a:solidFill>
                  <a:srgbClr val="6B7785"/>
                </a:solidFill>
                <a:latin typeface="Aptos" pitchFamily="34" charset="0"/>
                <a:ea typeface="Aptos" pitchFamily="34" charset="-122"/>
                <a:cs typeface="Aptos" pitchFamily="34" charset="-120"/>
              </a:rPr>
              <a:t>MBA • 90 MIN</a:t>
            </a:r>
            <a:endParaRPr lang="en-US" sz="80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640080" y="502920"/>
            <a:ext cx="5760720" cy="256032"/>
          </a:xfrm>
          <a:prstGeom prst="rect">
            <a:avLst/>
          </a:prstGeom>
          <a:noFill/>
          <a:ln/>
        </p:spPr>
        <p:txBody>
          <a:bodyPr wrap="square" lIns="0" tIns="0" rIns="0" bIns="0" rtlCol="0" anchor="ctr">
            <a:normAutofit/>
          </a:bodyPr>
          <a:lstStyle/>
          <a:p>
            <a:pPr algn="l" indent="0" marL="0">
              <a:buNone/>
            </a:pPr>
            <a:r>
              <a:rPr lang="en-US" sz="1100" b="1" spc="130" kern="0" dirty="0">
                <a:solidFill>
                  <a:srgbClr val="4BB3C3"/>
                </a:solidFill>
                <a:latin typeface="Aptos" pitchFamily="34" charset="0"/>
                <a:ea typeface="Aptos" pitchFamily="34" charset="-122"/>
                <a:cs typeface="Aptos" pitchFamily="34" charset="-120"/>
              </a:rPr>
              <a:t>MBA OPERATIONS • 90-MINUTE INTERACTIVE LECTURE</a:t>
            </a:r>
            <a:endParaRPr lang="en-US" sz="1100" dirty="0"/>
          </a:p>
        </p:txBody>
      </p:sp>
      <p:sp>
        <p:nvSpPr>
          <p:cNvPr id="3" name="Text 1"/>
          <p:cNvSpPr txBox="1"/>
          <p:nvPr/>
        </p:nvSpPr>
        <p:spPr>
          <a:xfrm>
            <a:off x="640080" y="1097280"/>
            <a:ext cx="6400800" cy="1508760"/>
          </a:xfrm>
          <a:prstGeom prst="rect">
            <a:avLst/>
          </a:prstGeom>
          <a:noFill/>
          <a:ln/>
        </p:spPr>
        <p:txBody>
          <a:bodyPr wrap="square" lIns="0" tIns="0" rIns="0" bIns="0" rtlCol="0" anchor="ctr">
            <a:normAutofit/>
          </a:bodyPr>
          <a:lstStyle/>
          <a:p>
            <a:pPr algn="l" indent="0" marL="0">
              <a:buNone/>
            </a:pPr>
            <a:r>
              <a:rPr lang="en-US" sz="4200" b="1" dirty="0">
                <a:solidFill>
                  <a:srgbClr val="FFFFFF"/>
                </a:solidFill>
                <a:latin typeface="Aptos" pitchFamily="34" charset="0"/>
                <a:ea typeface="Aptos" pitchFamily="34" charset="-122"/>
                <a:cs typeface="Aptos" pitchFamily="34" charset="-120"/>
              </a:rPr>
              <a:t>Inventory Planning</a:t>
            </a:r>
            <a:endParaRPr lang="en-US" sz="4200" dirty="0"/>
          </a:p>
          <a:p>
            <a:pPr algn="l" indent="0" marL="0">
              <a:buNone/>
            </a:pPr>
            <a:r>
              <a:rPr lang="en-US" sz="4200" b="1" dirty="0">
                <a:solidFill>
                  <a:srgbClr val="FFFFFF"/>
                </a:solidFill>
                <a:latin typeface="Aptos" pitchFamily="34" charset="0"/>
                <a:ea typeface="Aptos" pitchFamily="34" charset="-122"/>
                <a:cs typeface="Aptos" pitchFamily="34" charset="-120"/>
              </a:rPr>
              <a:t>&amp; Control Models</a:t>
            </a:r>
            <a:endParaRPr lang="en-US" sz="4200" dirty="0"/>
          </a:p>
        </p:txBody>
      </p:sp>
      <p:sp>
        <p:nvSpPr>
          <p:cNvPr id="4" name="Text 2"/>
          <p:cNvSpPr txBox="1"/>
          <p:nvPr/>
        </p:nvSpPr>
        <p:spPr>
          <a:xfrm>
            <a:off x="658368" y="2788920"/>
            <a:ext cx="5303520" cy="438912"/>
          </a:xfrm>
          <a:prstGeom prst="rect">
            <a:avLst/>
          </a:prstGeom>
          <a:noFill/>
          <a:ln/>
        </p:spPr>
        <p:txBody>
          <a:bodyPr wrap="square" lIns="0" tIns="0" rIns="0" bIns="0" rtlCol="0" anchor="ctr">
            <a:normAutofit/>
          </a:bodyPr>
          <a:lstStyle/>
          <a:p>
            <a:pPr algn="l" indent="0" marL="0">
              <a:buNone/>
            </a:pPr>
            <a:r>
              <a:rPr lang="en-US" sz="2300" dirty="0">
                <a:solidFill>
                  <a:srgbClr val="F28E2B"/>
                </a:solidFill>
                <a:latin typeface="Aptos" pitchFamily="34" charset="0"/>
                <a:ea typeface="Aptos" pitchFamily="34" charset="-122"/>
                <a:cs typeface="Aptos" pitchFamily="34" charset="-120"/>
              </a:rPr>
              <a:t>Balancing cost, service, and risk</a:t>
            </a:r>
            <a:endParaRPr lang="en-US" sz="2300" dirty="0"/>
          </a:p>
        </p:txBody>
      </p:sp>
      <p:sp>
        <p:nvSpPr>
          <p:cNvPr id="5" name="Text 3"/>
          <p:cNvSpPr txBox="1"/>
          <p:nvPr/>
        </p:nvSpPr>
        <p:spPr>
          <a:xfrm>
            <a:off x="658368" y="3410712"/>
            <a:ext cx="5486400" cy="640080"/>
          </a:xfrm>
          <a:prstGeom prst="rect">
            <a:avLst/>
          </a:prstGeom>
          <a:noFill/>
          <a:ln/>
        </p:spPr>
        <p:txBody>
          <a:bodyPr wrap="square" lIns="0" tIns="0" rIns="0" bIns="0" rtlCol="0" anchor="ctr">
            <a:normAutofit/>
          </a:bodyPr>
          <a:lstStyle/>
          <a:p>
            <a:pPr algn="l" indent="0" marL="0">
              <a:buNone/>
            </a:pPr>
            <a:r>
              <a:rPr lang="en-US" sz="1600" dirty="0">
                <a:solidFill>
                  <a:srgbClr val="C9D6E1"/>
                </a:solidFill>
                <a:latin typeface="Aptos" pitchFamily="34" charset="0"/>
                <a:ea typeface="Aptos" pitchFamily="34" charset="-122"/>
                <a:cs typeface="Aptos" pitchFamily="34" charset="-120"/>
              </a:rPr>
              <a:t>From item segmentation to EOQ, safety stock, and multi-echelon design</a:t>
            </a:r>
            <a:endParaRPr lang="en-US" sz="1600" dirty="0"/>
          </a:p>
        </p:txBody>
      </p:sp>
      <p:sp>
        <p:nvSpPr>
          <p:cNvPr id="6" name="Shape 4"/>
          <p:cNvSpPr/>
          <p:nvPr/>
        </p:nvSpPr>
        <p:spPr>
          <a:xfrm rot="16200000">
            <a:off x="7635240" y="1097280"/>
            <a:ext cx="3063240" cy="768096"/>
          </a:xfrm>
          <a:prstGeom prst="chevron">
            <a:avLst/>
          </a:prstGeom>
          <a:solidFill>
            <a:srgbClr val="173B57"/>
          </a:solidFill>
          <a:ln w="12700">
            <a:solidFill>
              <a:srgbClr val="173B57"/>
            </a:solidFill>
            <a:prstDash val="solid"/>
          </a:ln>
        </p:spPr>
      </p:sp>
      <p:sp>
        <p:nvSpPr>
          <p:cNvPr id="7" name="Shape 5"/>
          <p:cNvSpPr/>
          <p:nvPr/>
        </p:nvSpPr>
        <p:spPr>
          <a:xfrm>
            <a:off x="7635240" y="1645920"/>
            <a:ext cx="3063240" cy="1645920"/>
          </a:xfrm>
          <a:prstGeom prst="rect">
            <a:avLst/>
          </a:prstGeom>
          <a:solidFill>
            <a:srgbClr val="EAF3F8"/>
          </a:solidFill>
          <a:ln w="12700">
            <a:solidFill>
              <a:srgbClr val="1D6FA5"/>
            </a:solidFill>
            <a:prstDash val="solid"/>
          </a:ln>
        </p:spPr>
      </p:sp>
      <p:sp>
        <p:nvSpPr>
          <p:cNvPr id="8" name="Shape 6"/>
          <p:cNvSpPr/>
          <p:nvPr/>
        </p:nvSpPr>
        <p:spPr>
          <a:xfrm>
            <a:off x="7781544" y="2150669"/>
            <a:ext cx="612648" cy="438912"/>
          </a:xfrm>
          <a:prstGeom prst="roundRect">
            <a:avLst>
              <a:gd name="adj" fmla="val 10417"/>
            </a:avLst>
          </a:prstGeom>
          <a:solidFill>
            <a:srgbClr val="1D6FA5"/>
          </a:solidFill>
          <a:ln w="12700">
            <a:solidFill>
              <a:srgbClr val="1D6FA5"/>
            </a:solidFill>
            <a:prstDash val="solid"/>
          </a:ln>
        </p:spPr>
      </p:sp>
      <p:sp>
        <p:nvSpPr>
          <p:cNvPr id="9" name="Shape 7"/>
          <p:cNvSpPr/>
          <p:nvPr/>
        </p:nvSpPr>
        <p:spPr>
          <a:xfrm>
            <a:off x="8087868" y="2150669"/>
            <a:ext cx="0" cy="438912"/>
          </a:xfrm>
          <a:prstGeom prst="line">
            <a:avLst/>
          </a:prstGeom>
          <a:noFill/>
          <a:ln w="12700">
            <a:solidFill>
              <a:srgbClr val="FFFFFF"/>
            </a:solidFill>
            <a:prstDash val="solid"/>
          </a:ln>
        </p:spPr>
      </p:sp>
      <p:sp>
        <p:nvSpPr>
          <p:cNvPr id="10" name="Shape 8"/>
          <p:cNvSpPr/>
          <p:nvPr/>
        </p:nvSpPr>
        <p:spPr>
          <a:xfrm>
            <a:off x="7781544" y="2348179"/>
            <a:ext cx="612648" cy="0"/>
          </a:xfrm>
          <a:prstGeom prst="line">
            <a:avLst/>
          </a:prstGeom>
          <a:noFill/>
          <a:ln w="12700">
            <a:solidFill>
              <a:srgbClr val="FFFFFF"/>
            </a:solidFill>
            <a:prstDash val="solid"/>
          </a:ln>
        </p:spPr>
      </p:sp>
      <p:sp>
        <p:nvSpPr>
          <p:cNvPr id="11" name="Shape 9"/>
          <p:cNvSpPr/>
          <p:nvPr/>
        </p:nvSpPr>
        <p:spPr>
          <a:xfrm>
            <a:off x="8608619" y="2150669"/>
            <a:ext cx="612648" cy="438912"/>
          </a:xfrm>
          <a:prstGeom prst="roundRect">
            <a:avLst>
              <a:gd name="adj" fmla="val 10417"/>
            </a:avLst>
          </a:prstGeom>
          <a:solidFill>
            <a:srgbClr val="1D6FA5"/>
          </a:solidFill>
          <a:ln w="12700">
            <a:solidFill>
              <a:srgbClr val="1D6FA5"/>
            </a:solidFill>
            <a:prstDash val="solid"/>
          </a:ln>
        </p:spPr>
      </p:sp>
      <p:sp>
        <p:nvSpPr>
          <p:cNvPr id="12" name="Shape 10"/>
          <p:cNvSpPr/>
          <p:nvPr/>
        </p:nvSpPr>
        <p:spPr>
          <a:xfrm>
            <a:off x="8914943" y="2150669"/>
            <a:ext cx="0" cy="438912"/>
          </a:xfrm>
          <a:prstGeom prst="line">
            <a:avLst/>
          </a:prstGeom>
          <a:noFill/>
          <a:ln w="12700">
            <a:solidFill>
              <a:srgbClr val="FFFFFF"/>
            </a:solidFill>
            <a:prstDash val="solid"/>
          </a:ln>
        </p:spPr>
      </p:sp>
      <p:sp>
        <p:nvSpPr>
          <p:cNvPr id="13" name="Shape 11"/>
          <p:cNvSpPr/>
          <p:nvPr/>
        </p:nvSpPr>
        <p:spPr>
          <a:xfrm>
            <a:off x="8608619" y="2348179"/>
            <a:ext cx="612648" cy="0"/>
          </a:xfrm>
          <a:prstGeom prst="line">
            <a:avLst/>
          </a:prstGeom>
          <a:noFill/>
          <a:ln w="12700">
            <a:solidFill>
              <a:srgbClr val="FFFFFF"/>
            </a:solidFill>
            <a:prstDash val="solid"/>
          </a:ln>
        </p:spPr>
      </p:sp>
      <p:sp>
        <p:nvSpPr>
          <p:cNvPr id="14" name="Shape 12"/>
          <p:cNvSpPr/>
          <p:nvPr/>
        </p:nvSpPr>
        <p:spPr>
          <a:xfrm>
            <a:off x="9435694" y="2150669"/>
            <a:ext cx="612648" cy="438912"/>
          </a:xfrm>
          <a:prstGeom prst="roundRect">
            <a:avLst>
              <a:gd name="adj" fmla="val 10417"/>
            </a:avLst>
          </a:prstGeom>
          <a:solidFill>
            <a:srgbClr val="F28E2B"/>
          </a:solidFill>
          <a:ln w="12700">
            <a:solidFill>
              <a:srgbClr val="F28E2B"/>
            </a:solidFill>
            <a:prstDash val="solid"/>
          </a:ln>
        </p:spPr>
      </p:sp>
      <p:sp>
        <p:nvSpPr>
          <p:cNvPr id="15" name="Shape 13"/>
          <p:cNvSpPr/>
          <p:nvPr/>
        </p:nvSpPr>
        <p:spPr>
          <a:xfrm>
            <a:off x="9742018" y="2150669"/>
            <a:ext cx="0" cy="438912"/>
          </a:xfrm>
          <a:prstGeom prst="line">
            <a:avLst/>
          </a:prstGeom>
          <a:noFill/>
          <a:ln w="12700">
            <a:solidFill>
              <a:srgbClr val="FFFFFF"/>
            </a:solidFill>
            <a:prstDash val="solid"/>
          </a:ln>
        </p:spPr>
      </p:sp>
      <p:sp>
        <p:nvSpPr>
          <p:cNvPr id="16" name="Shape 14"/>
          <p:cNvSpPr/>
          <p:nvPr/>
        </p:nvSpPr>
        <p:spPr>
          <a:xfrm>
            <a:off x="9435694" y="2348179"/>
            <a:ext cx="612648" cy="0"/>
          </a:xfrm>
          <a:prstGeom prst="line">
            <a:avLst/>
          </a:prstGeom>
          <a:noFill/>
          <a:ln w="12700">
            <a:solidFill>
              <a:srgbClr val="FFFFFF"/>
            </a:solidFill>
            <a:prstDash val="solid"/>
          </a:ln>
        </p:spPr>
      </p:sp>
      <p:sp>
        <p:nvSpPr>
          <p:cNvPr id="17" name="Shape 15"/>
          <p:cNvSpPr/>
          <p:nvPr/>
        </p:nvSpPr>
        <p:spPr>
          <a:xfrm>
            <a:off x="7178040" y="4937760"/>
            <a:ext cx="3566160" cy="-1143000"/>
          </a:xfrm>
          <a:prstGeom prst="line">
            <a:avLst/>
          </a:prstGeom>
          <a:noFill/>
          <a:ln w="38100">
            <a:solidFill>
              <a:srgbClr val="4BB3C3"/>
            </a:solidFill>
            <a:prstDash val="solid"/>
            <a:tailEnd type="triangle"/>
          </a:ln>
        </p:spPr>
      </p:sp>
      <p:sp>
        <p:nvSpPr>
          <p:cNvPr id="18" name="Shape 16"/>
          <p:cNvSpPr/>
          <p:nvPr/>
        </p:nvSpPr>
        <p:spPr>
          <a:xfrm>
            <a:off x="6903720" y="4617720"/>
            <a:ext cx="548640" cy="548640"/>
          </a:xfrm>
          <a:prstGeom prst="ellipse">
            <a:avLst/>
          </a:prstGeom>
          <a:solidFill>
            <a:srgbClr val="2A9D8F"/>
          </a:solidFill>
          <a:ln w="12700">
            <a:solidFill>
              <a:srgbClr val="2A9D8F"/>
            </a:solidFill>
            <a:prstDash val="solid"/>
          </a:ln>
        </p:spPr>
      </p:sp>
      <p:sp>
        <p:nvSpPr>
          <p:cNvPr id="19" name="Text 17"/>
          <p:cNvSpPr txBox="1"/>
          <p:nvPr/>
        </p:nvSpPr>
        <p:spPr>
          <a:xfrm>
            <a:off x="6903720" y="4617720"/>
            <a:ext cx="548640" cy="54864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20" name="Shape 18"/>
          <p:cNvSpPr/>
          <p:nvPr/>
        </p:nvSpPr>
        <p:spPr>
          <a:xfrm>
            <a:off x="8595360" y="4069080"/>
            <a:ext cx="548640" cy="548640"/>
          </a:xfrm>
          <a:prstGeom prst="ellipse">
            <a:avLst/>
          </a:prstGeom>
          <a:solidFill>
            <a:srgbClr val="F28E2B"/>
          </a:solidFill>
          <a:ln w="12700">
            <a:solidFill>
              <a:srgbClr val="F28E2B"/>
            </a:solidFill>
            <a:prstDash val="solid"/>
          </a:ln>
        </p:spPr>
      </p:sp>
      <p:sp>
        <p:nvSpPr>
          <p:cNvPr id="21" name="Text 19"/>
          <p:cNvSpPr txBox="1"/>
          <p:nvPr/>
        </p:nvSpPr>
        <p:spPr>
          <a:xfrm>
            <a:off x="8595360" y="4069080"/>
            <a:ext cx="548640" cy="54864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S</a:t>
            </a:r>
            <a:endParaRPr lang="en-US" sz="1600" dirty="0"/>
          </a:p>
        </p:txBody>
      </p:sp>
      <p:sp>
        <p:nvSpPr>
          <p:cNvPr id="22" name="Shape 20"/>
          <p:cNvSpPr/>
          <p:nvPr/>
        </p:nvSpPr>
        <p:spPr>
          <a:xfrm>
            <a:off x="10561320" y="3401568"/>
            <a:ext cx="548640" cy="548640"/>
          </a:xfrm>
          <a:prstGeom prst="ellipse">
            <a:avLst/>
          </a:prstGeom>
          <a:solidFill>
            <a:srgbClr val="D1495B"/>
          </a:solidFill>
          <a:ln w="12700">
            <a:solidFill>
              <a:srgbClr val="D1495B"/>
            </a:solidFill>
            <a:prstDash val="solid"/>
          </a:ln>
        </p:spPr>
      </p:sp>
      <p:sp>
        <p:nvSpPr>
          <p:cNvPr id="23" name="Text 21"/>
          <p:cNvSpPr txBox="1"/>
          <p:nvPr/>
        </p:nvSpPr>
        <p:spPr>
          <a:xfrm>
            <a:off x="10561320" y="3401568"/>
            <a:ext cx="548640" cy="54864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R</a:t>
            </a:r>
            <a:endParaRPr lang="en-US" sz="1600" dirty="0"/>
          </a:p>
        </p:txBody>
      </p:sp>
      <p:sp>
        <p:nvSpPr>
          <p:cNvPr id="24" name="Text 22"/>
          <p:cNvSpPr txBox="1"/>
          <p:nvPr/>
        </p:nvSpPr>
        <p:spPr>
          <a:xfrm>
            <a:off x="6720840" y="5230368"/>
            <a:ext cx="914400" cy="20116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COST</a:t>
            </a:r>
            <a:endParaRPr lang="en-US" sz="900" dirty="0"/>
          </a:p>
        </p:txBody>
      </p:sp>
      <p:sp>
        <p:nvSpPr>
          <p:cNvPr id="25" name="Text 23"/>
          <p:cNvSpPr txBox="1"/>
          <p:nvPr/>
        </p:nvSpPr>
        <p:spPr>
          <a:xfrm>
            <a:off x="8339328" y="4672584"/>
            <a:ext cx="1097280" cy="20116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SERVICE</a:t>
            </a:r>
            <a:endParaRPr lang="en-US" sz="900" dirty="0"/>
          </a:p>
        </p:txBody>
      </p:sp>
      <p:sp>
        <p:nvSpPr>
          <p:cNvPr id="26" name="Text 24"/>
          <p:cNvSpPr txBox="1"/>
          <p:nvPr/>
        </p:nvSpPr>
        <p:spPr>
          <a:xfrm>
            <a:off x="10378440" y="4005072"/>
            <a:ext cx="914400" cy="20116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RISK</a:t>
            </a:r>
            <a:endParaRPr lang="en-US" sz="900" dirty="0"/>
          </a:p>
        </p:txBody>
      </p:sp>
      <p:sp>
        <p:nvSpPr>
          <p:cNvPr id="27" name="Text 25"/>
          <p:cNvSpPr txBox="1"/>
          <p:nvPr/>
        </p:nvSpPr>
        <p:spPr>
          <a:xfrm>
            <a:off x="658368" y="5989320"/>
            <a:ext cx="2743200" cy="228600"/>
          </a:xfrm>
          <a:prstGeom prst="rect">
            <a:avLst/>
          </a:prstGeom>
          <a:noFill/>
          <a:ln/>
        </p:spPr>
        <p:txBody>
          <a:bodyPr wrap="square" lIns="0" tIns="0" rIns="0" bIns="0" rtlCol="0" anchor="ctr">
            <a:normAutofit/>
          </a:bodyPr>
          <a:lstStyle/>
          <a:p>
            <a:pPr algn="l" indent="0" marL="0">
              <a:buNone/>
            </a:pPr>
            <a:r>
              <a:rPr lang="en-US" sz="1000" b="1" spc="100" kern="0" dirty="0">
                <a:solidFill>
                  <a:srgbClr val="F4C95D"/>
                </a:solidFill>
                <a:latin typeface="Aptos" pitchFamily="34" charset="0"/>
                <a:ea typeface="Aptos" pitchFamily="34" charset="-122"/>
                <a:cs typeface="Aptos" pitchFamily="34" charset="-120"/>
              </a:rPr>
              <a:t>EXECUTIVE DECISION TOOLKIT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OPENING DILEMMA</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Peak-week stock: insure the upside—or protect the cash?</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Illustrative executive decision • premium headphones • six weeks before a holiday peak</a:t>
            </a:r>
            <a:endParaRPr lang="en-US" sz="1350" dirty="0"/>
          </a:p>
        </p:txBody>
      </p:sp>
      <p:sp>
        <p:nvSpPr>
          <p:cNvPr id="5" name="Shape 3"/>
          <p:cNvSpPr/>
          <p:nvPr/>
        </p:nvSpPr>
        <p:spPr>
          <a:xfrm>
            <a:off x="548640" y="1691640"/>
            <a:ext cx="6629400" cy="3977640"/>
          </a:xfrm>
          <a:prstGeom prst="roundRect">
            <a:avLst>
              <a:gd name="adj" fmla="val 3218"/>
            </a:avLst>
          </a:prstGeom>
          <a:solidFill>
            <a:srgbClr val="FFFFFF"/>
          </a:solidFill>
          <a:ln w="12700">
            <a:solidFill>
              <a:srgbClr val="E8EDF2"/>
            </a:solidFill>
            <a:prstDash val="solid"/>
          </a:ln>
        </p:spPr>
      </p:sp>
      <p:sp>
        <p:nvSpPr>
          <p:cNvPr id="6" name="Text 4"/>
          <p:cNvSpPr txBox="1"/>
          <p:nvPr/>
        </p:nvSpPr>
        <p:spPr>
          <a:xfrm>
            <a:off x="822960" y="1938528"/>
            <a:ext cx="1828800" cy="274320"/>
          </a:xfrm>
          <a:prstGeom prst="rect">
            <a:avLst/>
          </a:prstGeom>
          <a:noFill/>
          <a:ln/>
        </p:spPr>
        <p:txBody>
          <a:bodyPr wrap="square" lIns="0" tIns="0" rIns="0" bIns="0" rtlCol="0" anchor="ctr">
            <a:normAutofit/>
          </a:bodyPr>
          <a:lstStyle/>
          <a:p>
            <a:pPr algn="l" indent="0" marL="0">
              <a:buNone/>
            </a:pPr>
            <a:r>
              <a:rPr lang="en-US" sz="1200" b="1" dirty="0">
                <a:solidFill>
                  <a:srgbClr val="F28E2B"/>
                </a:solidFill>
                <a:latin typeface="Aptos" pitchFamily="34" charset="0"/>
                <a:ea typeface="Aptos" pitchFamily="34" charset="-122"/>
                <a:cs typeface="Aptos" pitchFamily="34" charset="-120"/>
              </a:rPr>
              <a:t>The decision</a:t>
            </a:r>
            <a:endParaRPr lang="en-US" sz="1200" dirty="0"/>
          </a:p>
        </p:txBody>
      </p:sp>
      <p:sp>
        <p:nvSpPr>
          <p:cNvPr id="7" name="Text 5"/>
          <p:cNvSpPr txBox="1"/>
          <p:nvPr/>
        </p:nvSpPr>
        <p:spPr>
          <a:xfrm>
            <a:off x="822960" y="2304288"/>
            <a:ext cx="5212080" cy="502920"/>
          </a:xfrm>
          <a:prstGeom prst="rect">
            <a:avLst/>
          </a:prstGeom>
          <a:noFill/>
          <a:ln/>
        </p:spPr>
        <p:txBody>
          <a:bodyPr wrap="square" lIns="0" tIns="0" rIns="0" bIns="0" rtlCol="0" anchor="ctr">
            <a:normAutofit/>
          </a:bodyPr>
          <a:lstStyle/>
          <a:p>
            <a:pPr algn="l" indent="0" marL="0">
              <a:buNone/>
            </a:pPr>
            <a:r>
              <a:rPr lang="en-US" sz="2800" b="1" dirty="0">
                <a:solidFill>
                  <a:srgbClr val="0B1F33"/>
                </a:solidFill>
                <a:latin typeface="Aptos" pitchFamily="34" charset="0"/>
                <a:ea typeface="Aptos" pitchFamily="34" charset="-122"/>
                <a:cs typeface="Aptos" pitchFamily="34" charset="-120"/>
              </a:rPr>
              <a:t>Order 20,000 or 28,000 units?</a:t>
            </a:r>
            <a:endParaRPr lang="en-US" sz="2800" dirty="0"/>
          </a:p>
        </p:txBody>
      </p:sp>
      <p:sp>
        <p:nvSpPr>
          <p:cNvPr id="8" name="Text 6"/>
          <p:cNvSpPr txBox="1"/>
          <p:nvPr/>
        </p:nvSpPr>
        <p:spPr>
          <a:xfrm>
            <a:off x="822960" y="3063240"/>
            <a:ext cx="914400" cy="365760"/>
          </a:xfrm>
          <a:prstGeom prst="rect">
            <a:avLst/>
          </a:prstGeom>
          <a:noFill/>
          <a:ln/>
        </p:spPr>
        <p:txBody>
          <a:bodyPr wrap="square" lIns="0" tIns="0" rIns="0" bIns="0" rtlCol="0" anchor="ctr">
            <a:normAutofit/>
          </a:bodyPr>
          <a:lstStyle/>
          <a:p>
            <a:pPr algn="l" indent="0" marL="0">
              <a:buNone/>
            </a:pPr>
            <a:r>
              <a:rPr lang="en-US" sz="2000" b="1" dirty="0">
                <a:solidFill>
                  <a:srgbClr val="1D6FA5"/>
                </a:solidFill>
                <a:latin typeface="Aptos" pitchFamily="34" charset="0"/>
                <a:ea typeface="Aptos" pitchFamily="34" charset="-122"/>
                <a:cs typeface="Aptos" pitchFamily="34" charset="-120"/>
              </a:rPr>
              <a:t>$90</a:t>
            </a:r>
            <a:endParaRPr lang="en-US" sz="2000" dirty="0"/>
          </a:p>
        </p:txBody>
      </p:sp>
      <p:sp>
        <p:nvSpPr>
          <p:cNvPr id="9" name="Text 7"/>
          <p:cNvSpPr txBox="1"/>
          <p:nvPr/>
        </p:nvSpPr>
        <p:spPr>
          <a:xfrm>
            <a:off x="1783080" y="3063240"/>
            <a:ext cx="1737360" cy="365760"/>
          </a:xfrm>
          <a:prstGeom prst="rect">
            <a:avLst/>
          </a:prstGeom>
          <a:noFill/>
          <a:ln/>
        </p:spPr>
        <p:txBody>
          <a:bodyPr wrap="square" lIns="0" tIns="0" rIns="0" bIns="0" rtlCol="0" anchor="ctr">
            <a:normAutofit/>
          </a:bodyPr>
          <a:lstStyle/>
          <a:p>
            <a:pPr algn="l" indent="0" marL="0">
              <a:buNone/>
            </a:pPr>
            <a:r>
              <a:rPr lang="en-US" sz="1150" dirty="0">
                <a:solidFill>
                  <a:srgbClr val="6B7785"/>
                </a:solidFill>
                <a:latin typeface="Aptos" pitchFamily="34" charset="0"/>
                <a:ea typeface="Aptos" pitchFamily="34" charset="-122"/>
                <a:cs typeface="Aptos" pitchFamily="34" charset="-120"/>
              </a:rPr>
              <a:t>purchase cost / unit</a:t>
            </a:r>
            <a:endParaRPr lang="en-US" sz="1150" dirty="0"/>
          </a:p>
        </p:txBody>
      </p:sp>
      <p:sp>
        <p:nvSpPr>
          <p:cNvPr id="10" name="Text 8"/>
          <p:cNvSpPr txBox="1"/>
          <p:nvPr/>
        </p:nvSpPr>
        <p:spPr>
          <a:xfrm>
            <a:off x="3749040" y="3063240"/>
            <a:ext cx="914400" cy="365760"/>
          </a:xfrm>
          <a:prstGeom prst="rect">
            <a:avLst/>
          </a:prstGeom>
          <a:noFill/>
          <a:ln/>
        </p:spPr>
        <p:txBody>
          <a:bodyPr wrap="square" lIns="0" tIns="0" rIns="0" bIns="0" rtlCol="0" anchor="ctr">
            <a:normAutofit/>
          </a:bodyPr>
          <a:lstStyle/>
          <a:p>
            <a:pPr algn="l" indent="0" marL="0">
              <a:buNone/>
            </a:pPr>
            <a:r>
              <a:rPr lang="en-US" sz="2000" b="1" dirty="0">
                <a:solidFill>
                  <a:srgbClr val="1D6FA5"/>
                </a:solidFill>
                <a:latin typeface="Aptos" pitchFamily="34" charset="0"/>
                <a:ea typeface="Aptos" pitchFamily="34" charset="-122"/>
                <a:cs typeface="Aptos" pitchFamily="34" charset="-120"/>
              </a:rPr>
              <a:t>$34</a:t>
            </a:r>
            <a:endParaRPr lang="en-US" sz="2000" dirty="0"/>
          </a:p>
        </p:txBody>
      </p:sp>
      <p:sp>
        <p:nvSpPr>
          <p:cNvPr id="11" name="Text 9"/>
          <p:cNvSpPr txBox="1"/>
          <p:nvPr/>
        </p:nvSpPr>
        <p:spPr>
          <a:xfrm>
            <a:off x="4709160" y="3063240"/>
            <a:ext cx="1737360" cy="365760"/>
          </a:xfrm>
          <a:prstGeom prst="rect">
            <a:avLst/>
          </a:prstGeom>
          <a:noFill/>
          <a:ln/>
        </p:spPr>
        <p:txBody>
          <a:bodyPr wrap="square" lIns="0" tIns="0" rIns="0" bIns="0" rtlCol="0" anchor="ctr">
            <a:normAutofit/>
          </a:bodyPr>
          <a:lstStyle/>
          <a:p>
            <a:pPr algn="l" indent="0" marL="0">
              <a:buNone/>
            </a:pPr>
            <a:r>
              <a:rPr lang="en-US" sz="1150" dirty="0">
                <a:solidFill>
                  <a:srgbClr val="6B7785"/>
                </a:solidFill>
                <a:latin typeface="Aptos" pitchFamily="34" charset="0"/>
                <a:ea typeface="Aptos" pitchFamily="34" charset="-122"/>
                <a:cs typeface="Aptos" pitchFamily="34" charset="-120"/>
              </a:rPr>
              <a:t>gross margin / unit</a:t>
            </a:r>
            <a:endParaRPr lang="en-US" sz="1150" dirty="0"/>
          </a:p>
        </p:txBody>
      </p:sp>
      <p:sp>
        <p:nvSpPr>
          <p:cNvPr id="12" name="Text 10"/>
          <p:cNvSpPr txBox="1"/>
          <p:nvPr/>
        </p:nvSpPr>
        <p:spPr>
          <a:xfrm>
            <a:off x="822960" y="3977640"/>
            <a:ext cx="914400" cy="365760"/>
          </a:xfrm>
          <a:prstGeom prst="rect">
            <a:avLst/>
          </a:prstGeom>
          <a:noFill/>
          <a:ln/>
        </p:spPr>
        <p:txBody>
          <a:bodyPr wrap="square" lIns="0" tIns="0" rIns="0" bIns="0" rtlCol="0" anchor="ctr">
            <a:normAutofit/>
          </a:bodyPr>
          <a:lstStyle/>
          <a:p>
            <a:pPr algn="l" indent="0" marL="0">
              <a:buNone/>
            </a:pPr>
            <a:r>
              <a:rPr lang="en-US" sz="2000" b="1" dirty="0">
                <a:solidFill>
                  <a:srgbClr val="D1495B"/>
                </a:solidFill>
                <a:latin typeface="Aptos" pitchFamily="34" charset="0"/>
                <a:ea typeface="Aptos" pitchFamily="34" charset="-122"/>
                <a:cs typeface="Aptos" pitchFamily="34" charset="-120"/>
              </a:rPr>
              <a:t>$20</a:t>
            </a:r>
            <a:endParaRPr lang="en-US" sz="2000" dirty="0"/>
          </a:p>
        </p:txBody>
      </p:sp>
      <p:sp>
        <p:nvSpPr>
          <p:cNvPr id="13" name="Text 11"/>
          <p:cNvSpPr txBox="1"/>
          <p:nvPr/>
        </p:nvSpPr>
        <p:spPr>
          <a:xfrm>
            <a:off x="1783080" y="3977640"/>
            <a:ext cx="1737360" cy="365760"/>
          </a:xfrm>
          <a:prstGeom prst="rect">
            <a:avLst/>
          </a:prstGeom>
          <a:noFill/>
          <a:ln/>
        </p:spPr>
        <p:txBody>
          <a:bodyPr wrap="square" lIns="0" tIns="0" rIns="0" bIns="0" rtlCol="0" anchor="ctr">
            <a:normAutofit/>
          </a:bodyPr>
          <a:lstStyle/>
          <a:p>
            <a:pPr algn="l" indent="0" marL="0">
              <a:buNone/>
            </a:pPr>
            <a:r>
              <a:rPr lang="en-US" sz="1150" dirty="0">
                <a:solidFill>
                  <a:srgbClr val="6B7785"/>
                </a:solidFill>
                <a:latin typeface="Aptos" pitchFamily="34" charset="0"/>
                <a:ea typeface="Aptos" pitchFamily="34" charset="-122"/>
                <a:cs typeface="Aptos" pitchFamily="34" charset="-120"/>
              </a:rPr>
              <a:t>markdown loss / leftover</a:t>
            </a:r>
            <a:endParaRPr lang="en-US" sz="1150" dirty="0"/>
          </a:p>
        </p:txBody>
      </p:sp>
      <p:sp>
        <p:nvSpPr>
          <p:cNvPr id="14" name="Text 12"/>
          <p:cNvSpPr txBox="1"/>
          <p:nvPr/>
        </p:nvSpPr>
        <p:spPr>
          <a:xfrm>
            <a:off x="3749040" y="3977640"/>
            <a:ext cx="914400" cy="365760"/>
          </a:xfrm>
          <a:prstGeom prst="rect">
            <a:avLst/>
          </a:prstGeom>
          <a:noFill/>
          <a:ln/>
        </p:spPr>
        <p:txBody>
          <a:bodyPr wrap="square" lIns="0" tIns="0" rIns="0" bIns="0" rtlCol="0" anchor="ctr">
            <a:normAutofit/>
          </a:bodyPr>
          <a:lstStyle/>
          <a:p>
            <a:pPr algn="l" indent="0" marL="0">
              <a:buNone/>
            </a:pPr>
            <a:r>
              <a:rPr lang="en-US" sz="2000" b="1" dirty="0">
                <a:solidFill>
                  <a:srgbClr val="1D6FA5"/>
                </a:solidFill>
                <a:latin typeface="Aptos" pitchFamily="34" charset="0"/>
                <a:ea typeface="Aptos" pitchFamily="34" charset="-122"/>
                <a:cs typeface="Aptos" pitchFamily="34" charset="-120"/>
              </a:rPr>
              <a:t>8 wks</a:t>
            </a:r>
            <a:endParaRPr lang="en-US" sz="2000" dirty="0"/>
          </a:p>
        </p:txBody>
      </p:sp>
      <p:sp>
        <p:nvSpPr>
          <p:cNvPr id="15" name="Text 13"/>
          <p:cNvSpPr txBox="1"/>
          <p:nvPr/>
        </p:nvSpPr>
        <p:spPr>
          <a:xfrm>
            <a:off x="4709160" y="3977640"/>
            <a:ext cx="1737360" cy="365760"/>
          </a:xfrm>
          <a:prstGeom prst="rect">
            <a:avLst/>
          </a:prstGeom>
          <a:noFill/>
          <a:ln/>
        </p:spPr>
        <p:txBody>
          <a:bodyPr wrap="square" lIns="0" tIns="0" rIns="0" bIns="0" rtlCol="0" anchor="ctr">
            <a:normAutofit/>
          </a:bodyPr>
          <a:lstStyle/>
          <a:p>
            <a:pPr algn="l" indent="0" marL="0">
              <a:buNone/>
            </a:pPr>
            <a:r>
              <a:rPr lang="en-US" sz="1150" dirty="0">
                <a:solidFill>
                  <a:srgbClr val="6B7785"/>
                </a:solidFill>
                <a:latin typeface="Aptos" pitchFamily="34" charset="0"/>
                <a:ea typeface="Aptos" pitchFamily="34" charset="-122"/>
                <a:cs typeface="Aptos" pitchFamily="34" charset="-120"/>
              </a:rPr>
              <a:t>supplier lead time</a:t>
            </a:r>
            <a:endParaRPr lang="en-US" sz="1150" dirty="0"/>
          </a:p>
        </p:txBody>
      </p:sp>
      <p:sp>
        <p:nvSpPr>
          <p:cNvPr id="16" name="Shape 14"/>
          <p:cNvSpPr/>
          <p:nvPr/>
        </p:nvSpPr>
        <p:spPr>
          <a:xfrm>
            <a:off x="7452360" y="1691640"/>
            <a:ext cx="4187952" cy="3977640"/>
          </a:xfrm>
          <a:prstGeom prst="roundRect">
            <a:avLst>
              <a:gd name="adj" fmla="val 3218"/>
            </a:avLst>
          </a:prstGeom>
          <a:solidFill>
            <a:srgbClr val="EAF3F8"/>
          </a:solidFill>
          <a:ln w="12700">
            <a:solidFill>
              <a:srgbClr val="EAF3F8"/>
            </a:solidFill>
            <a:prstDash val="solid"/>
          </a:ln>
        </p:spPr>
      </p:sp>
      <p:sp>
        <p:nvSpPr>
          <p:cNvPr id="17" name="Text 15"/>
          <p:cNvSpPr txBox="1"/>
          <p:nvPr/>
        </p:nvSpPr>
        <p:spPr>
          <a:xfrm>
            <a:off x="7754112" y="1965960"/>
            <a:ext cx="1463040" cy="274320"/>
          </a:xfrm>
          <a:prstGeom prst="rect">
            <a:avLst/>
          </a:prstGeom>
          <a:noFill/>
          <a:ln/>
        </p:spPr>
        <p:txBody>
          <a:bodyPr wrap="square" lIns="0" tIns="0" rIns="0" bIns="0" rtlCol="0" anchor="ctr">
            <a:normAutofit/>
          </a:bodyPr>
          <a:lstStyle/>
          <a:p>
            <a:pPr algn="l" indent="0" marL="0">
              <a:buNone/>
            </a:pPr>
            <a:r>
              <a:rPr lang="en-US" sz="1100" b="1" dirty="0">
                <a:solidFill>
                  <a:srgbClr val="1D6FA5"/>
                </a:solidFill>
                <a:latin typeface="Aptos" pitchFamily="34" charset="0"/>
                <a:ea typeface="Aptos" pitchFamily="34" charset="-122"/>
                <a:cs typeface="Aptos" pitchFamily="34" charset="-120"/>
              </a:rPr>
              <a:t>QUICK POLL</a:t>
            </a:r>
            <a:endParaRPr lang="en-US" sz="1100" dirty="0"/>
          </a:p>
        </p:txBody>
      </p:sp>
      <p:sp>
        <p:nvSpPr>
          <p:cNvPr id="18" name="Text 16"/>
          <p:cNvSpPr txBox="1"/>
          <p:nvPr/>
        </p:nvSpPr>
        <p:spPr>
          <a:xfrm>
            <a:off x="7754112" y="2395728"/>
            <a:ext cx="3200400" cy="411480"/>
          </a:xfrm>
          <a:prstGeom prst="rect">
            <a:avLst/>
          </a:prstGeom>
          <a:noFill/>
          <a:ln/>
        </p:spPr>
        <p:txBody>
          <a:bodyPr wrap="square" lIns="0" tIns="0" rIns="0" bIns="0" rtlCol="0" anchor="ctr">
            <a:normAutofit/>
          </a:bodyPr>
          <a:lstStyle/>
          <a:p>
            <a:pPr algn="l" indent="0" marL="0">
              <a:buNone/>
            </a:pPr>
            <a:r>
              <a:rPr lang="en-US" sz="2300" b="1" dirty="0">
                <a:solidFill>
                  <a:srgbClr val="0B1F33"/>
                </a:solidFill>
                <a:latin typeface="Aptos" pitchFamily="34" charset="0"/>
                <a:ea typeface="Aptos" pitchFamily="34" charset="-122"/>
                <a:cs typeface="Aptos" pitchFamily="34" charset="-120"/>
              </a:rPr>
              <a:t>Would you rather…</a:t>
            </a:r>
            <a:endParaRPr lang="en-US" sz="2300" dirty="0"/>
          </a:p>
        </p:txBody>
      </p:sp>
      <p:sp>
        <p:nvSpPr>
          <p:cNvPr id="19" name="Shape 17"/>
          <p:cNvSpPr/>
          <p:nvPr/>
        </p:nvSpPr>
        <p:spPr>
          <a:xfrm>
            <a:off x="7754112" y="3063240"/>
            <a:ext cx="3566160" cy="685800"/>
          </a:xfrm>
          <a:prstGeom prst="roundRect">
            <a:avLst>
              <a:gd name="adj" fmla="val 13333"/>
            </a:avLst>
          </a:prstGeom>
          <a:solidFill>
            <a:srgbClr val="FFFFFF"/>
          </a:solidFill>
          <a:ln w="12700">
            <a:solidFill>
              <a:srgbClr val="E8EDF2"/>
            </a:solidFill>
            <a:prstDash val="solid"/>
          </a:ln>
        </p:spPr>
      </p:sp>
      <p:sp>
        <p:nvSpPr>
          <p:cNvPr id="20" name="Text 18"/>
          <p:cNvSpPr txBox="1"/>
          <p:nvPr/>
        </p:nvSpPr>
        <p:spPr>
          <a:xfrm>
            <a:off x="7973568" y="3246120"/>
            <a:ext cx="3017520" cy="274320"/>
          </a:xfrm>
          <a:prstGeom prst="rect">
            <a:avLst/>
          </a:prstGeom>
          <a:noFill/>
          <a:ln/>
        </p:spPr>
        <p:txBody>
          <a:bodyPr wrap="square" lIns="0" tIns="0" rIns="0" bIns="0" rtlCol="0" anchor="ctr">
            <a:normAutofit/>
          </a:bodyPr>
          <a:lstStyle/>
          <a:p>
            <a:pPr algn="l" indent="0" marL="0">
              <a:buNone/>
            </a:pPr>
            <a:r>
              <a:rPr lang="en-US" sz="1600" b="1" dirty="0">
                <a:solidFill>
                  <a:srgbClr val="1D6FA5"/>
                </a:solidFill>
                <a:latin typeface="Aptos" pitchFamily="34" charset="0"/>
                <a:ea typeface="Aptos" pitchFamily="34" charset="-122"/>
                <a:cs typeface="Aptos" pitchFamily="34" charset="-120"/>
              </a:rPr>
              <a:t>A  Hold more inventory</a:t>
            </a:r>
            <a:endParaRPr lang="en-US" sz="1600" dirty="0"/>
          </a:p>
        </p:txBody>
      </p:sp>
      <p:sp>
        <p:nvSpPr>
          <p:cNvPr id="21" name="Shape 19"/>
          <p:cNvSpPr/>
          <p:nvPr/>
        </p:nvSpPr>
        <p:spPr>
          <a:xfrm>
            <a:off x="7754112" y="3977640"/>
            <a:ext cx="3566160" cy="685800"/>
          </a:xfrm>
          <a:prstGeom prst="roundRect">
            <a:avLst>
              <a:gd name="adj" fmla="val 13333"/>
            </a:avLst>
          </a:prstGeom>
          <a:solidFill>
            <a:srgbClr val="FFFFFF"/>
          </a:solidFill>
          <a:ln w="12700">
            <a:solidFill>
              <a:srgbClr val="E8EDF2"/>
            </a:solidFill>
            <a:prstDash val="solid"/>
          </a:ln>
        </p:spPr>
      </p:sp>
      <p:sp>
        <p:nvSpPr>
          <p:cNvPr id="22" name="Text 20"/>
          <p:cNvSpPr txBox="1"/>
          <p:nvPr/>
        </p:nvSpPr>
        <p:spPr>
          <a:xfrm>
            <a:off x="7973568" y="4160520"/>
            <a:ext cx="3017520" cy="274320"/>
          </a:xfrm>
          <a:prstGeom prst="rect">
            <a:avLst/>
          </a:prstGeom>
          <a:noFill/>
          <a:ln/>
        </p:spPr>
        <p:txBody>
          <a:bodyPr wrap="square" lIns="0" tIns="0" rIns="0" bIns="0" rtlCol="0" anchor="ctr">
            <a:normAutofit/>
          </a:bodyPr>
          <a:lstStyle/>
          <a:p>
            <a:pPr algn="l" indent="0" marL="0">
              <a:buNone/>
            </a:pPr>
            <a:r>
              <a:rPr lang="en-US" sz="1600" b="1" dirty="0">
                <a:solidFill>
                  <a:srgbClr val="D1495B"/>
                </a:solidFill>
                <a:latin typeface="Aptos" pitchFamily="34" charset="0"/>
                <a:ea typeface="Aptos" pitchFamily="34" charset="-122"/>
                <a:cs typeface="Aptos" pitchFamily="34" charset="-120"/>
              </a:rPr>
              <a:t>B  Risk a stockout</a:t>
            </a:r>
            <a:endParaRPr lang="en-US" sz="1600" dirty="0"/>
          </a:p>
        </p:txBody>
      </p:sp>
      <p:sp>
        <p:nvSpPr>
          <p:cNvPr id="23" name="Text 21"/>
          <p:cNvSpPr txBox="1"/>
          <p:nvPr/>
        </p:nvSpPr>
        <p:spPr>
          <a:xfrm>
            <a:off x="7754112" y="5010912"/>
            <a:ext cx="3337560" cy="420624"/>
          </a:xfrm>
          <a:prstGeom prst="rect">
            <a:avLst/>
          </a:prstGeom>
          <a:noFill/>
          <a:ln/>
        </p:spPr>
        <p:txBody>
          <a:bodyPr wrap="square" lIns="0" tIns="0" rIns="0" bIns="0" rtlCol="0" anchor="ctr">
            <a:normAutofit/>
          </a:bodyPr>
          <a:lstStyle/>
          <a:p>
            <a:pPr algn="l" indent="0" marL="0">
              <a:buNone/>
            </a:pPr>
            <a:r>
              <a:rPr lang="en-US" sz="1300" b="1" dirty="0">
                <a:solidFill>
                  <a:srgbClr val="0B1F33"/>
                </a:solidFill>
                <a:latin typeface="Aptos" pitchFamily="34" charset="0"/>
                <a:ea typeface="Aptos" pitchFamily="34" charset="-122"/>
                <a:cs typeface="Aptos" pitchFamily="34" charset="-120"/>
              </a:rPr>
              <a:t>What missing information could reverse your answer?</a:t>
            </a:r>
            <a:endParaRPr lang="en-US" sz="1300" dirty="0"/>
          </a:p>
        </p:txBody>
      </p:sp>
      <p:sp>
        <p:nvSpPr>
          <p:cNvPr id="24" name="Shape 22"/>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25" name="Text 23"/>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26" name="Text 24"/>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The right amount depends on the economics of too much versus too little—and on what can still change.</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LEARNING OBJECTIVES</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By the end, students can move from item facts to a defensible policy</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Explain • select • calculate • critique • recommend</a:t>
            </a:r>
            <a:endParaRPr lang="en-US" sz="1350" dirty="0"/>
          </a:p>
        </p:txBody>
      </p:sp>
      <p:sp>
        <p:nvSpPr>
          <p:cNvPr id="5" name="Shape 3"/>
          <p:cNvSpPr/>
          <p:nvPr/>
        </p:nvSpPr>
        <p:spPr>
          <a:xfrm>
            <a:off x="658368" y="1527048"/>
            <a:ext cx="5349240" cy="768096"/>
          </a:xfrm>
          <a:prstGeom prst="roundRect">
            <a:avLst>
              <a:gd name="adj" fmla="val 11905"/>
            </a:avLst>
          </a:prstGeom>
          <a:solidFill>
            <a:srgbClr val="FFFFFF"/>
          </a:solidFill>
          <a:ln w="12700">
            <a:solidFill>
              <a:srgbClr val="E8EDF2"/>
            </a:solidFill>
            <a:prstDash val="solid"/>
          </a:ln>
        </p:spPr>
      </p:sp>
      <p:sp>
        <p:nvSpPr>
          <p:cNvPr id="6" name="Shape 4"/>
          <p:cNvSpPr/>
          <p:nvPr/>
        </p:nvSpPr>
        <p:spPr>
          <a:xfrm>
            <a:off x="822960" y="1673352"/>
            <a:ext cx="457200" cy="457200"/>
          </a:xfrm>
          <a:prstGeom prst="ellipse">
            <a:avLst/>
          </a:prstGeom>
          <a:solidFill>
            <a:srgbClr val="1D6FA5"/>
          </a:solidFill>
          <a:ln w="12700">
            <a:solidFill>
              <a:srgbClr val="1D6FA5"/>
            </a:solidFill>
            <a:prstDash val="solid"/>
          </a:ln>
        </p:spPr>
      </p:sp>
      <p:sp>
        <p:nvSpPr>
          <p:cNvPr id="7" name="Text 5"/>
          <p:cNvSpPr txBox="1"/>
          <p:nvPr/>
        </p:nvSpPr>
        <p:spPr>
          <a:xfrm>
            <a:off x="822960" y="1673352"/>
            <a:ext cx="457200" cy="45720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8" name="Text 6"/>
          <p:cNvSpPr txBox="1"/>
          <p:nvPr/>
        </p:nvSpPr>
        <p:spPr>
          <a:xfrm>
            <a:off x="1435608" y="1636776"/>
            <a:ext cx="4315968" cy="521208"/>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Explain inventory functions and cost trade-offs</a:t>
            </a:r>
            <a:endParaRPr lang="en-US" sz="1400" dirty="0"/>
          </a:p>
        </p:txBody>
      </p:sp>
      <p:sp>
        <p:nvSpPr>
          <p:cNvPr id="9" name="Shape 7"/>
          <p:cNvSpPr/>
          <p:nvPr/>
        </p:nvSpPr>
        <p:spPr>
          <a:xfrm>
            <a:off x="658368" y="2487168"/>
            <a:ext cx="5349240" cy="768096"/>
          </a:xfrm>
          <a:prstGeom prst="roundRect">
            <a:avLst>
              <a:gd name="adj" fmla="val 11905"/>
            </a:avLst>
          </a:prstGeom>
          <a:solidFill>
            <a:srgbClr val="FFFFFF"/>
          </a:solidFill>
          <a:ln w="12700">
            <a:solidFill>
              <a:srgbClr val="E8EDF2"/>
            </a:solidFill>
            <a:prstDash val="solid"/>
          </a:ln>
        </p:spPr>
      </p:sp>
      <p:sp>
        <p:nvSpPr>
          <p:cNvPr id="10" name="Shape 8"/>
          <p:cNvSpPr/>
          <p:nvPr/>
        </p:nvSpPr>
        <p:spPr>
          <a:xfrm>
            <a:off x="822960" y="2633472"/>
            <a:ext cx="457200" cy="457200"/>
          </a:xfrm>
          <a:prstGeom prst="ellipse">
            <a:avLst/>
          </a:prstGeom>
          <a:solidFill>
            <a:srgbClr val="2A9D8F"/>
          </a:solidFill>
          <a:ln w="12700">
            <a:solidFill>
              <a:srgbClr val="2A9D8F"/>
            </a:solidFill>
            <a:prstDash val="solid"/>
          </a:ln>
        </p:spPr>
      </p:sp>
      <p:sp>
        <p:nvSpPr>
          <p:cNvPr id="11" name="Text 9"/>
          <p:cNvSpPr txBox="1"/>
          <p:nvPr/>
        </p:nvSpPr>
        <p:spPr>
          <a:xfrm>
            <a:off x="822960" y="2633472"/>
            <a:ext cx="457200" cy="45720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2" name="Text 10"/>
          <p:cNvSpPr txBox="1"/>
          <p:nvPr/>
        </p:nvSpPr>
        <p:spPr>
          <a:xfrm>
            <a:off x="1435608" y="2596896"/>
            <a:ext cx="4315968" cy="521208"/>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Select and interpret ABC, VED, and FSN</a:t>
            </a:r>
            <a:endParaRPr lang="en-US" sz="1400" dirty="0"/>
          </a:p>
        </p:txBody>
      </p:sp>
      <p:sp>
        <p:nvSpPr>
          <p:cNvPr id="13" name="Shape 11"/>
          <p:cNvSpPr/>
          <p:nvPr/>
        </p:nvSpPr>
        <p:spPr>
          <a:xfrm>
            <a:off x="658368" y="3447288"/>
            <a:ext cx="5349240" cy="768096"/>
          </a:xfrm>
          <a:prstGeom prst="roundRect">
            <a:avLst>
              <a:gd name="adj" fmla="val 11905"/>
            </a:avLst>
          </a:prstGeom>
          <a:solidFill>
            <a:srgbClr val="FFFFFF"/>
          </a:solidFill>
          <a:ln w="12700">
            <a:solidFill>
              <a:srgbClr val="E8EDF2"/>
            </a:solidFill>
            <a:prstDash val="solid"/>
          </a:ln>
        </p:spPr>
      </p:sp>
      <p:sp>
        <p:nvSpPr>
          <p:cNvPr id="14" name="Shape 12"/>
          <p:cNvSpPr/>
          <p:nvPr/>
        </p:nvSpPr>
        <p:spPr>
          <a:xfrm>
            <a:off x="822960" y="3593592"/>
            <a:ext cx="457200" cy="457200"/>
          </a:xfrm>
          <a:prstGeom prst="ellipse">
            <a:avLst/>
          </a:prstGeom>
          <a:solidFill>
            <a:srgbClr val="F28E2B"/>
          </a:solidFill>
          <a:ln w="12700">
            <a:solidFill>
              <a:srgbClr val="F28E2B"/>
            </a:solidFill>
            <a:prstDash val="solid"/>
          </a:ln>
        </p:spPr>
      </p:sp>
      <p:sp>
        <p:nvSpPr>
          <p:cNvPr id="15" name="Text 13"/>
          <p:cNvSpPr txBox="1"/>
          <p:nvPr/>
        </p:nvSpPr>
        <p:spPr>
          <a:xfrm>
            <a:off x="822960" y="3593592"/>
            <a:ext cx="457200" cy="45720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16" name="Text 14"/>
          <p:cNvSpPr txBox="1"/>
          <p:nvPr/>
        </p:nvSpPr>
        <p:spPr>
          <a:xfrm>
            <a:off x="1435608" y="3557016"/>
            <a:ext cx="4315968" cy="521208"/>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Calculate and critique EOQ; compare lot-sizing choices</a:t>
            </a:r>
            <a:endParaRPr lang="en-US" sz="1400" dirty="0"/>
          </a:p>
        </p:txBody>
      </p:sp>
      <p:sp>
        <p:nvSpPr>
          <p:cNvPr id="17" name="Shape 15"/>
          <p:cNvSpPr/>
          <p:nvPr/>
        </p:nvSpPr>
        <p:spPr>
          <a:xfrm>
            <a:off x="658368" y="4407408"/>
            <a:ext cx="5349240" cy="768096"/>
          </a:xfrm>
          <a:prstGeom prst="roundRect">
            <a:avLst>
              <a:gd name="adj" fmla="val 11905"/>
            </a:avLst>
          </a:prstGeom>
          <a:solidFill>
            <a:srgbClr val="FFFFFF"/>
          </a:solidFill>
          <a:ln w="12700">
            <a:solidFill>
              <a:srgbClr val="E8EDF2"/>
            </a:solidFill>
            <a:prstDash val="solid"/>
          </a:ln>
        </p:spPr>
      </p:sp>
      <p:sp>
        <p:nvSpPr>
          <p:cNvPr id="18" name="Shape 16"/>
          <p:cNvSpPr/>
          <p:nvPr/>
        </p:nvSpPr>
        <p:spPr>
          <a:xfrm>
            <a:off x="822960" y="4553712"/>
            <a:ext cx="457200" cy="457200"/>
          </a:xfrm>
          <a:prstGeom prst="ellipse">
            <a:avLst/>
          </a:prstGeom>
          <a:solidFill>
            <a:srgbClr val="D1495B"/>
          </a:solidFill>
          <a:ln w="12700">
            <a:solidFill>
              <a:srgbClr val="D1495B"/>
            </a:solidFill>
            <a:prstDash val="solid"/>
          </a:ln>
        </p:spPr>
      </p:sp>
      <p:sp>
        <p:nvSpPr>
          <p:cNvPr id="19" name="Text 17"/>
          <p:cNvSpPr txBox="1"/>
          <p:nvPr/>
        </p:nvSpPr>
        <p:spPr>
          <a:xfrm>
            <a:off x="822960" y="4553712"/>
            <a:ext cx="457200" cy="45720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20" name="Text 18"/>
          <p:cNvSpPr txBox="1"/>
          <p:nvPr/>
        </p:nvSpPr>
        <p:spPr>
          <a:xfrm>
            <a:off x="1435608" y="4517136"/>
            <a:ext cx="4315968" cy="521208"/>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Calculate reorder points and safety stock</a:t>
            </a:r>
            <a:endParaRPr lang="en-US" sz="1400" dirty="0"/>
          </a:p>
        </p:txBody>
      </p:sp>
      <p:sp>
        <p:nvSpPr>
          <p:cNvPr id="21" name="Shape 19"/>
          <p:cNvSpPr/>
          <p:nvPr/>
        </p:nvSpPr>
        <p:spPr>
          <a:xfrm>
            <a:off x="6144768" y="1527048"/>
            <a:ext cx="5349240" cy="768096"/>
          </a:xfrm>
          <a:prstGeom prst="roundRect">
            <a:avLst>
              <a:gd name="adj" fmla="val 11905"/>
            </a:avLst>
          </a:prstGeom>
          <a:solidFill>
            <a:srgbClr val="FFFFFF"/>
          </a:solidFill>
          <a:ln w="12700">
            <a:solidFill>
              <a:srgbClr val="E8EDF2"/>
            </a:solidFill>
            <a:prstDash val="solid"/>
          </a:ln>
        </p:spPr>
      </p:sp>
      <p:sp>
        <p:nvSpPr>
          <p:cNvPr id="22" name="Shape 20"/>
          <p:cNvSpPr/>
          <p:nvPr/>
        </p:nvSpPr>
        <p:spPr>
          <a:xfrm>
            <a:off x="6309360" y="1673352"/>
            <a:ext cx="457200" cy="457200"/>
          </a:xfrm>
          <a:prstGeom prst="ellipse">
            <a:avLst/>
          </a:prstGeom>
          <a:solidFill>
            <a:srgbClr val="1D6FA5"/>
          </a:solidFill>
          <a:ln w="12700">
            <a:solidFill>
              <a:srgbClr val="1D6FA5"/>
            </a:solidFill>
            <a:prstDash val="solid"/>
          </a:ln>
        </p:spPr>
      </p:sp>
      <p:sp>
        <p:nvSpPr>
          <p:cNvPr id="23" name="Text 21"/>
          <p:cNvSpPr txBox="1"/>
          <p:nvPr/>
        </p:nvSpPr>
        <p:spPr>
          <a:xfrm>
            <a:off x="6309360" y="1673352"/>
            <a:ext cx="457200" cy="45720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5</a:t>
            </a:r>
            <a:endParaRPr lang="en-US" sz="1200" dirty="0"/>
          </a:p>
        </p:txBody>
      </p:sp>
      <p:sp>
        <p:nvSpPr>
          <p:cNvPr id="24" name="Text 22"/>
          <p:cNvSpPr txBox="1"/>
          <p:nvPr/>
        </p:nvSpPr>
        <p:spPr>
          <a:xfrm>
            <a:off x="6922008" y="1636776"/>
            <a:ext cx="4315968" cy="521208"/>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Distinguish cycle-service level from fill rate</a:t>
            </a:r>
            <a:endParaRPr lang="en-US" sz="1400" dirty="0"/>
          </a:p>
        </p:txBody>
      </p:sp>
      <p:sp>
        <p:nvSpPr>
          <p:cNvPr id="25" name="Shape 23"/>
          <p:cNvSpPr/>
          <p:nvPr/>
        </p:nvSpPr>
        <p:spPr>
          <a:xfrm>
            <a:off x="6144768" y="2487168"/>
            <a:ext cx="5349240" cy="768096"/>
          </a:xfrm>
          <a:prstGeom prst="roundRect">
            <a:avLst>
              <a:gd name="adj" fmla="val 11905"/>
            </a:avLst>
          </a:prstGeom>
          <a:solidFill>
            <a:srgbClr val="FFFFFF"/>
          </a:solidFill>
          <a:ln w="12700">
            <a:solidFill>
              <a:srgbClr val="E8EDF2"/>
            </a:solidFill>
            <a:prstDash val="solid"/>
          </a:ln>
        </p:spPr>
      </p:sp>
      <p:sp>
        <p:nvSpPr>
          <p:cNvPr id="26" name="Shape 24"/>
          <p:cNvSpPr/>
          <p:nvPr/>
        </p:nvSpPr>
        <p:spPr>
          <a:xfrm>
            <a:off x="6309360" y="2633472"/>
            <a:ext cx="457200" cy="457200"/>
          </a:xfrm>
          <a:prstGeom prst="ellipse">
            <a:avLst/>
          </a:prstGeom>
          <a:solidFill>
            <a:srgbClr val="2A9D8F"/>
          </a:solidFill>
          <a:ln w="12700">
            <a:solidFill>
              <a:srgbClr val="2A9D8F"/>
            </a:solidFill>
            <a:prstDash val="solid"/>
          </a:ln>
        </p:spPr>
      </p:sp>
      <p:sp>
        <p:nvSpPr>
          <p:cNvPr id="27" name="Text 25"/>
          <p:cNvSpPr txBox="1"/>
          <p:nvPr/>
        </p:nvSpPr>
        <p:spPr>
          <a:xfrm>
            <a:off x="6309360" y="2633472"/>
            <a:ext cx="457200" cy="45720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6</a:t>
            </a:r>
            <a:endParaRPr lang="en-US" sz="1200" dirty="0"/>
          </a:p>
        </p:txBody>
      </p:sp>
      <p:sp>
        <p:nvSpPr>
          <p:cNvPr id="28" name="Text 26"/>
          <p:cNvSpPr txBox="1"/>
          <p:nvPr/>
        </p:nvSpPr>
        <p:spPr>
          <a:xfrm>
            <a:off x="6922008" y="2596896"/>
            <a:ext cx="4315968" cy="521208"/>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Explain multi-echelon inventory and conditional risk pooling</a:t>
            </a:r>
            <a:endParaRPr lang="en-US" sz="1400" dirty="0"/>
          </a:p>
        </p:txBody>
      </p:sp>
      <p:sp>
        <p:nvSpPr>
          <p:cNvPr id="29" name="Shape 27"/>
          <p:cNvSpPr/>
          <p:nvPr/>
        </p:nvSpPr>
        <p:spPr>
          <a:xfrm>
            <a:off x="6144768" y="3447288"/>
            <a:ext cx="5349240" cy="768096"/>
          </a:xfrm>
          <a:prstGeom prst="roundRect">
            <a:avLst>
              <a:gd name="adj" fmla="val 11905"/>
            </a:avLst>
          </a:prstGeom>
          <a:solidFill>
            <a:srgbClr val="FFFFFF"/>
          </a:solidFill>
          <a:ln w="12700">
            <a:solidFill>
              <a:srgbClr val="E8EDF2"/>
            </a:solidFill>
            <a:prstDash val="solid"/>
          </a:ln>
        </p:spPr>
      </p:sp>
      <p:sp>
        <p:nvSpPr>
          <p:cNvPr id="30" name="Shape 28"/>
          <p:cNvSpPr/>
          <p:nvPr/>
        </p:nvSpPr>
        <p:spPr>
          <a:xfrm>
            <a:off x="6309360" y="3593592"/>
            <a:ext cx="457200" cy="457200"/>
          </a:xfrm>
          <a:prstGeom prst="ellipse">
            <a:avLst/>
          </a:prstGeom>
          <a:solidFill>
            <a:srgbClr val="F28E2B"/>
          </a:solidFill>
          <a:ln w="12700">
            <a:solidFill>
              <a:srgbClr val="F28E2B"/>
            </a:solidFill>
            <a:prstDash val="solid"/>
          </a:ln>
        </p:spPr>
      </p:sp>
      <p:sp>
        <p:nvSpPr>
          <p:cNvPr id="31" name="Text 29"/>
          <p:cNvSpPr txBox="1"/>
          <p:nvPr/>
        </p:nvSpPr>
        <p:spPr>
          <a:xfrm>
            <a:off x="6309360" y="3593592"/>
            <a:ext cx="457200" cy="45720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7</a:t>
            </a:r>
            <a:endParaRPr lang="en-US" sz="1200" dirty="0"/>
          </a:p>
        </p:txBody>
      </p:sp>
      <p:sp>
        <p:nvSpPr>
          <p:cNvPr id="32" name="Text 30"/>
          <p:cNvSpPr txBox="1"/>
          <p:nvPr/>
        </p:nvSpPr>
        <p:spPr>
          <a:xfrm>
            <a:off x="6922008" y="3557016"/>
            <a:ext cx="4315968" cy="521208"/>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Recommend a policy for economics, uncertainty, and importance</a:t>
            </a:r>
            <a:endParaRPr lang="en-US" sz="1400" dirty="0"/>
          </a:p>
        </p:txBody>
      </p:sp>
      <p:sp>
        <p:nvSpPr>
          <p:cNvPr id="33" name="Shape 31"/>
          <p:cNvSpPr/>
          <p:nvPr/>
        </p:nvSpPr>
        <p:spPr>
          <a:xfrm>
            <a:off x="6144768" y="4407408"/>
            <a:ext cx="5349240" cy="960120"/>
          </a:xfrm>
          <a:prstGeom prst="roundRect">
            <a:avLst>
              <a:gd name="adj" fmla="val 9524"/>
            </a:avLst>
          </a:prstGeom>
          <a:solidFill>
            <a:srgbClr val="0B1F33"/>
          </a:solidFill>
          <a:ln w="12700">
            <a:solidFill>
              <a:srgbClr val="0B1F33"/>
            </a:solidFill>
            <a:prstDash val="solid"/>
          </a:ln>
        </p:spPr>
      </p:sp>
      <p:sp>
        <p:nvSpPr>
          <p:cNvPr id="34" name="Text 32"/>
          <p:cNvSpPr txBox="1"/>
          <p:nvPr/>
        </p:nvSpPr>
        <p:spPr>
          <a:xfrm>
            <a:off x="6382512" y="4590288"/>
            <a:ext cx="1005840" cy="210312"/>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ROUTE MAP</a:t>
            </a:r>
            <a:endParaRPr lang="en-US" sz="900" dirty="0"/>
          </a:p>
        </p:txBody>
      </p:sp>
      <p:sp>
        <p:nvSpPr>
          <p:cNvPr id="35" name="Text 33"/>
          <p:cNvSpPr txBox="1"/>
          <p:nvPr/>
        </p:nvSpPr>
        <p:spPr>
          <a:xfrm>
            <a:off x="7333488" y="4507992"/>
            <a:ext cx="3794760" cy="365760"/>
          </a:xfrm>
          <a:prstGeom prst="rect">
            <a:avLst/>
          </a:prstGeom>
          <a:noFill/>
          <a:ln/>
        </p:spPr>
        <p:txBody>
          <a:bodyPr wrap="square" lIns="0" tIns="0" rIns="0" bIns="0" rtlCol="0" anchor="ctr">
            <a:normAutofit/>
          </a:bodyPr>
          <a:lstStyle/>
          <a:p>
            <a:pPr algn="ctr" indent="0" marL="0">
              <a:buNone/>
            </a:pPr>
            <a:r>
              <a:rPr lang="en-US" sz="1350" b="1" dirty="0">
                <a:solidFill>
                  <a:srgbClr val="FFFFFF"/>
                </a:solidFill>
                <a:latin typeface="Aptos" pitchFamily="34" charset="0"/>
                <a:ea typeface="Aptos" pitchFamily="34" charset="-122"/>
                <a:cs typeface="Aptos" pitchFamily="34" charset="-120"/>
              </a:rPr>
              <a:t>classify → size → trigger → protect → place → monitor</a:t>
            </a:r>
            <a:endParaRPr lang="en-US" sz="13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94360" y="502920"/>
            <a:ext cx="1097280" cy="502920"/>
          </a:xfrm>
          <a:prstGeom prst="rect">
            <a:avLst/>
          </a:prstGeom>
          <a:noFill/>
          <a:ln/>
        </p:spPr>
        <p:txBody>
          <a:bodyPr wrap="square" lIns="0" tIns="0" rIns="0" bIns="0" rtlCol="0" anchor="ctr">
            <a:normAutofit/>
          </a:bodyPr>
          <a:lstStyle/>
          <a:p>
            <a:pPr algn="l" indent="0" marL="0">
              <a:buNone/>
            </a:pPr>
            <a:r>
              <a:rPr lang="en-US" sz="4200" b="1" dirty="0">
                <a:solidFill>
                  <a:srgbClr val="F28E2B"/>
                </a:solidFill>
                <a:latin typeface="Aptos" pitchFamily="34" charset="0"/>
                <a:ea typeface="Aptos" pitchFamily="34" charset="-122"/>
                <a:cs typeface="Aptos" pitchFamily="34" charset="-120"/>
              </a:rPr>
              <a:t>01</a:t>
            </a:r>
            <a:endParaRPr lang="en-US" sz="4200" dirty="0"/>
          </a:p>
        </p:txBody>
      </p:sp>
      <p:sp>
        <p:nvSpPr>
          <p:cNvPr id="3" name="Text 1"/>
          <p:cNvSpPr txBox="1"/>
          <p:nvPr/>
        </p:nvSpPr>
        <p:spPr>
          <a:xfrm>
            <a:off x="594360" y="1371600"/>
            <a:ext cx="7863840" cy="1143000"/>
          </a:xfrm>
          <a:prstGeom prst="rect">
            <a:avLst/>
          </a:prstGeom>
          <a:noFill/>
          <a:ln/>
        </p:spPr>
        <p:txBody>
          <a:bodyPr wrap="square" lIns="0" tIns="0" rIns="0" bIns="0" rtlCol="0" anchor="ctr">
            <a:normAutofit/>
          </a:bodyPr>
          <a:lstStyle/>
          <a:p>
            <a:pPr algn="l" indent="0" marL="0">
              <a:buNone/>
            </a:pPr>
            <a:r>
              <a:rPr lang="en-US" sz="3600" b="1" dirty="0">
                <a:solidFill>
                  <a:srgbClr val="FFFFFF"/>
                </a:solidFill>
                <a:latin typeface="Aptos" pitchFamily="34" charset="0"/>
                <a:ea typeface="Aptos" pitchFamily="34" charset="-122"/>
                <a:cs typeface="Aptos" pitchFamily="34" charset="-120"/>
              </a:rPr>
              <a:t>Why inventory exists</a:t>
            </a:r>
            <a:endParaRPr lang="en-US" sz="3600" dirty="0"/>
          </a:p>
        </p:txBody>
      </p:sp>
      <p:sp>
        <p:nvSpPr>
          <p:cNvPr id="4" name="Text 2"/>
          <p:cNvSpPr txBox="1"/>
          <p:nvPr/>
        </p:nvSpPr>
        <p:spPr>
          <a:xfrm>
            <a:off x="612648" y="2697480"/>
            <a:ext cx="6766560" cy="685800"/>
          </a:xfrm>
          <a:prstGeom prst="rect">
            <a:avLst/>
          </a:prstGeom>
          <a:noFill/>
          <a:ln/>
        </p:spPr>
        <p:txBody>
          <a:bodyPr wrap="square" lIns="0" tIns="0" rIns="0" bIns="0" rtlCol="0" anchor="ctr">
            <a:normAutofit/>
          </a:bodyPr>
          <a:lstStyle/>
          <a:p>
            <a:pPr algn="l" indent="0" marL="0">
              <a:buNone/>
            </a:pPr>
            <a:r>
              <a:rPr lang="en-US" sz="1700" dirty="0">
                <a:solidFill>
                  <a:srgbClr val="C9D6E1"/>
                </a:solidFill>
                <a:latin typeface="Aptos" pitchFamily="34" charset="0"/>
                <a:ea typeface="Aptos" pitchFamily="34" charset="-122"/>
                <a:cs typeface="Aptos" pitchFamily="34" charset="-120"/>
              </a:rPr>
              <a:t>Four functions, one balance sheet, and several kinds of uncertainty</a:t>
            </a:r>
            <a:endParaRPr lang="en-US" sz="1700" dirty="0"/>
          </a:p>
        </p:txBody>
      </p:sp>
      <p:sp>
        <p:nvSpPr>
          <p:cNvPr id="5" name="Shape 3"/>
          <p:cNvSpPr/>
          <p:nvPr/>
        </p:nvSpPr>
        <p:spPr>
          <a:xfrm>
            <a:off x="612648" y="3749040"/>
            <a:ext cx="1371600" cy="274320"/>
          </a:xfrm>
          <a:prstGeom prst="roundRect">
            <a:avLst>
              <a:gd name="adj" fmla="val 50000"/>
            </a:avLst>
          </a:prstGeom>
          <a:solidFill>
            <a:srgbClr val="F28E2B"/>
          </a:solidFill>
          <a:ln w="12700">
            <a:solidFill>
              <a:srgbClr val="F28E2B"/>
            </a:solidFill>
            <a:prstDash val="solid"/>
          </a:ln>
        </p:spPr>
      </p:sp>
      <p:sp>
        <p:nvSpPr>
          <p:cNvPr id="6" name="Text 4"/>
          <p:cNvSpPr txBox="1"/>
          <p:nvPr/>
        </p:nvSpPr>
        <p:spPr>
          <a:xfrm>
            <a:off x="612648" y="3749040"/>
            <a:ext cx="1371600"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11 MINUTES</a:t>
            </a:r>
            <a:endParaRPr lang="en-US" sz="1000" dirty="0"/>
          </a:p>
        </p:txBody>
      </p:sp>
      <p:sp>
        <p:nvSpPr>
          <p:cNvPr id="7" name="Shape 5"/>
          <p:cNvSpPr/>
          <p:nvPr/>
        </p:nvSpPr>
        <p:spPr>
          <a:xfrm>
            <a:off x="8229600" y="4297680"/>
            <a:ext cx="402336" cy="402336"/>
          </a:xfrm>
          <a:prstGeom prst="roundRect">
            <a:avLst>
              <a:gd name="adj" fmla="val 9091"/>
            </a:avLst>
          </a:prstGeom>
          <a:solidFill>
            <a:srgbClr val="1D6FA5"/>
          </a:solidFill>
          <a:ln w="12700">
            <a:solidFill>
              <a:srgbClr val="1D6FA5"/>
            </a:solidFill>
            <a:prstDash val="solid"/>
          </a:ln>
        </p:spPr>
      </p:sp>
      <p:sp>
        <p:nvSpPr>
          <p:cNvPr id="8" name="Shape 6"/>
          <p:cNvSpPr/>
          <p:nvPr/>
        </p:nvSpPr>
        <p:spPr>
          <a:xfrm>
            <a:off x="8732520" y="3840480"/>
            <a:ext cx="402336" cy="402336"/>
          </a:xfrm>
          <a:prstGeom prst="roundRect">
            <a:avLst>
              <a:gd name="adj" fmla="val 9091"/>
            </a:avLst>
          </a:prstGeom>
          <a:solidFill>
            <a:srgbClr val="1D6FA5"/>
          </a:solidFill>
          <a:ln w="12700">
            <a:solidFill>
              <a:srgbClr val="1D6FA5"/>
            </a:solidFill>
            <a:prstDash val="solid"/>
          </a:ln>
        </p:spPr>
      </p:sp>
      <p:sp>
        <p:nvSpPr>
          <p:cNvPr id="9" name="Shape 7"/>
          <p:cNvSpPr/>
          <p:nvPr/>
        </p:nvSpPr>
        <p:spPr>
          <a:xfrm>
            <a:off x="9235440" y="3383280"/>
            <a:ext cx="402336" cy="402336"/>
          </a:xfrm>
          <a:prstGeom prst="roundRect">
            <a:avLst>
              <a:gd name="adj" fmla="val 9091"/>
            </a:avLst>
          </a:prstGeom>
          <a:solidFill>
            <a:srgbClr val="1D6FA5"/>
          </a:solidFill>
          <a:ln w="12700">
            <a:solidFill>
              <a:srgbClr val="1D6FA5"/>
            </a:solidFill>
            <a:prstDash val="solid"/>
          </a:ln>
        </p:spPr>
      </p:sp>
      <p:sp>
        <p:nvSpPr>
          <p:cNvPr id="10" name="Shape 8"/>
          <p:cNvSpPr/>
          <p:nvPr/>
        </p:nvSpPr>
        <p:spPr>
          <a:xfrm>
            <a:off x="9738360" y="2926080"/>
            <a:ext cx="402336" cy="402336"/>
          </a:xfrm>
          <a:prstGeom prst="roundRect">
            <a:avLst>
              <a:gd name="adj" fmla="val 9091"/>
            </a:avLst>
          </a:prstGeom>
          <a:solidFill>
            <a:srgbClr val="F28E2B"/>
          </a:solidFill>
          <a:ln w="12700">
            <a:solidFill>
              <a:srgbClr val="F28E2B"/>
            </a:solidFill>
            <a:prstDash val="solid"/>
          </a:ln>
        </p:spPr>
      </p:sp>
      <p:sp>
        <p:nvSpPr>
          <p:cNvPr id="11" name="Shape 9"/>
          <p:cNvSpPr/>
          <p:nvPr/>
        </p:nvSpPr>
        <p:spPr>
          <a:xfrm>
            <a:off x="10241280" y="2468880"/>
            <a:ext cx="402336" cy="402336"/>
          </a:xfrm>
          <a:prstGeom prst="roundRect">
            <a:avLst>
              <a:gd name="adj" fmla="val 9091"/>
            </a:avLst>
          </a:prstGeom>
          <a:solidFill>
            <a:srgbClr val="F28E2B"/>
          </a:solidFill>
          <a:ln w="12700">
            <a:solidFill>
              <a:srgbClr val="F28E2B"/>
            </a:solidFill>
            <a:prstDash val="solid"/>
          </a:ln>
        </p:spPr>
      </p:sp>
      <p:sp>
        <p:nvSpPr>
          <p:cNvPr id="12" name="Shape 10"/>
          <p:cNvSpPr/>
          <p:nvPr/>
        </p:nvSpPr>
        <p:spPr>
          <a:xfrm>
            <a:off x="7955280" y="4937760"/>
            <a:ext cx="3108960" cy="-3108960"/>
          </a:xfrm>
          <a:prstGeom prst="line">
            <a:avLst/>
          </a:prstGeom>
          <a:noFill/>
          <a:ln w="38100">
            <a:solidFill>
              <a:srgbClr val="4BB3C3"/>
            </a:solidFill>
            <a:prstDash val="solid"/>
            <a:tailEnd type="triangle"/>
          </a:ln>
        </p:spPr>
      </p:sp>
      <p:sp>
        <p:nvSpPr>
          <p:cNvPr id="13" name="Text 11"/>
          <p:cNvSpPr txBox="1"/>
          <p:nvPr/>
        </p:nvSpPr>
        <p:spPr>
          <a:xfrm>
            <a:off x="8275320" y="1078992"/>
            <a:ext cx="2971800" cy="502920"/>
          </a:xfrm>
          <a:prstGeom prst="rect">
            <a:avLst/>
          </a:prstGeom>
          <a:noFill/>
          <a:ln/>
        </p:spPr>
        <p:txBody>
          <a:bodyPr wrap="square" lIns="0" tIns="0" rIns="0" bIns="0" rtlCol="0" anchor="ctr">
            <a:normAutofit/>
          </a:bodyPr>
          <a:lstStyle/>
          <a:p>
            <a:pPr algn="ctr" indent="0" marL="0">
              <a:buNone/>
            </a:pPr>
            <a:r>
              <a:rPr lang="en-US" sz="1200" b="1" dirty="0">
                <a:solidFill>
                  <a:srgbClr val="4BB3C3"/>
                </a:solidFill>
                <a:latin typeface="Aptos" pitchFamily="34" charset="0"/>
                <a:ea typeface="Aptos" pitchFamily="34" charset="-122"/>
                <a:cs typeface="Aptos" pitchFamily="34" charset="-120"/>
              </a:rPr>
              <a:t>AVAILABILITY ↔ WORKING CAPITAL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ROLE OF INVENTORY</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Four stocks—four different managerial jobs</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Inventory is not one undifferentiated pile.</a:t>
            </a:r>
            <a:endParaRPr lang="en-US" sz="1350" dirty="0"/>
          </a:p>
        </p:txBody>
      </p:sp>
      <p:sp>
        <p:nvSpPr>
          <p:cNvPr id="5" name="Shape 3"/>
          <p:cNvSpPr/>
          <p:nvPr/>
        </p:nvSpPr>
        <p:spPr>
          <a:xfrm>
            <a:off x="548640" y="1600200"/>
            <a:ext cx="5440680" cy="1664208"/>
          </a:xfrm>
          <a:prstGeom prst="roundRect">
            <a:avLst>
              <a:gd name="adj" fmla="val 6593"/>
            </a:avLst>
          </a:prstGeom>
          <a:solidFill>
            <a:srgbClr val="FFFFFF"/>
          </a:solidFill>
          <a:ln w="12700">
            <a:solidFill>
              <a:srgbClr val="E8EDF2"/>
            </a:solidFill>
            <a:prstDash val="solid"/>
          </a:ln>
        </p:spPr>
      </p:sp>
      <p:sp>
        <p:nvSpPr>
          <p:cNvPr id="6" name="Shape 4"/>
          <p:cNvSpPr/>
          <p:nvPr/>
        </p:nvSpPr>
        <p:spPr>
          <a:xfrm>
            <a:off x="749808" y="1828800"/>
            <a:ext cx="530352" cy="530352"/>
          </a:xfrm>
          <a:prstGeom prst="ellipse">
            <a:avLst/>
          </a:prstGeom>
          <a:solidFill>
            <a:srgbClr val="1D6FA5"/>
          </a:solidFill>
          <a:ln w="12700">
            <a:solidFill>
              <a:srgbClr val="1D6FA5"/>
            </a:solidFill>
            <a:prstDash val="solid"/>
          </a:ln>
        </p:spPr>
      </p:sp>
      <p:sp>
        <p:nvSpPr>
          <p:cNvPr id="7" name="Text 5"/>
          <p:cNvSpPr txBox="1"/>
          <p:nvPr/>
        </p:nvSpPr>
        <p:spPr>
          <a:xfrm>
            <a:off x="749808" y="1828800"/>
            <a:ext cx="530352" cy="53035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8" name="Text 6"/>
          <p:cNvSpPr txBox="1"/>
          <p:nvPr/>
        </p:nvSpPr>
        <p:spPr>
          <a:xfrm>
            <a:off x="1426464" y="1783080"/>
            <a:ext cx="2103120" cy="347472"/>
          </a:xfrm>
          <a:prstGeom prst="rect">
            <a:avLst/>
          </a:prstGeom>
          <a:noFill/>
          <a:ln/>
        </p:spPr>
        <p:txBody>
          <a:bodyPr wrap="square" lIns="0" tIns="0" rIns="0" bIns="0"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Cycle</a:t>
            </a:r>
            <a:endParaRPr lang="en-US" sz="2000" dirty="0"/>
          </a:p>
        </p:txBody>
      </p:sp>
      <p:sp>
        <p:nvSpPr>
          <p:cNvPr id="9" name="Text 7"/>
          <p:cNvSpPr txBox="1"/>
          <p:nvPr/>
        </p:nvSpPr>
        <p:spPr>
          <a:xfrm>
            <a:off x="1426464" y="2194560"/>
            <a:ext cx="4160520" cy="365760"/>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Batches created by ordering or setup economics</a:t>
            </a:r>
            <a:endParaRPr lang="en-US" sz="1250" dirty="0"/>
          </a:p>
        </p:txBody>
      </p:sp>
      <p:sp>
        <p:nvSpPr>
          <p:cNvPr id="10" name="Text 8"/>
          <p:cNvSpPr txBox="1"/>
          <p:nvPr/>
        </p:nvSpPr>
        <p:spPr>
          <a:xfrm>
            <a:off x="1426464" y="2679192"/>
            <a:ext cx="4160520" cy="274320"/>
          </a:xfrm>
          <a:prstGeom prst="rect">
            <a:avLst/>
          </a:prstGeom>
          <a:noFill/>
          <a:ln/>
        </p:spPr>
        <p:txBody>
          <a:bodyPr wrap="square" lIns="0" tIns="0" rIns="0" bIns="0" rtlCol="0" anchor="ctr">
            <a:normAutofit/>
          </a:bodyPr>
          <a:lstStyle/>
          <a:p>
            <a:pPr algn="l" indent="0" marL="0">
              <a:buNone/>
            </a:pPr>
            <a:r>
              <a:rPr lang="en-US" sz="1150" b="1" dirty="0">
                <a:solidFill>
                  <a:srgbClr val="1D6FA5"/>
                </a:solidFill>
                <a:latin typeface="Aptos" pitchFamily="34" charset="0"/>
                <a:ea typeface="Aptos" pitchFamily="34" charset="-122"/>
                <a:cs typeface="Aptos" pitchFamily="34" charset="-120"/>
              </a:rPr>
              <a:t>Working capital ↔ ordering efficiency</a:t>
            </a:r>
            <a:endParaRPr lang="en-US" sz="1150" dirty="0"/>
          </a:p>
        </p:txBody>
      </p:sp>
      <p:sp>
        <p:nvSpPr>
          <p:cNvPr id="11" name="Shape 9"/>
          <p:cNvSpPr/>
          <p:nvPr/>
        </p:nvSpPr>
        <p:spPr>
          <a:xfrm>
            <a:off x="6263640" y="1600200"/>
            <a:ext cx="5440680" cy="1664208"/>
          </a:xfrm>
          <a:prstGeom prst="roundRect">
            <a:avLst>
              <a:gd name="adj" fmla="val 6593"/>
            </a:avLst>
          </a:prstGeom>
          <a:solidFill>
            <a:srgbClr val="FFFFFF"/>
          </a:solidFill>
          <a:ln w="12700">
            <a:solidFill>
              <a:srgbClr val="E8EDF2"/>
            </a:solidFill>
            <a:prstDash val="solid"/>
          </a:ln>
        </p:spPr>
      </p:sp>
      <p:sp>
        <p:nvSpPr>
          <p:cNvPr id="12" name="Shape 10"/>
          <p:cNvSpPr/>
          <p:nvPr/>
        </p:nvSpPr>
        <p:spPr>
          <a:xfrm>
            <a:off x="6464808" y="1828800"/>
            <a:ext cx="530352" cy="530352"/>
          </a:xfrm>
          <a:prstGeom prst="ellipse">
            <a:avLst/>
          </a:prstGeom>
          <a:solidFill>
            <a:srgbClr val="F28E2B"/>
          </a:solidFill>
          <a:ln w="12700">
            <a:solidFill>
              <a:srgbClr val="F28E2B"/>
            </a:solidFill>
            <a:prstDash val="solid"/>
          </a:ln>
        </p:spPr>
      </p:sp>
      <p:sp>
        <p:nvSpPr>
          <p:cNvPr id="13" name="Text 11"/>
          <p:cNvSpPr txBox="1"/>
          <p:nvPr/>
        </p:nvSpPr>
        <p:spPr>
          <a:xfrm>
            <a:off x="6464808" y="1828800"/>
            <a:ext cx="530352" cy="53035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txBox="1"/>
          <p:nvPr/>
        </p:nvSpPr>
        <p:spPr>
          <a:xfrm>
            <a:off x="7141464" y="1783080"/>
            <a:ext cx="2103120" cy="347472"/>
          </a:xfrm>
          <a:prstGeom prst="rect">
            <a:avLst/>
          </a:prstGeom>
          <a:noFill/>
          <a:ln/>
        </p:spPr>
        <p:txBody>
          <a:bodyPr wrap="square" lIns="0" tIns="0" rIns="0" bIns="0"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Safety</a:t>
            </a:r>
            <a:endParaRPr lang="en-US" sz="2000" dirty="0"/>
          </a:p>
        </p:txBody>
      </p:sp>
      <p:sp>
        <p:nvSpPr>
          <p:cNvPr id="15" name="Text 13"/>
          <p:cNvSpPr txBox="1"/>
          <p:nvPr/>
        </p:nvSpPr>
        <p:spPr>
          <a:xfrm>
            <a:off x="7141464" y="2194560"/>
            <a:ext cx="4160520" cy="365760"/>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Buffer against demand or supply uncertainty</a:t>
            </a:r>
            <a:endParaRPr lang="en-US" sz="1250" dirty="0"/>
          </a:p>
        </p:txBody>
      </p:sp>
      <p:sp>
        <p:nvSpPr>
          <p:cNvPr id="16" name="Text 14"/>
          <p:cNvSpPr txBox="1"/>
          <p:nvPr/>
        </p:nvSpPr>
        <p:spPr>
          <a:xfrm>
            <a:off x="7141464" y="2679192"/>
            <a:ext cx="4160520" cy="274320"/>
          </a:xfrm>
          <a:prstGeom prst="rect">
            <a:avLst/>
          </a:prstGeom>
          <a:noFill/>
          <a:ln/>
        </p:spPr>
        <p:txBody>
          <a:bodyPr wrap="square" lIns="0" tIns="0" rIns="0" bIns="0" rtlCol="0" anchor="ctr">
            <a:normAutofit/>
          </a:bodyPr>
          <a:lstStyle/>
          <a:p>
            <a:pPr algn="l" indent="0" marL="0">
              <a:buNone/>
            </a:pPr>
            <a:r>
              <a:rPr lang="en-US" sz="1150" b="1" dirty="0">
                <a:solidFill>
                  <a:srgbClr val="F28E2B"/>
                </a:solidFill>
                <a:latin typeface="Aptos" pitchFamily="34" charset="0"/>
                <a:ea typeface="Aptos" pitchFamily="34" charset="-122"/>
                <a:cs typeface="Aptos" pitchFamily="34" charset="-120"/>
              </a:rPr>
              <a:t>Availability ↔ carrying cost</a:t>
            </a:r>
            <a:endParaRPr lang="en-US" sz="1150" dirty="0"/>
          </a:p>
        </p:txBody>
      </p:sp>
      <p:sp>
        <p:nvSpPr>
          <p:cNvPr id="17" name="Shape 15"/>
          <p:cNvSpPr/>
          <p:nvPr/>
        </p:nvSpPr>
        <p:spPr>
          <a:xfrm>
            <a:off x="548640" y="3566160"/>
            <a:ext cx="5440680" cy="1664208"/>
          </a:xfrm>
          <a:prstGeom prst="roundRect">
            <a:avLst>
              <a:gd name="adj" fmla="val 6593"/>
            </a:avLst>
          </a:prstGeom>
          <a:solidFill>
            <a:srgbClr val="FFFFFF"/>
          </a:solidFill>
          <a:ln w="12700">
            <a:solidFill>
              <a:srgbClr val="E8EDF2"/>
            </a:solidFill>
            <a:prstDash val="solid"/>
          </a:ln>
        </p:spPr>
      </p:sp>
      <p:sp>
        <p:nvSpPr>
          <p:cNvPr id="18" name="Shape 16"/>
          <p:cNvSpPr/>
          <p:nvPr/>
        </p:nvSpPr>
        <p:spPr>
          <a:xfrm>
            <a:off x="749808" y="3794760"/>
            <a:ext cx="530352" cy="530352"/>
          </a:xfrm>
          <a:prstGeom prst="ellipse">
            <a:avLst/>
          </a:prstGeom>
          <a:solidFill>
            <a:srgbClr val="2A9D8F"/>
          </a:solidFill>
          <a:ln w="12700">
            <a:solidFill>
              <a:srgbClr val="2A9D8F"/>
            </a:solidFill>
            <a:prstDash val="solid"/>
          </a:ln>
        </p:spPr>
      </p:sp>
      <p:sp>
        <p:nvSpPr>
          <p:cNvPr id="19" name="Text 17"/>
          <p:cNvSpPr txBox="1"/>
          <p:nvPr/>
        </p:nvSpPr>
        <p:spPr>
          <a:xfrm>
            <a:off x="749808" y="3794760"/>
            <a:ext cx="530352" cy="53035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426464" y="3749040"/>
            <a:ext cx="2103120" cy="347472"/>
          </a:xfrm>
          <a:prstGeom prst="rect">
            <a:avLst/>
          </a:prstGeom>
          <a:noFill/>
          <a:ln/>
        </p:spPr>
        <p:txBody>
          <a:bodyPr wrap="square" lIns="0" tIns="0" rIns="0" bIns="0"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Anticipation</a:t>
            </a:r>
            <a:endParaRPr lang="en-US" sz="2000" dirty="0"/>
          </a:p>
        </p:txBody>
      </p:sp>
      <p:sp>
        <p:nvSpPr>
          <p:cNvPr id="21" name="Text 19"/>
          <p:cNvSpPr txBox="1"/>
          <p:nvPr/>
        </p:nvSpPr>
        <p:spPr>
          <a:xfrm>
            <a:off x="1426464" y="4160520"/>
            <a:ext cx="4160520" cy="365760"/>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Built ahead of peaks, shutdowns, or price changes</a:t>
            </a:r>
            <a:endParaRPr lang="en-US" sz="1250" dirty="0"/>
          </a:p>
        </p:txBody>
      </p:sp>
      <p:sp>
        <p:nvSpPr>
          <p:cNvPr id="22" name="Text 20"/>
          <p:cNvSpPr txBox="1"/>
          <p:nvPr/>
        </p:nvSpPr>
        <p:spPr>
          <a:xfrm>
            <a:off x="1426464" y="4645152"/>
            <a:ext cx="4160520" cy="274320"/>
          </a:xfrm>
          <a:prstGeom prst="rect">
            <a:avLst/>
          </a:prstGeom>
          <a:noFill/>
          <a:ln/>
        </p:spPr>
        <p:txBody>
          <a:bodyPr wrap="square" lIns="0" tIns="0" rIns="0" bIns="0" rtlCol="0" anchor="ctr">
            <a:normAutofit/>
          </a:bodyPr>
          <a:lstStyle/>
          <a:p>
            <a:pPr algn="l" indent="0" marL="0">
              <a:buNone/>
            </a:pPr>
            <a:r>
              <a:rPr lang="en-US" sz="1150" b="1" dirty="0">
                <a:solidFill>
                  <a:srgbClr val="2A9D8F"/>
                </a:solidFill>
                <a:latin typeface="Aptos" pitchFamily="34" charset="0"/>
                <a:ea typeface="Aptos" pitchFamily="34" charset="-122"/>
                <a:cs typeface="Aptos" pitchFamily="34" charset="-120"/>
              </a:rPr>
              <a:t>Responsiveness ↔ forecast/obsolescence risk</a:t>
            </a:r>
            <a:endParaRPr lang="en-US" sz="1150" dirty="0"/>
          </a:p>
        </p:txBody>
      </p:sp>
      <p:sp>
        <p:nvSpPr>
          <p:cNvPr id="23" name="Shape 21"/>
          <p:cNvSpPr/>
          <p:nvPr/>
        </p:nvSpPr>
        <p:spPr>
          <a:xfrm>
            <a:off x="6263640" y="3566160"/>
            <a:ext cx="5440680" cy="1664208"/>
          </a:xfrm>
          <a:prstGeom prst="roundRect">
            <a:avLst>
              <a:gd name="adj" fmla="val 6593"/>
            </a:avLst>
          </a:prstGeom>
          <a:solidFill>
            <a:srgbClr val="FFFFFF"/>
          </a:solidFill>
          <a:ln w="12700">
            <a:solidFill>
              <a:srgbClr val="E8EDF2"/>
            </a:solidFill>
            <a:prstDash val="solid"/>
          </a:ln>
        </p:spPr>
      </p:sp>
      <p:sp>
        <p:nvSpPr>
          <p:cNvPr id="24" name="Shape 22"/>
          <p:cNvSpPr/>
          <p:nvPr/>
        </p:nvSpPr>
        <p:spPr>
          <a:xfrm>
            <a:off x="6464808" y="3794760"/>
            <a:ext cx="530352" cy="530352"/>
          </a:xfrm>
          <a:prstGeom prst="ellipse">
            <a:avLst/>
          </a:prstGeom>
          <a:solidFill>
            <a:srgbClr val="D1495B"/>
          </a:solidFill>
          <a:ln w="12700">
            <a:solidFill>
              <a:srgbClr val="D1495B"/>
            </a:solidFill>
            <a:prstDash val="solid"/>
          </a:ln>
        </p:spPr>
      </p:sp>
      <p:sp>
        <p:nvSpPr>
          <p:cNvPr id="25" name="Text 23"/>
          <p:cNvSpPr txBox="1"/>
          <p:nvPr/>
        </p:nvSpPr>
        <p:spPr>
          <a:xfrm>
            <a:off x="6464808" y="3794760"/>
            <a:ext cx="530352" cy="53035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6" name="Text 24"/>
          <p:cNvSpPr txBox="1"/>
          <p:nvPr/>
        </p:nvSpPr>
        <p:spPr>
          <a:xfrm>
            <a:off x="7141464" y="3749040"/>
            <a:ext cx="2103120" cy="347472"/>
          </a:xfrm>
          <a:prstGeom prst="rect">
            <a:avLst/>
          </a:prstGeom>
          <a:noFill/>
          <a:ln/>
        </p:spPr>
        <p:txBody>
          <a:bodyPr wrap="square" lIns="0" tIns="0" rIns="0" bIns="0"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Pipeline / decoupling</a:t>
            </a:r>
            <a:endParaRPr lang="en-US" sz="2000" dirty="0"/>
          </a:p>
        </p:txBody>
      </p:sp>
      <p:sp>
        <p:nvSpPr>
          <p:cNvPr id="27" name="Text 25"/>
          <p:cNvSpPr txBox="1"/>
          <p:nvPr/>
        </p:nvSpPr>
        <p:spPr>
          <a:xfrm>
            <a:off x="7141464" y="4160520"/>
            <a:ext cx="4160520" cy="365760"/>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Units in transit or between process stages</a:t>
            </a:r>
            <a:endParaRPr lang="en-US" sz="1250" dirty="0"/>
          </a:p>
        </p:txBody>
      </p:sp>
      <p:sp>
        <p:nvSpPr>
          <p:cNvPr id="28" name="Text 26"/>
          <p:cNvSpPr txBox="1"/>
          <p:nvPr/>
        </p:nvSpPr>
        <p:spPr>
          <a:xfrm>
            <a:off x="7141464" y="4645152"/>
            <a:ext cx="4160520" cy="274320"/>
          </a:xfrm>
          <a:prstGeom prst="rect">
            <a:avLst/>
          </a:prstGeom>
          <a:noFill/>
          <a:ln/>
        </p:spPr>
        <p:txBody>
          <a:bodyPr wrap="square" lIns="0" tIns="0" rIns="0" bIns="0" rtlCol="0" anchor="ctr">
            <a:normAutofit/>
          </a:bodyPr>
          <a:lstStyle/>
          <a:p>
            <a:pPr algn="l" indent="0" marL="0">
              <a:buNone/>
            </a:pPr>
            <a:r>
              <a:rPr lang="en-US" sz="1150" b="1" dirty="0">
                <a:solidFill>
                  <a:srgbClr val="D1495B"/>
                </a:solidFill>
                <a:latin typeface="Aptos" pitchFamily="34" charset="0"/>
                <a:ea typeface="Aptos" pitchFamily="34" charset="-122"/>
                <a:cs typeface="Aptos" pitchFamily="34" charset="-120"/>
              </a:rPr>
              <a:t>Flow continuity ↔ lead-time exposure</a:t>
            </a:r>
            <a:endParaRPr lang="en-US" sz="1150" dirty="0"/>
          </a:p>
        </p:txBody>
      </p:sp>
      <p:sp>
        <p:nvSpPr>
          <p:cNvPr id="29" name="Shape 27"/>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30" name="Text 28"/>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31" name="Text 29"/>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Different inventory functions require different levers: reducing batch size will not fix an unreliable lead time.</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INVENTORY IN THE CHAIN</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Inventory buys time—and time sits in different places</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Illustrative end-to-end flow</a:t>
            </a:r>
            <a:endParaRPr lang="en-US" sz="1350" dirty="0"/>
          </a:p>
        </p:txBody>
      </p:sp>
      <p:sp>
        <p:nvSpPr>
          <p:cNvPr id="5" name="Text 3"/>
          <p:cNvSpPr txBox="1"/>
          <p:nvPr/>
        </p:nvSpPr>
        <p:spPr>
          <a:xfrm>
            <a:off x="548640" y="4206240"/>
            <a:ext cx="1371600" cy="228600"/>
          </a:xfrm>
          <a:prstGeom prst="rect">
            <a:avLst/>
          </a:prstGeom>
          <a:noFill/>
          <a:ln/>
        </p:spPr>
        <p:txBody>
          <a:bodyPr wrap="square" lIns="0" tIns="0" rIns="0" bIns="0" rtlCol="0" anchor="ctr">
            <a:normAutofit/>
          </a:bodyPr>
          <a:lstStyle/>
          <a:p>
            <a:pPr algn="ctr" indent="0" marL="0">
              <a:buNone/>
            </a:pPr>
            <a:r>
              <a:rPr lang="en-US" sz="1000" b="1" dirty="0">
                <a:solidFill>
                  <a:srgbClr val="6B7785"/>
                </a:solidFill>
                <a:latin typeface="Aptos" pitchFamily="34" charset="0"/>
                <a:ea typeface="Aptos" pitchFamily="34" charset="-122"/>
                <a:cs typeface="Aptos" pitchFamily="34" charset="-120"/>
              </a:rPr>
              <a:t>SUPPLIER</a:t>
            </a:r>
            <a:endParaRPr lang="en-US" sz="1000" dirty="0"/>
          </a:p>
        </p:txBody>
      </p:sp>
      <p:sp>
        <p:nvSpPr>
          <p:cNvPr id="6" name="Shape 4"/>
          <p:cNvSpPr/>
          <p:nvPr/>
        </p:nvSpPr>
        <p:spPr>
          <a:xfrm rot="16200000">
            <a:off x="731520" y="1874520"/>
            <a:ext cx="1234440" cy="400050"/>
          </a:xfrm>
          <a:prstGeom prst="chevron">
            <a:avLst/>
          </a:prstGeom>
          <a:solidFill>
            <a:srgbClr val="173B57"/>
          </a:solidFill>
          <a:ln w="12700">
            <a:solidFill>
              <a:srgbClr val="173B57"/>
            </a:solidFill>
            <a:prstDash val="solid"/>
          </a:ln>
        </p:spPr>
      </p:sp>
      <p:sp>
        <p:nvSpPr>
          <p:cNvPr id="7" name="Shape 5"/>
          <p:cNvSpPr/>
          <p:nvPr/>
        </p:nvSpPr>
        <p:spPr>
          <a:xfrm>
            <a:off x="731520" y="2160270"/>
            <a:ext cx="1234440" cy="857250"/>
          </a:xfrm>
          <a:prstGeom prst="rect">
            <a:avLst/>
          </a:prstGeom>
          <a:solidFill>
            <a:srgbClr val="EAF3F8"/>
          </a:solidFill>
          <a:ln w="12700">
            <a:solidFill>
              <a:srgbClr val="1D6FA5"/>
            </a:solidFill>
            <a:prstDash val="solid"/>
          </a:ln>
        </p:spPr>
      </p:sp>
      <p:sp>
        <p:nvSpPr>
          <p:cNvPr id="8" name="Shape 6"/>
          <p:cNvSpPr/>
          <p:nvPr/>
        </p:nvSpPr>
        <p:spPr>
          <a:xfrm>
            <a:off x="877824" y="2423160"/>
            <a:ext cx="246888" cy="228600"/>
          </a:xfrm>
          <a:prstGeom prst="roundRect">
            <a:avLst>
              <a:gd name="adj" fmla="val 20000"/>
            </a:avLst>
          </a:prstGeom>
          <a:solidFill>
            <a:srgbClr val="1D6FA5"/>
          </a:solidFill>
          <a:ln w="12700">
            <a:solidFill>
              <a:srgbClr val="1D6FA5"/>
            </a:solidFill>
            <a:prstDash val="solid"/>
          </a:ln>
        </p:spPr>
      </p:sp>
      <p:sp>
        <p:nvSpPr>
          <p:cNvPr id="9" name="Shape 7"/>
          <p:cNvSpPr/>
          <p:nvPr/>
        </p:nvSpPr>
        <p:spPr>
          <a:xfrm>
            <a:off x="1001268" y="2423160"/>
            <a:ext cx="0" cy="228600"/>
          </a:xfrm>
          <a:prstGeom prst="line">
            <a:avLst/>
          </a:prstGeom>
          <a:noFill/>
          <a:ln w="12700">
            <a:solidFill>
              <a:srgbClr val="FFFFFF"/>
            </a:solidFill>
            <a:prstDash val="solid"/>
          </a:ln>
        </p:spPr>
      </p:sp>
      <p:sp>
        <p:nvSpPr>
          <p:cNvPr id="10" name="Shape 8"/>
          <p:cNvSpPr/>
          <p:nvPr/>
        </p:nvSpPr>
        <p:spPr>
          <a:xfrm>
            <a:off x="877824" y="2526030"/>
            <a:ext cx="246888" cy="0"/>
          </a:xfrm>
          <a:prstGeom prst="line">
            <a:avLst/>
          </a:prstGeom>
          <a:noFill/>
          <a:ln w="12700">
            <a:solidFill>
              <a:srgbClr val="FFFFFF"/>
            </a:solidFill>
            <a:prstDash val="solid"/>
          </a:ln>
        </p:spPr>
      </p:sp>
      <p:sp>
        <p:nvSpPr>
          <p:cNvPr id="11" name="Shape 9"/>
          <p:cNvSpPr/>
          <p:nvPr/>
        </p:nvSpPr>
        <p:spPr>
          <a:xfrm>
            <a:off x="1211123" y="2423160"/>
            <a:ext cx="246888" cy="228600"/>
          </a:xfrm>
          <a:prstGeom prst="roundRect">
            <a:avLst>
              <a:gd name="adj" fmla="val 20000"/>
            </a:avLst>
          </a:prstGeom>
          <a:solidFill>
            <a:srgbClr val="1D6FA5"/>
          </a:solidFill>
          <a:ln w="12700">
            <a:solidFill>
              <a:srgbClr val="1D6FA5"/>
            </a:solidFill>
            <a:prstDash val="solid"/>
          </a:ln>
        </p:spPr>
      </p:sp>
      <p:sp>
        <p:nvSpPr>
          <p:cNvPr id="12" name="Shape 10"/>
          <p:cNvSpPr/>
          <p:nvPr/>
        </p:nvSpPr>
        <p:spPr>
          <a:xfrm>
            <a:off x="1334567" y="2423160"/>
            <a:ext cx="0" cy="228600"/>
          </a:xfrm>
          <a:prstGeom prst="line">
            <a:avLst/>
          </a:prstGeom>
          <a:noFill/>
          <a:ln w="12700">
            <a:solidFill>
              <a:srgbClr val="FFFFFF"/>
            </a:solidFill>
            <a:prstDash val="solid"/>
          </a:ln>
        </p:spPr>
      </p:sp>
      <p:sp>
        <p:nvSpPr>
          <p:cNvPr id="13" name="Shape 11"/>
          <p:cNvSpPr/>
          <p:nvPr/>
        </p:nvSpPr>
        <p:spPr>
          <a:xfrm>
            <a:off x="1211123" y="2526030"/>
            <a:ext cx="246888" cy="0"/>
          </a:xfrm>
          <a:prstGeom prst="line">
            <a:avLst/>
          </a:prstGeom>
          <a:noFill/>
          <a:ln w="12700">
            <a:solidFill>
              <a:srgbClr val="FFFFFF"/>
            </a:solidFill>
            <a:prstDash val="solid"/>
          </a:ln>
        </p:spPr>
      </p:sp>
      <p:sp>
        <p:nvSpPr>
          <p:cNvPr id="14" name="Shape 12"/>
          <p:cNvSpPr/>
          <p:nvPr/>
        </p:nvSpPr>
        <p:spPr>
          <a:xfrm>
            <a:off x="1544422" y="2423160"/>
            <a:ext cx="246888" cy="228600"/>
          </a:xfrm>
          <a:prstGeom prst="roundRect">
            <a:avLst>
              <a:gd name="adj" fmla="val 20000"/>
            </a:avLst>
          </a:prstGeom>
          <a:solidFill>
            <a:srgbClr val="F28E2B"/>
          </a:solidFill>
          <a:ln w="12700">
            <a:solidFill>
              <a:srgbClr val="F28E2B"/>
            </a:solidFill>
            <a:prstDash val="solid"/>
          </a:ln>
        </p:spPr>
      </p:sp>
      <p:sp>
        <p:nvSpPr>
          <p:cNvPr id="15" name="Shape 13"/>
          <p:cNvSpPr/>
          <p:nvPr/>
        </p:nvSpPr>
        <p:spPr>
          <a:xfrm>
            <a:off x="1667866" y="2423160"/>
            <a:ext cx="0" cy="228600"/>
          </a:xfrm>
          <a:prstGeom prst="line">
            <a:avLst/>
          </a:prstGeom>
          <a:noFill/>
          <a:ln w="12700">
            <a:solidFill>
              <a:srgbClr val="FFFFFF"/>
            </a:solidFill>
            <a:prstDash val="solid"/>
          </a:ln>
        </p:spPr>
      </p:sp>
      <p:sp>
        <p:nvSpPr>
          <p:cNvPr id="16" name="Shape 14"/>
          <p:cNvSpPr/>
          <p:nvPr/>
        </p:nvSpPr>
        <p:spPr>
          <a:xfrm>
            <a:off x="1544422" y="2526030"/>
            <a:ext cx="246888" cy="0"/>
          </a:xfrm>
          <a:prstGeom prst="line">
            <a:avLst/>
          </a:prstGeom>
          <a:noFill/>
          <a:ln w="12700">
            <a:solidFill>
              <a:srgbClr val="FFFFFF"/>
            </a:solidFill>
            <a:prstDash val="solid"/>
          </a:ln>
        </p:spPr>
      </p:sp>
      <p:sp>
        <p:nvSpPr>
          <p:cNvPr id="17" name="Text 15"/>
          <p:cNvSpPr txBox="1"/>
          <p:nvPr/>
        </p:nvSpPr>
        <p:spPr>
          <a:xfrm>
            <a:off x="2880360" y="4206240"/>
            <a:ext cx="1371600" cy="228600"/>
          </a:xfrm>
          <a:prstGeom prst="rect">
            <a:avLst/>
          </a:prstGeom>
          <a:noFill/>
          <a:ln/>
        </p:spPr>
        <p:txBody>
          <a:bodyPr wrap="square" lIns="0" tIns="0" rIns="0" bIns="0" rtlCol="0" anchor="ctr">
            <a:normAutofit/>
          </a:bodyPr>
          <a:lstStyle/>
          <a:p>
            <a:pPr algn="ctr" indent="0" marL="0">
              <a:buNone/>
            </a:pPr>
            <a:r>
              <a:rPr lang="en-US" sz="1000" b="1" dirty="0">
                <a:solidFill>
                  <a:srgbClr val="6B7785"/>
                </a:solidFill>
                <a:latin typeface="Aptos" pitchFamily="34" charset="0"/>
                <a:ea typeface="Aptos" pitchFamily="34" charset="-122"/>
                <a:cs typeface="Aptos" pitchFamily="34" charset="-120"/>
              </a:rPr>
              <a:t>PLANT</a:t>
            </a:r>
            <a:endParaRPr lang="en-US" sz="1000" dirty="0"/>
          </a:p>
        </p:txBody>
      </p:sp>
      <p:sp>
        <p:nvSpPr>
          <p:cNvPr id="18" name="Shape 16"/>
          <p:cNvSpPr/>
          <p:nvPr/>
        </p:nvSpPr>
        <p:spPr>
          <a:xfrm rot="16200000">
            <a:off x="2971800" y="1874520"/>
            <a:ext cx="1234440" cy="400050"/>
          </a:xfrm>
          <a:prstGeom prst="chevron">
            <a:avLst/>
          </a:prstGeom>
          <a:solidFill>
            <a:srgbClr val="173B57"/>
          </a:solidFill>
          <a:ln w="12700">
            <a:solidFill>
              <a:srgbClr val="173B57"/>
            </a:solidFill>
            <a:prstDash val="solid"/>
          </a:ln>
        </p:spPr>
      </p:sp>
      <p:sp>
        <p:nvSpPr>
          <p:cNvPr id="19" name="Shape 17"/>
          <p:cNvSpPr/>
          <p:nvPr/>
        </p:nvSpPr>
        <p:spPr>
          <a:xfrm>
            <a:off x="2971800" y="2160270"/>
            <a:ext cx="1234440" cy="857250"/>
          </a:xfrm>
          <a:prstGeom prst="rect">
            <a:avLst/>
          </a:prstGeom>
          <a:solidFill>
            <a:srgbClr val="EAF3F8"/>
          </a:solidFill>
          <a:ln w="12700">
            <a:solidFill>
              <a:srgbClr val="1D6FA5"/>
            </a:solidFill>
            <a:prstDash val="solid"/>
          </a:ln>
        </p:spPr>
      </p:sp>
      <p:sp>
        <p:nvSpPr>
          <p:cNvPr id="20" name="Shape 18"/>
          <p:cNvSpPr/>
          <p:nvPr/>
        </p:nvSpPr>
        <p:spPr>
          <a:xfrm>
            <a:off x="3118104" y="2423160"/>
            <a:ext cx="246888" cy="228600"/>
          </a:xfrm>
          <a:prstGeom prst="roundRect">
            <a:avLst>
              <a:gd name="adj" fmla="val 20000"/>
            </a:avLst>
          </a:prstGeom>
          <a:solidFill>
            <a:srgbClr val="1D6FA5"/>
          </a:solidFill>
          <a:ln w="12700">
            <a:solidFill>
              <a:srgbClr val="1D6FA5"/>
            </a:solidFill>
            <a:prstDash val="solid"/>
          </a:ln>
        </p:spPr>
      </p:sp>
      <p:sp>
        <p:nvSpPr>
          <p:cNvPr id="21" name="Shape 19"/>
          <p:cNvSpPr/>
          <p:nvPr/>
        </p:nvSpPr>
        <p:spPr>
          <a:xfrm>
            <a:off x="3241548" y="2423160"/>
            <a:ext cx="0" cy="228600"/>
          </a:xfrm>
          <a:prstGeom prst="line">
            <a:avLst/>
          </a:prstGeom>
          <a:noFill/>
          <a:ln w="12700">
            <a:solidFill>
              <a:srgbClr val="FFFFFF"/>
            </a:solidFill>
            <a:prstDash val="solid"/>
          </a:ln>
        </p:spPr>
      </p:sp>
      <p:sp>
        <p:nvSpPr>
          <p:cNvPr id="22" name="Shape 20"/>
          <p:cNvSpPr/>
          <p:nvPr/>
        </p:nvSpPr>
        <p:spPr>
          <a:xfrm>
            <a:off x="3118104" y="2526030"/>
            <a:ext cx="246888" cy="0"/>
          </a:xfrm>
          <a:prstGeom prst="line">
            <a:avLst/>
          </a:prstGeom>
          <a:noFill/>
          <a:ln w="12700">
            <a:solidFill>
              <a:srgbClr val="FFFFFF"/>
            </a:solidFill>
            <a:prstDash val="solid"/>
          </a:ln>
        </p:spPr>
      </p:sp>
      <p:sp>
        <p:nvSpPr>
          <p:cNvPr id="23" name="Shape 21"/>
          <p:cNvSpPr/>
          <p:nvPr/>
        </p:nvSpPr>
        <p:spPr>
          <a:xfrm>
            <a:off x="3451403" y="2423160"/>
            <a:ext cx="246888" cy="228600"/>
          </a:xfrm>
          <a:prstGeom prst="roundRect">
            <a:avLst>
              <a:gd name="adj" fmla="val 20000"/>
            </a:avLst>
          </a:prstGeom>
          <a:solidFill>
            <a:srgbClr val="1D6FA5"/>
          </a:solidFill>
          <a:ln w="12700">
            <a:solidFill>
              <a:srgbClr val="1D6FA5"/>
            </a:solidFill>
            <a:prstDash val="solid"/>
          </a:ln>
        </p:spPr>
      </p:sp>
      <p:sp>
        <p:nvSpPr>
          <p:cNvPr id="24" name="Shape 22"/>
          <p:cNvSpPr/>
          <p:nvPr/>
        </p:nvSpPr>
        <p:spPr>
          <a:xfrm>
            <a:off x="3574847" y="2423160"/>
            <a:ext cx="0" cy="228600"/>
          </a:xfrm>
          <a:prstGeom prst="line">
            <a:avLst/>
          </a:prstGeom>
          <a:noFill/>
          <a:ln w="12700">
            <a:solidFill>
              <a:srgbClr val="FFFFFF"/>
            </a:solidFill>
            <a:prstDash val="solid"/>
          </a:ln>
        </p:spPr>
      </p:sp>
      <p:sp>
        <p:nvSpPr>
          <p:cNvPr id="25" name="Shape 23"/>
          <p:cNvSpPr/>
          <p:nvPr/>
        </p:nvSpPr>
        <p:spPr>
          <a:xfrm>
            <a:off x="3451403" y="2526030"/>
            <a:ext cx="246888" cy="0"/>
          </a:xfrm>
          <a:prstGeom prst="line">
            <a:avLst/>
          </a:prstGeom>
          <a:noFill/>
          <a:ln w="12700">
            <a:solidFill>
              <a:srgbClr val="FFFFFF"/>
            </a:solidFill>
            <a:prstDash val="solid"/>
          </a:ln>
        </p:spPr>
      </p:sp>
      <p:sp>
        <p:nvSpPr>
          <p:cNvPr id="26" name="Shape 24"/>
          <p:cNvSpPr/>
          <p:nvPr/>
        </p:nvSpPr>
        <p:spPr>
          <a:xfrm>
            <a:off x="3784702" y="2423160"/>
            <a:ext cx="246888" cy="228600"/>
          </a:xfrm>
          <a:prstGeom prst="roundRect">
            <a:avLst>
              <a:gd name="adj" fmla="val 20000"/>
            </a:avLst>
          </a:prstGeom>
          <a:solidFill>
            <a:srgbClr val="F28E2B"/>
          </a:solidFill>
          <a:ln w="12700">
            <a:solidFill>
              <a:srgbClr val="F28E2B"/>
            </a:solidFill>
            <a:prstDash val="solid"/>
          </a:ln>
        </p:spPr>
      </p:sp>
      <p:sp>
        <p:nvSpPr>
          <p:cNvPr id="27" name="Shape 25"/>
          <p:cNvSpPr/>
          <p:nvPr/>
        </p:nvSpPr>
        <p:spPr>
          <a:xfrm>
            <a:off x="3908146" y="2423160"/>
            <a:ext cx="0" cy="228600"/>
          </a:xfrm>
          <a:prstGeom prst="line">
            <a:avLst/>
          </a:prstGeom>
          <a:noFill/>
          <a:ln w="12700">
            <a:solidFill>
              <a:srgbClr val="FFFFFF"/>
            </a:solidFill>
            <a:prstDash val="solid"/>
          </a:ln>
        </p:spPr>
      </p:sp>
      <p:sp>
        <p:nvSpPr>
          <p:cNvPr id="28" name="Shape 26"/>
          <p:cNvSpPr/>
          <p:nvPr/>
        </p:nvSpPr>
        <p:spPr>
          <a:xfrm>
            <a:off x="3784702" y="2526030"/>
            <a:ext cx="246888" cy="0"/>
          </a:xfrm>
          <a:prstGeom prst="line">
            <a:avLst/>
          </a:prstGeom>
          <a:noFill/>
          <a:ln w="12700">
            <a:solidFill>
              <a:srgbClr val="FFFFFF"/>
            </a:solidFill>
            <a:prstDash val="solid"/>
          </a:ln>
        </p:spPr>
      </p:sp>
      <p:sp>
        <p:nvSpPr>
          <p:cNvPr id="29" name="Text 27"/>
          <p:cNvSpPr txBox="1"/>
          <p:nvPr/>
        </p:nvSpPr>
        <p:spPr>
          <a:xfrm>
            <a:off x="5486400" y="4206240"/>
            <a:ext cx="1371600" cy="228600"/>
          </a:xfrm>
          <a:prstGeom prst="rect">
            <a:avLst/>
          </a:prstGeom>
          <a:noFill/>
          <a:ln/>
        </p:spPr>
        <p:txBody>
          <a:bodyPr wrap="square" lIns="0" tIns="0" rIns="0" bIns="0" rtlCol="0" anchor="ctr">
            <a:normAutofit/>
          </a:bodyPr>
          <a:lstStyle/>
          <a:p>
            <a:pPr algn="ctr" indent="0" marL="0">
              <a:buNone/>
            </a:pPr>
            <a:r>
              <a:rPr lang="en-US" sz="1000" b="1" dirty="0">
                <a:solidFill>
                  <a:srgbClr val="6B7785"/>
                </a:solidFill>
                <a:latin typeface="Aptos" pitchFamily="34" charset="0"/>
                <a:ea typeface="Aptos" pitchFamily="34" charset="-122"/>
                <a:cs typeface="Aptos" pitchFamily="34" charset="-120"/>
              </a:rPr>
              <a:t>DC</a:t>
            </a:r>
            <a:endParaRPr lang="en-US" sz="1000" dirty="0"/>
          </a:p>
        </p:txBody>
      </p:sp>
      <p:sp>
        <p:nvSpPr>
          <p:cNvPr id="30" name="Shape 28"/>
          <p:cNvSpPr/>
          <p:nvPr/>
        </p:nvSpPr>
        <p:spPr>
          <a:xfrm rot="16200000">
            <a:off x="5532120" y="1874520"/>
            <a:ext cx="1234440" cy="400050"/>
          </a:xfrm>
          <a:prstGeom prst="chevron">
            <a:avLst/>
          </a:prstGeom>
          <a:solidFill>
            <a:srgbClr val="173B57"/>
          </a:solidFill>
          <a:ln w="12700">
            <a:solidFill>
              <a:srgbClr val="173B57"/>
            </a:solidFill>
            <a:prstDash val="solid"/>
          </a:ln>
        </p:spPr>
      </p:sp>
      <p:sp>
        <p:nvSpPr>
          <p:cNvPr id="31" name="Shape 29"/>
          <p:cNvSpPr/>
          <p:nvPr/>
        </p:nvSpPr>
        <p:spPr>
          <a:xfrm>
            <a:off x="5532120" y="2160270"/>
            <a:ext cx="1234440" cy="857250"/>
          </a:xfrm>
          <a:prstGeom prst="rect">
            <a:avLst/>
          </a:prstGeom>
          <a:solidFill>
            <a:srgbClr val="EAF3F8"/>
          </a:solidFill>
          <a:ln w="12700">
            <a:solidFill>
              <a:srgbClr val="1D6FA5"/>
            </a:solidFill>
            <a:prstDash val="solid"/>
          </a:ln>
        </p:spPr>
      </p:sp>
      <p:sp>
        <p:nvSpPr>
          <p:cNvPr id="32" name="Shape 30"/>
          <p:cNvSpPr/>
          <p:nvPr/>
        </p:nvSpPr>
        <p:spPr>
          <a:xfrm>
            <a:off x="5678424" y="2423160"/>
            <a:ext cx="246888" cy="228600"/>
          </a:xfrm>
          <a:prstGeom prst="roundRect">
            <a:avLst>
              <a:gd name="adj" fmla="val 20000"/>
            </a:avLst>
          </a:prstGeom>
          <a:solidFill>
            <a:srgbClr val="1D6FA5"/>
          </a:solidFill>
          <a:ln w="12700">
            <a:solidFill>
              <a:srgbClr val="1D6FA5"/>
            </a:solidFill>
            <a:prstDash val="solid"/>
          </a:ln>
        </p:spPr>
      </p:sp>
      <p:sp>
        <p:nvSpPr>
          <p:cNvPr id="33" name="Shape 31"/>
          <p:cNvSpPr/>
          <p:nvPr/>
        </p:nvSpPr>
        <p:spPr>
          <a:xfrm>
            <a:off x="5801868" y="2423160"/>
            <a:ext cx="0" cy="228600"/>
          </a:xfrm>
          <a:prstGeom prst="line">
            <a:avLst/>
          </a:prstGeom>
          <a:noFill/>
          <a:ln w="12700">
            <a:solidFill>
              <a:srgbClr val="FFFFFF"/>
            </a:solidFill>
            <a:prstDash val="solid"/>
          </a:ln>
        </p:spPr>
      </p:sp>
      <p:sp>
        <p:nvSpPr>
          <p:cNvPr id="34" name="Shape 32"/>
          <p:cNvSpPr/>
          <p:nvPr/>
        </p:nvSpPr>
        <p:spPr>
          <a:xfrm>
            <a:off x="5678424" y="2526030"/>
            <a:ext cx="246888" cy="0"/>
          </a:xfrm>
          <a:prstGeom prst="line">
            <a:avLst/>
          </a:prstGeom>
          <a:noFill/>
          <a:ln w="12700">
            <a:solidFill>
              <a:srgbClr val="FFFFFF"/>
            </a:solidFill>
            <a:prstDash val="solid"/>
          </a:ln>
        </p:spPr>
      </p:sp>
      <p:sp>
        <p:nvSpPr>
          <p:cNvPr id="35" name="Shape 33"/>
          <p:cNvSpPr/>
          <p:nvPr/>
        </p:nvSpPr>
        <p:spPr>
          <a:xfrm>
            <a:off x="6011723" y="2423160"/>
            <a:ext cx="246888" cy="228600"/>
          </a:xfrm>
          <a:prstGeom prst="roundRect">
            <a:avLst>
              <a:gd name="adj" fmla="val 20000"/>
            </a:avLst>
          </a:prstGeom>
          <a:solidFill>
            <a:srgbClr val="1D6FA5"/>
          </a:solidFill>
          <a:ln w="12700">
            <a:solidFill>
              <a:srgbClr val="1D6FA5"/>
            </a:solidFill>
            <a:prstDash val="solid"/>
          </a:ln>
        </p:spPr>
      </p:sp>
      <p:sp>
        <p:nvSpPr>
          <p:cNvPr id="36" name="Shape 34"/>
          <p:cNvSpPr/>
          <p:nvPr/>
        </p:nvSpPr>
        <p:spPr>
          <a:xfrm>
            <a:off x="6135167" y="2423160"/>
            <a:ext cx="0" cy="228600"/>
          </a:xfrm>
          <a:prstGeom prst="line">
            <a:avLst/>
          </a:prstGeom>
          <a:noFill/>
          <a:ln w="12700">
            <a:solidFill>
              <a:srgbClr val="FFFFFF"/>
            </a:solidFill>
            <a:prstDash val="solid"/>
          </a:ln>
        </p:spPr>
      </p:sp>
      <p:sp>
        <p:nvSpPr>
          <p:cNvPr id="37" name="Shape 35"/>
          <p:cNvSpPr/>
          <p:nvPr/>
        </p:nvSpPr>
        <p:spPr>
          <a:xfrm>
            <a:off x="6011723" y="2526030"/>
            <a:ext cx="246888" cy="0"/>
          </a:xfrm>
          <a:prstGeom prst="line">
            <a:avLst/>
          </a:prstGeom>
          <a:noFill/>
          <a:ln w="12700">
            <a:solidFill>
              <a:srgbClr val="FFFFFF"/>
            </a:solidFill>
            <a:prstDash val="solid"/>
          </a:ln>
        </p:spPr>
      </p:sp>
      <p:sp>
        <p:nvSpPr>
          <p:cNvPr id="38" name="Shape 36"/>
          <p:cNvSpPr/>
          <p:nvPr/>
        </p:nvSpPr>
        <p:spPr>
          <a:xfrm>
            <a:off x="6345022" y="2423160"/>
            <a:ext cx="246888" cy="228600"/>
          </a:xfrm>
          <a:prstGeom prst="roundRect">
            <a:avLst>
              <a:gd name="adj" fmla="val 20000"/>
            </a:avLst>
          </a:prstGeom>
          <a:solidFill>
            <a:srgbClr val="F28E2B"/>
          </a:solidFill>
          <a:ln w="12700">
            <a:solidFill>
              <a:srgbClr val="F28E2B"/>
            </a:solidFill>
            <a:prstDash val="solid"/>
          </a:ln>
        </p:spPr>
      </p:sp>
      <p:sp>
        <p:nvSpPr>
          <p:cNvPr id="39" name="Shape 37"/>
          <p:cNvSpPr/>
          <p:nvPr/>
        </p:nvSpPr>
        <p:spPr>
          <a:xfrm>
            <a:off x="6468466" y="2423160"/>
            <a:ext cx="0" cy="228600"/>
          </a:xfrm>
          <a:prstGeom prst="line">
            <a:avLst/>
          </a:prstGeom>
          <a:noFill/>
          <a:ln w="12700">
            <a:solidFill>
              <a:srgbClr val="FFFFFF"/>
            </a:solidFill>
            <a:prstDash val="solid"/>
          </a:ln>
        </p:spPr>
      </p:sp>
      <p:sp>
        <p:nvSpPr>
          <p:cNvPr id="40" name="Shape 38"/>
          <p:cNvSpPr/>
          <p:nvPr/>
        </p:nvSpPr>
        <p:spPr>
          <a:xfrm>
            <a:off x="6345022" y="2526030"/>
            <a:ext cx="246888" cy="0"/>
          </a:xfrm>
          <a:prstGeom prst="line">
            <a:avLst/>
          </a:prstGeom>
          <a:noFill/>
          <a:ln w="12700">
            <a:solidFill>
              <a:srgbClr val="FFFFFF"/>
            </a:solidFill>
            <a:prstDash val="solid"/>
          </a:ln>
        </p:spPr>
      </p:sp>
      <p:sp>
        <p:nvSpPr>
          <p:cNvPr id="41" name="Text 39"/>
          <p:cNvSpPr txBox="1"/>
          <p:nvPr/>
        </p:nvSpPr>
        <p:spPr>
          <a:xfrm>
            <a:off x="8183880" y="4206240"/>
            <a:ext cx="1371600" cy="228600"/>
          </a:xfrm>
          <a:prstGeom prst="rect">
            <a:avLst/>
          </a:prstGeom>
          <a:noFill/>
          <a:ln/>
        </p:spPr>
        <p:txBody>
          <a:bodyPr wrap="square" lIns="0" tIns="0" rIns="0" bIns="0" rtlCol="0" anchor="ctr">
            <a:normAutofit/>
          </a:bodyPr>
          <a:lstStyle/>
          <a:p>
            <a:pPr algn="ctr" indent="0" marL="0">
              <a:buNone/>
            </a:pPr>
            <a:r>
              <a:rPr lang="en-US" sz="1000" b="1" dirty="0">
                <a:solidFill>
                  <a:srgbClr val="6B7785"/>
                </a:solidFill>
                <a:latin typeface="Aptos" pitchFamily="34" charset="0"/>
                <a:ea typeface="Aptos" pitchFamily="34" charset="-122"/>
                <a:cs typeface="Aptos" pitchFamily="34" charset="-120"/>
              </a:rPr>
              <a:t>STORE</a:t>
            </a:r>
            <a:endParaRPr lang="en-US" sz="1000" dirty="0"/>
          </a:p>
        </p:txBody>
      </p:sp>
      <p:sp>
        <p:nvSpPr>
          <p:cNvPr id="42" name="Shape 40"/>
          <p:cNvSpPr/>
          <p:nvPr/>
        </p:nvSpPr>
        <p:spPr>
          <a:xfrm>
            <a:off x="8339328" y="2263140"/>
            <a:ext cx="1143000" cy="754380"/>
          </a:xfrm>
          <a:prstGeom prst="roundRect">
            <a:avLst>
              <a:gd name="adj" fmla="val 2424"/>
            </a:avLst>
          </a:prstGeom>
          <a:solidFill>
            <a:srgbClr val="FFFFFF"/>
          </a:solidFill>
          <a:ln w="12700">
            <a:solidFill>
              <a:srgbClr val="1D6FA5"/>
            </a:solidFill>
            <a:prstDash val="solid"/>
          </a:ln>
        </p:spPr>
      </p:sp>
      <p:sp>
        <p:nvSpPr>
          <p:cNvPr id="43" name="Shape 41"/>
          <p:cNvSpPr/>
          <p:nvPr/>
        </p:nvSpPr>
        <p:spPr>
          <a:xfrm>
            <a:off x="8339328" y="2011680"/>
            <a:ext cx="1143000" cy="251460"/>
          </a:xfrm>
          <a:prstGeom prst="rect">
            <a:avLst/>
          </a:prstGeom>
          <a:solidFill>
            <a:srgbClr val="F28E2B"/>
          </a:solidFill>
          <a:ln w="12700">
            <a:solidFill>
              <a:srgbClr val="F28E2B"/>
            </a:solidFill>
            <a:prstDash val="solid"/>
          </a:ln>
        </p:spPr>
      </p:sp>
      <p:sp>
        <p:nvSpPr>
          <p:cNvPr id="44" name="Text 42"/>
          <p:cNvSpPr txBox="1"/>
          <p:nvPr/>
        </p:nvSpPr>
        <p:spPr>
          <a:xfrm>
            <a:off x="8339328" y="2484425"/>
            <a:ext cx="1143000" cy="221285"/>
          </a:xfrm>
          <a:prstGeom prst="rect">
            <a:avLst/>
          </a:prstGeom>
          <a:noFill/>
          <a:ln/>
        </p:spPr>
        <p:txBody>
          <a:bodyPr wrap="square" lIns="0" tIns="0" rIns="0" bIns="0" rtlCol="0" anchor="ctr">
            <a:normAutofit/>
          </a:bodyPr>
          <a:lstStyle/>
          <a:p>
            <a:pPr algn="ctr" indent="0" marL="0">
              <a:buNone/>
            </a:pPr>
            <a:r>
              <a:rPr lang="en-US" sz="900" b="1" dirty="0">
                <a:solidFill>
                  <a:srgbClr val="0B1F33"/>
                </a:solidFill>
                <a:latin typeface="Aptos" pitchFamily="34" charset="0"/>
                <a:ea typeface="Aptos" pitchFamily="34" charset="-122"/>
                <a:cs typeface="Aptos" pitchFamily="34" charset="-120"/>
              </a:rPr>
              <a:t>STORE</a:t>
            </a:r>
            <a:endParaRPr lang="en-US" sz="900" dirty="0"/>
          </a:p>
        </p:txBody>
      </p:sp>
      <p:sp>
        <p:nvSpPr>
          <p:cNvPr id="45" name="Text 43"/>
          <p:cNvSpPr txBox="1"/>
          <p:nvPr/>
        </p:nvSpPr>
        <p:spPr>
          <a:xfrm>
            <a:off x="10195560" y="4206240"/>
            <a:ext cx="1371600" cy="228600"/>
          </a:xfrm>
          <a:prstGeom prst="rect">
            <a:avLst/>
          </a:prstGeom>
          <a:noFill/>
          <a:ln/>
        </p:spPr>
        <p:txBody>
          <a:bodyPr wrap="square" lIns="0" tIns="0" rIns="0" bIns="0" rtlCol="0" anchor="ctr">
            <a:normAutofit/>
          </a:bodyPr>
          <a:lstStyle/>
          <a:p>
            <a:pPr algn="ctr" indent="0" marL="0">
              <a:buNone/>
            </a:pPr>
            <a:r>
              <a:rPr lang="en-US" sz="1000" b="1" dirty="0">
                <a:solidFill>
                  <a:srgbClr val="6B7785"/>
                </a:solidFill>
                <a:latin typeface="Aptos" pitchFamily="34" charset="0"/>
                <a:ea typeface="Aptos" pitchFamily="34" charset="-122"/>
                <a:cs typeface="Aptos" pitchFamily="34" charset="-120"/>
              </a:rPr>
              <a:t>CUSTOMER</a:t>
            </a:r>
            <a:endParaRPr lang="en-US" sz="1000" dirty="0"/>
          </a:p>
        </p:txBody>
      </p:sp>
      <p:sp>
        <p:nvSpPr>
          <p:cNvPr id="46" name="Shape 44"/>
          <p:cNvSpPr/>
          <p:nvPr/>
        </p:nvSpPr>
        <p:spPr>
          <a:xfrm>
            <a:off x="10652760" y="2148840"/>
            <a:ext cx="685800" cy="685800"/>
          </a:xfrm>
          <a:prstGeom prst="ellipse">
            <a:avLst/>
          </a:prstGeom>
          <a:solidFill>
            <a:srgbClr val="0B1F33"/>
          </a:solidFill>
          <a:ln w="12700">
            <a:solidFill>
              <a:srgbClr val="0B1F33"/>
            </a:solidFill>
            <a:prstDash val="solid"/>
          </a:ln>
        </p:spPr>
      </p:sp>
      <p:sp>
        <p:nvSpPr>
          <p:cNvPr id="47" name="Text 45"/>
          <p:cNvSpPr txBox="1"/>
          <p:nvPr/>
        </p:nvSpPr>
        <p:spPr>
          <a:xfrm>
            <a:off x="10652760" y="2148840"/>
            <a:ext cx="685800" cy="68580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a:t>
            </a:r>
            <a:endParaRPr lang="en-US" sz="2200" dirty="0"/>
          </a:p>
        </p:txBody>
      </p:sp>
      <p:sp>
        <p:nvSpPr>
          <p:cNvPr id="48" name="Shape 46"/>
          <p:cNvSpPr/>
          <p:nvPr/>
        </p:nvSpPr>
        <p:spPr>
          <a:xfrm>
            <a:off x="2011680" y="2468880"/>
            <a:ext cx="868680" cy="0"/>
          </a:xfrm>
          <a:prstGeom prst="line">
            <a:avLst/>
          </a:prstGeom>
          <a:noFill/>
          <a:ln w="38100">
            <a:solidFill>
              <a:srgbClr val="4BB3C3"/>
            </a:solidFill>
            <a:prstDash val="solid"/>
            <a:tailEnd type="triangle"/>
          </a:ln>
        </p:spPr>
      </p:sp>
      <p:sp>
        <p:nvSpPr>
          <p:cNvPr id="49" name="Shape 47"/>
          <p:cNvSpPr/>
          <p:nvPr/>
        </p:nvSpPr>
        <p:spPr>
          <a:xfrm>
            <a:off x="4251960" y="2468880"/>
            <a:ext cx="1188720" cy="0"/>
          </a:xfrm>
          <a:prstGeom prst="line">
            <a:avLst/>
          </a:prstGeom>
          <a:noFill/>
          <a:ln w="38100">
            <a:solidFill>
              <a:srgbClr val="4BB3C3"/>
            </a:solidFill>
            <a:prstDash val="solid"/>
            <a:tailEnd type="triangle"/>
          </a:ln>
        </p:spPr>
      </p:sp>
      <p:sp>
        <p:nvSpPr>
          <p:cNvPr id="50" name="Shape 48"/>
          <p:cNvSpPr/>
          <p:nvPr/>
        </p:nvSpPr>
        <p:spPr>
          <a:xfrm>
            <a:off x="6812280" y="2468880"/>
            <a:ext cx="1417320" cy="0"/>
          </a:xfrm>
          <a:prstGeom prst="line">
            <a:avLst/>
          </a:prstGeom>
          <a:noFill/>
          <a:ln w="38100">
            <a:solidFill>
              <a:srgbClr val="4BB3C3"/>
            </a:solidFill>
            <a:prstDash val="solid"/>
            <a:tailEnd type="triangle"/>
          </a:ln>
        </p:spPr>
      </p:sp>
      <p:sp>
        <p:nvSpPr>
          <p:cNvPr id="51" name="Shape 49"/>
          <p:cNvSpPr/>
          <p:nvPr/>
        </p:nvSpPr>
        <p:spPr>
          <a:xfrm>
            <a:off x="9528048" y="2468880"/>
            <a:ext cx="1033272" cy="0"/>
          </a:xfrm>
          <a:prstGeom prst="line">
            <a:avLst/>
          </a:prstGeom>
          <a:noFill/>
          <a:ln w="38100">
            <a:solidFill>
              <a:srgbClr val="4BB3C3"/>
            </a:solidFill>
            <a:prstDash val="solid"/>
            <a:tailEnd type="triangle"/>
          </a:ln>
        </p:spPr>
      </p:sp>
      <p:sp>
        <p:nvSpPr>
          <p:cNvPr id="52" name="Shape 50"/>
          <p:cNvSpPr/>
          <p:nvPr/>
        </p:nvSpPr>
        <p:spPr>
          <a:xfrm>
            <a:off x="2057400" y="2880360"/>
            <a:ext cx="777240" cy="274320"/>
          </a:xfrm>
          <a:prstGeom prst="roundRect">
            <a:avLst>
              <a:gd name="adj" fmla="val 50000"/>
            </a:avLst>
          </a:prstGeom>
          <a:solidFill>
            <a:srgbClr val="EAF3F8"/>
          </a:solidFill>
          <a:ln w="12700">
            <a:solidFill>
              <a:srgbClr val="EAF3F8"/>
            </a:solidFill>
            <a:prstDash val="solid"/>
          </a:ln>
        </p:spPr>
      </p:sp>
      <p:sp>
        <p:nvSpPr>
          <p:cNvPr id="53" name="Text 51"/>
          <p:cNvSpPr txBox="1"/>
          <p:nvPr/>
        </p:nvSpPr>
        <p:spPr>
          <a:xfrm>
            <a:off x="2057400" y="2880360"/>
            <a:ext cx="777240" cy="274320"/>
          </a:xfrm>
          <a:prstGeom prst="rect">
            <a:avLst/>
          </a:prstGeom>
          <a:noFill/>
          <a:ln/>
        </p:spPr>
        <p:txBody>
          <a:bodyPr wrap="square" lIns="0" tIns="0" rIns="0" bIns="0" rtlCol="0" anchor="ctr">
            <a:normAutofit/>
          </a:bodyPr>
          <a:lstStyle/>
          <a:p>
            <a:pPr algn="ctr" indent="0" marL="0">
              <a:buNone/>
            </a:pPr>
            <a:r>
              <a:rPr lang="en-US" sz="1000" b="1" dirty="0">
                <a:solidFill>
                  <a:srgbClr val="1D6FA5"/>
                </a:solidFill>
                <a:latin typeface="Aptos" pitchFamily="34" charset="0"/>
                <a:ea typeface="Aptos" pitchFamily="34" charset="-122"/>
                <a:cs typeface="Aptos" pitchFamily="34" charset="-120"/>
              </a:rPr>
              <a:t>PIPELINE</a:t>
            </a:r>
            <a:endParaRPr lang="en-US" sz="1000" dirty="0"/>
          </a:p>
        </p:txBody>
      </p:sp>
      <p:sp>
        <p:nvSpPr>
          <p:cNvPr id="54" name="Shape 52"/>
          <p:cNvSpPr/>
          <p:nvPr/>
        </p:nvSpPr>
        <p:spPr>
          <a:xfrm>
            <a:off x="4370832" y="2880360"/>
            <a:ext cx="1051560" cy="274320"/>
          </a:xfrm>
          <a:prstGeom prst="roundRect">
            <a:avLst>
              <a:gd name="adj" fmla="val 50000"/>
            </a:avLst>
          </a:prstGeom>
          <a:solidFill>
            <a:srgbClr val="E7F5F2"/>
          </a:solidFill>
          <a:ln w="12700">
            <a:solidFill>
              <a:srgbClr val="E7F5F2"/>
            </a:solidFill>
            <a:prstDash val="solid"/>
          </a:ln>
        </p:spPr>
      </p:sp>
      <p:sp>
        <p:nvSpPr>
          <p:cNvPr id="55" name="Text 53"/>
          <p:cNvSpPr txBox="1"/>
          <p:nvPr/>
        </p:nvSpPr>
        <p:spPr>
          <a:xfrm>
            <a:off x="4370832" y="2880360"/>
            <a:ext cx="1051560" cy="274320"/>
          </a:xfrm>
          <a:prstGeom prst="rect">
            <a:avLst/>
          </a:prstGeom>
          <a:noFill/>
          <a:ln/>
        </p:spPr>
        <p:txBody>
          <a:bodyPr wrap="square" lIns="0" tIns="0" rIns="0" bIns="0" rtlCol="0" anchor="ctr">
            <a:normAutofit/>
          </a:bodyPr>
          <a:lstStyle/>
          <a:p>
            <a:pPr algn="ctr" indent="0" marL="0">
              <a:buNone/>
            </a:pPr>
            <a:r>
              <a:rPr lang="en-US" sz="1000" b="1" dirty="0">
                <a:solidFill>
                  <a:srgbClr val="2A9D8F"/>
                </a:solidFill>
                <a:latin typeface="Aptos" pitchFamily="34" charset="0"/>
                <a:ea typeface="Aptos" pitchFamily="34" charset="-122"/>
                <a:cs typeface="Aptos" pitchFamily="34" charset="-120"/>
              </a:rPr>
              <a:t>DECOUPLING</a:t>
            </a:r>
            <a:endParaRPr lang="en-US" sz="1000" dirty="0"/>
          </a:p>
        </p:txBody>
      </p:sp>
      <p:sp>
        <p:nvSpPr>
          <p:cNvPr id="56" name="Shape 54"/>
          <p:cNvSpPr/>
          <p:nvPr/>
        </p:nvSpPr>
        <p:spPr>
          <a:xfrm>
            <a:off x="6995160" y="2880360"/>
            <a:ext cx="1051560" cy="274320"/>
          </a:xfrm>
          <a:prstGeom prst="roundRect">
            <a:avLst>
              <a:gd name="adj" fmla="val 50000"/>
            </a:avLst>
          </a:prstGeom>
          <a:solidFill>
            <a:srgbClr val="E7F5F2"/>
          </a:solidFill>
          <a:ln w="12700">
            <a:solidFill>
              <a:srgbClr val="E7F5F2"/>
            </a:solidFill>
            <a:prstDash val="solid"/>
          </a:ln>
        </p:spPr>
      </p:sp>
      <p:sp>
        <p:nvSpPr>
          <p:cNvPr id="57" name="Text 55"/>
          <p:cNvSpPr txBox="1"/>
          <p:nvPr/>
        </p:nvSpPr>
        <p:spPr>
          <a:xfrm>
            <a:off x="6995160" y="2880360"/>
            <a:ext cx="1051560" cy="274320"/>
          </a:xfrm>
          <a:prstGeom prst="rect">
            <a:avLst/>
          </a:prstGeom>
          <a:noFill/>
          <a:ln/>
        </p:spPr>
        <p:txBody>
          <a:bodyPr wrap="square" lIns="0" tIns="0" rIns="0" bIns="0" rtlCol="0" anchor="ctr">
            <a:normAutofit/>
          </a:bodyPr>
          <a:lstStyle/>
          <a:p>
            <a:pPr algn="ctr" indent="0" marL="0">
              <a:buNone/>
            </a:pPr>
            <a:r>
              <a:rPr lang="en-US" sz="1000" b="1" dirty="0">
                <a:solidFill>
                  <a:srgbClr val="2A9D8F"/>
                </a:solidFill>
                <a:latin typeface="Aptos" pitchFamily="34" charset="0"/>
                <a:ea typeface="Aptos" pitchFamily="34" charset="-122"/>
                <a:cs typeface="Aptos" pitchFamily="34" charset="-120"/>
              </a:rPr>
              <a:t>ANTICIPATION</a:t>
            </a:r>
            <a:endParaRPr lang="en-US" sz="1000" dirty="0"/>
          </a:p>
        </p:txBody>
      </p:sp>
      <p:sp>
        <p:nvSpPr>
          <p:cNvPr id="58" name="Shape 56"/>
          <p:cNvSpPr/>
          <p:nvPr/>
        </p:nvSpPr>
        <p:spPr>
          <a:xfrm>
            <a:off x="9646920" y="2880360"/>
            <a:ext cx="731520" cy="274320"/>
          </a:xfrm>
          <a:prstGeom prst="roundRect">
            <a:avLst>
              <a:gd name="adj" fmla="val 50000"/>
            </a:avLst>
          </a:prstGeom>
          <a:solidFill>
            <a:srgbClr val="FFF1E3"/>
          </a:solidFill>
          <a:ln w="12700">
            <a:solidFill>
              <a:srgbClr val="FFF1E3"/>
            </a:solidFill>
            <a:prstDash val="solid"/>
          </a:ln>
        </p:spPr>
      </p:sp>
      <p:sp>
        <p:nvSpPr>
          <p:cNvPr id="59" name="Text 57"/>
          <p:cNvSpPr txBox="1"/>
          <p:nvPr/>
        </p:nvSpPr>
        <p:spPr>
          <a:xfrm>
            <a:off x="9646920" y="2880360"/>
            <a:ext cx="731520" cy="274320"/>
          </a:xfrm>
          <a:prstGeom prst="rect">
            <a:avLst/>
          </a:prstGeom>
          <a:noFill/>
          <a:ln/>
        </p:spPr>
        <p:txBody>
          <a:bodyPr wrap="square" lIns="0" tIns="0" rIns="0" bIns="0" rtlCol="0" anchor="ctr">
            <a:normAutofit/>
          </a:bodyPr>
          <a:lstStyle/>
          <a:p>
            <a:pPr algn="ctr" indent="0" marL="0">
              <a:buNone/>
            </a:pPr>
            <a:r>
              <a:rPr lang="en-US" sz="1000" b="1" dirty="0">
                <a:solidFill>
                  <a:srgbClr val="F28E2B"/>
                </a:solidFill>
                <a:latin typeface="Aptos" pitchFamily="34" charset="0"/>
                <a:ea typeface="Aptos" pitchFamily="34" charset="-122"/>
                <a:cs typeface="Aptos" pitchFamily="34" charset="-120"/>
              </a:rPr>
              <a:t>SERVICE</a:t>
            </a:r>
            <a:endParaRPr lang="en-US" sz="1000" dirty="0"/>
          </a:p>
        </p:txBody>
      </p:sp>
      <p:sp>
        <p:nvSpPr>
          <p:cNvPr id="60" name="Shape 58"/>
          <p:cNvSpPr/>
          <p:nvPr/>
        </p:nvSpPr>
        <p:spPr>
          <a:xfrm>
            <a:off x="1051560" y="4736592"/>
            <a:ext cx="10149840" cy="713232"/>
          </a:xfrm>
          <a:prstGeom prst="roundRect">
            <a:avLst>
              <a:gd name="adj" fmla="val 12821"/>
            </a:avLst>
          </a:prstGeom>
          <a:solidFill>
            <a:srgbClr val="FFFFFF"/>
          </a:solidFill>
          <a:ln w="12700">
            <a:solidFill>
              <a:srgbClr val="E8EDF2"/>
            </a:solidFill>
            <a:prstDash val="solid"/>
          </a:ln>
        </p:spPr>
      </p:sp>
      <p:sp>
        <p:nvSpPr>
          <p:cNvPr id="61" name="Text 59"/>
          <p:cNvSpPr txBox="1"/>
          <p:nvPr/>
        </p:nvSpPr>
        <p:spPr>
          <a:xfrm>
            <a:off x="1325880" y="4919472"/>
            <a:ext cx="1920240" cy="274320"/>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Cash conversion cycle</a:t>
            </a:r>
            <a:endParaRPr lang="en-US" sz="1400" dirty="0"/>
          </a:p>
        </p:txBody>
      </p:sp>
      <p:sp>
        <p:nvSpPr>
          <p:cNvPr id="62" name="Shape 60"/>
          <p:cNvSpPr/>
          <p:nvPr/>
        </p:nvSpPr>
        <p:spPr>
          <a:xfrm>
            <a:off x="3246120" y="5093208"/>
            <a:ext cx="6629400" cy="0"/>
          </a:xfrm>
          <a:prstGeom prst="line">
            <a:avLst/>
          </a:prstGeom>
          <a:noFill/>
          <a:ln w="50800">
            <a:solidFill>
              <a:srgbClr val="F28E2B"/>
            </a:solidFill>
            <a:prstDash val="solid"/>
            <a:tailEnd type="triangle"/>
          </a:ln>
        </p:spPr>
      </p:sp>
      <p:sp>
        <p:nvSpPr>
          <p:cNvPr id="63" name="Text 61"/>
          <p:cNvSpPr txBox="1"/>
          <p:nvPr/>
        </p:nvSpPr>
        <p:spPr>
          <a:xfrm>
            <a:off x="3337560" y="4727448"/>
            <a:ext cx="2011680" cy="228600"/>
          </a:xfrm>
          <a:prstGeom prst="rect">
            <a:avLst/>
          </a:prstGeom>
          <a:noFill/>
          <a:ln/>
        </p:spPr>
        <p:txBody>
          <a:bodyPr wrap="square" lIns="0" tIns="0" rIns="0" bIns="0" rtlCol="0" anchor="ctr">
            <a:normAutofit/>
          </a:bodyPr>
          <a:lstStyle/>
          <a:p>
            <a:pPr algn="l" indent="0" marL="0">
              <a:buNone/>
            </a:pPr>
            <a:r>
              <a:rPr lang="en-US" sz="1000" dirty="0">
                <a:solidFill>
                  <a:srgbClr val="6B7785"/>
                </a:solidFill>
                <a:latin typeface="Aptos" pitchFamily="34" charset="0"/>
                <a:ea typeface="Aptos" pitchFamily="34" charset="-122"/>
                <a:cs typeface="Aptos" pitchFamily="34" charset="-120"/>
              </a:rPr>
              <a:t>Cash committed earlier</a:t>
            </a:r>
            <a:endParaRPr lang="en-US" sz="1000" dirty="0"/>
          </a:p>
        </p:txBody>
      </p:sp>
      <p:sp>
        <p:nvSpPr>
          <p:cNvPr id="64" name="Text 62"/>
          <p:cNvSpPr txBox="1"/>
          <p:nvPr/>
        </p:nvSpPr>
        <p:spPr>
          <a:xfrm>
            <a:off x="8138160" y="4727448"/>
            <a:ext cx="1737360" cy="228600"/>
          </a:xfrm>
          <a:prstGeom prst="rect">
            <a:avLst/>
          </a:prstGeom>
          <a:noFill/>
          <a:ln/>
        </p:spPr>
        <p:txBody>
          <a:bodyPr wrap="square" lIns="0" tIns="0" rIns="0" bIns="0" rtlCol="0" anchor="ctr">
            <a:normAutofit/>
          </a:bodyPr>
          <a:lstStyle/>
          <a:p>
            <a:pPr algn="r" indent="0" marL="0">
              <a:buNone/>
            </a:pPr>
            <a:r>
              <a:rPr lang="en-US" sz="1000" dirty="0">
                <a:solidFill>
                  <a:srgbClr val="6B7785"/>
                </a:solidFill>
                <a:latin typeface="Aptos" pitchFamily="34" charset="0"/>
                <a:ea typeface="Aptos" pitchFamily="34" charset="-122"/>
                <a:cs typeface="Aptos" pitchFamily="34" charset="-120"/>
              </a:rPr>
              <a:t>Cash recovered later</a:t>
            </a:r>
            <a:endParaRPr lang="en-US" sz="1000" dirty="0"/>
          </a:p>
        </p:txBody>
      </p:sp>
      <p:sp>
        <p:nvSpPr>
          <p:cNvPr id="65" name="Shape 63"/>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66" name="Text 64"/>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67" name="Text 65"/>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Inventory can protect flow and service while extending the cash conversion cycle.</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DECISION LENS</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The inventory performance triangle</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Policies move all three corners—sometimes in opposite directions.</a:t>
            </a:r>
            <a:endParaRPr lang="en-US" sz="1350" dirty="0"/>
          </a:p>
        </p:txBody>
      </p:sp>
      <p:sp>
        <p:nvSpPr>
          <p:cNvPr id="5" name="Shape 3"/>
          <p:cNvSpPr/>
          <p:nvPr/>
        </p:nvSpPr>
        <p:spPr>
          <a:xfrm>
            <a:off x="2743200" y="5212080"/>
            <a:ext cx="3200400" cy="-3657600"/>
          </a:xfrm>
          <a:prstGeom prst="line">
            <a:avLst/>
          </a:prstGeom>
          <a:noFill/>
          <a:ln w="50800">
            <a:solidFill>
              <a:srgbClr val="0B1F33"/>
            </a:solidFill>
            <a:prstDash val="solid"/>
          </a:ln>
        </p:spPr>
      </p:sp>
      <p:sp>
        <p:nvSpPr>
          <p:cNvPr id="6" name="Shape 4"/>
          <p:cNvSpPr/>
          <p:nvPr/>
        </p:nvSpPr>
        <p:spPr>
          <a:xfrm>
            <a:off x="5943600" y="1554480"/>
            <a:ext cx="3200400" cy="3657600"/>
          </a:xfrm>
          <a:prstGeom prst="line">
            <a:avLst/>
          </a:prstGeom>
          <a:noFill/>
          <a:ln w="50800">
            <a:solidFill>
              <a:srgbClr val="0B1F33"/>
            </a:solidFill>
            <a:prstDash val="solid"/>
          </a:ln>
        </p:spPr>
      </p:sp>
      <p:sp>
        <p:nvSpPr>
          <p:cNvPr id="7" name="Shape 5"/>
          <p:cNvSpPr/>
          <p:nvPr/>
        </p:nvSpPr>
        <p:spPr>
          <a:xfrm>
            <a:off x="9144000" y="5212080"/>
            <a:ext cx="-6400800" cy="0"/>
          </a:xfrm>
          <a:prstGeom prst="line">
            <a:avLst/>
          </a:prstGeom>
          <a:noFill/>
          <a:ln w="50800">
            <a:solidFill>
              <a:srgbClr val="0B1F33"/>
            </a:solidFill>
            <a:prstDash val="solid"/>
          </a:ln>
        </p:spPr>
      </p:sp>
      <p:sp>
        <p:nvSpPr>
          <p:cNvPr id="8" name="Shape 6"/>
          <p:cNvSpPr/>
          <p:nvPr/>
        </p:nvSpPr>
        <p:spPr>
          <a:xfrm>
            <a:off x="2286000" y="4846320"/>
            <a:ext cx="914400" cy="914400"/>
          </a:xfrm>
          <a:prstGeom prst="ellipse">
            <a:avLst/>
          </a:prstGeom>
          <a:solidFill>
            <a:srgbClr val="1D6FA5"/>
          </a:solidFill>
          <a:ln w="12700">
            <a:solidFill>
              <a:srgbClr val="1D6FA5"/>
            </a:solidFill>
            <a:prstDash val="solid"/>
          </a:ln>
        </p:spPr>
      </p:sp>
      <p:sp>
        <p:nvSpPr>
          <p:cNvPr id="9" name="Text 7"/>
          <p:cNvSpPr txBox="1"/>
          <p:nvPr/>
        </p:nvSpPr>
        <p:spPr>
          <a:xfrm>
            <a:off x="2286000" y="4846320"/>
            <a:ext cx="914400" cy="91440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Aptos" pitchFamily="34" charset="0"/>
                <a:ea typeface="Aptos" pitchFamily="34" charset="-122"/>
                <a:cs typeface="Aptos" pitchFamily="34" charset="-120"/>
              </a:rPr>
              <a:t>$</a:t>
            </a:r>
            <a:endParaRPr lang="en-US" sz="2800" dirty="0"/>
          </a:p>
        </p:txBody>
      </p:sp>
      <p:sp>
        <p:nvSpPr>
          <p:cNvPr id="10" name="Shape 8"/>
          <p:cNvSpPr/>
          <p:nvPr/>
        </p:nvSpPr>
        <p:spPr>
          <a:xfrm>
            <a:off x="5486400" y="1097280"/>
            <a:ext cx="914400" cy="914400"/>
          </a:xfrm>
          <a:prstGeom prst="ellipse">
            <a:avLst/>
          </a:prstGeom>
          <a:solidFill>
            <a:srgbClr val="F28E2B"/>
          </a:solidFill>
          <a:ln w="12700">
            <a:solidFill>
              <a:srgbClr val="F28E2B"/>
            </a:solidFill>
            <a:prstDash val="solid"/>
          </a:ln>
        </p:spPr>
      </p:sp>
      <p:sp>
        <p:nvSpPr>
          <p:cNvPr id="11" name="Text 9"/>
          <p:cNvSpPr txBox="1"/>
          <p:nvPr/>
        </p:nvSpPr>
        <p:spPr>
          <a:xfrm>
            <a:off x="5486400" y="1097280"/>
            <a:ext cx="914400" cy="91440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Aptos" pitchFamily="34" charset="0"/>
                <a:ea typeface="Aptos" pitchFamily="34" charset="-122"/>
                <a:cs typeface="Aptos" pitchFamily="34" charset="-120"/>
              </a:rPr>
              <a:t>S</a:t>
            </a:r>
            <a:endParaRPr lang="en-US" sz="2800" dirty="0"/>
          </a:p>
        </p:txBody>
      </p:sp>
      <p:sp>
        <p:nvSpPr>
          <p:cNvPr id="12" name="Shape 10"/>
          <p:cNvSpPr/>
          <p:nvPr/>
        </p:nvSpPr>
        <p:spPr>
          <a:xfrm>
            <a:off x="8686800" y="4846320"/>
            <a:ext cx="914400" cy="914400"/>
          </a:xfrm>
          <a:prstGeom prst="ellipse">
            <a:avLst/>
          </a:prstGeom>
          <a:solidFill>
            <a:srgbClr val="D1495B"/>
          </a:solidFill>
          <a:ln w="12700">
            <a:solidFill>
              <a:srgbClr val="D1495B"/>
            </a:solidFill>
            <a:prstDash val="solid"/>
          </a:ln>
        </p:spPr>
      </p:sp>
      <p:sp>
        <p:nvSpPr>
          <p:cNvPr id="13" name="Text 11"/>
          <p:cNvSpPr txBox="1"/>
          <p:nvPr/>
        </p:nvSpPr>
        <p:spPr>
          <a:xfrm>
            <a:off x="8686800" y="4846320"/>
            <a:ext cx="914400" cy="91440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Aptos" pitchFamily="34" charset="0"/>
                <a:ea typeface="Aptos" pitchFamily="34" charset="-122"/>
                <a:cs typeface="Aptos" pitchFamily="34" charset="-120"/>
              </a:rPr>
              <a:t>R</a:t>
            </a:r>
            <a:endParaRPr lang="en-US" sz="2800" dirty="0"/>
          </a:p>
        </p:txBody>
      </p:sp>
      <p:sp>
        <p:nvSpPr>
          <p:cNvPr id="14" name="Text 12"/>
          <p:cNvSpPr txBox="1"/>
          <p:nvPr/>
        </p:nvSpPr>
        <p:spPr>
          <a:xfrm>
            <a:off x="1325880" y="5010912"/>
            <a:ext cx="914400" cy="292608"/>
          </a:xfrm>
          <a:prstGeom prst="rect">
            <a:avLst/>
          </a:prstGeom>
          <a:noFill/>
          <a:ln/>
        </p:spPr>
        <p:txBody>
          <a:bodyPr wrap="square" lIns="0" tIns="0" rIns="0" bIns="0" rtlCol="0" anchor="ctr">
            <a:normAutofit/>
          </a:bodyPr>
          <a:lstStyle/>
          <a:p>
            <a:pPr algn="r" indent="0" marL="0">
              <a:buNone/>
            </a:pPr>
            <a:r>
              <a:rPr lang="en-US" sz="1400" b="1" dirty="0">
                <a:solidFill>
                  <a:srgbClr val="1D6FA5"/>
                </a:solidFill>
                <a:latin typeface="Aptos" pitchFamily="34" charset="0"/>
                <a:ea typeface="Aptos" pitchFamily="34" charset="-122"/>
                <a:cs typeface="Aptos" pitchFamily="34" charset="-120"/>
              </a:rPr>
              <a:t>COST</a:t>
            </a:r>
            <a:endParaRPr lang="en-US" sz="1400" dirty="0"/>
          </a:p>
        </p:txBody>
      </p:sp>
      <p:sp>
        <p:nvSpPr>
          <p:cNvPr id="15" name="Text 13"/>
          <p:cNvSpPr txBox="1"/>
          <p:nvPr/>
        </p:nvSpPr>
        <p:spPr>
          <a:xfrm>
            <a:off x="5166360" y="704088"/>
            <a:ext cx="1554480" cy="274320"/>
          </a:xfrm>
          <a:prstGeom prst="rect">
            <a:avLst/>
          </a:prstGeom>
          <a:noFill/>
          <a:ln/>
        </p:spPr>
        <p:txBody>
          <a:bodyPr wrap="square" lIns="0" tIns="0" rIns="0" bIns="0" rtlCol="0" anchor="ctr">
            <a:normAutofit/>
          </a:bodyPr>
          <a:lstStyle/>
          <a:p>
            <a:pPr algn="ctr" indent="0" marL="0">
              <a:buNone/>
            </a:pPr>
            <a:r>
              <a:rPr lang="en-US" sz="1400" b="1" dirty="0">
                <a:solidFill>
                  <a:srgbClr val="F28E2B"/>
                </a:solidFill>
                <a:latin typeface="Aptos" pitchFamily="34" charset="0"/>
                <a:ea typeface="Aptos" pitchFamily="34" charset="-122"/>
                <a:cs typeface="Aptos" pitchFamily="34" charset="-120"/>
              </a:rPr>
              <a:t>SERVICE</a:t>
            </a:r>
            <a:endParaRPr lang="en-US" sz="1400" dirty="0"/>
          </a:p>
        </p:txBody>
      </p:sp>
      <p:sp>
        <p:nvSpPr>
          <p:cNvPr id="16" name="Text 14"/>
          <p:cNvSpPr txBox="1"/>
          <p:nvPr/>
        </p:nvSpPr>
        <p:spPr>
          <a:xfrm>
            <a:off x="9646920" y="5010912"/>
            <a:ext cx="914400" cy="292608"/>
          </a:xfrm>
          <a:prstGeom prst="rect">
            <a:avLst/>
          </a:prstGeom>
          <a:noFill/>
          <a:ln/>
        </p:spPr>
        <p:txBody>
          <a:bodyPr wrap="square" lIns="0" tIns="0" rIns="0" bIns="0" rtlCol="0" anchor="ctr">
            <a:normAutofit/>
          </a:bodyPr>
          <a:lstStyle/>
          <a:p>
            <a:pPr algn="l" indent="0" marL="0">
              <a:buNone/>
            </a:pPr>
            <a:r>
              <a:rPr lang="en-US" sz="1400" b="1" dirty="0">
                <a:solidFill>
                  <a:srgbClr val="D1495B"/>
                </a:solidFill>
                <a:latin typeface="Aptos" pitchFamily="34" charset="0"/>
                <a:ea typeface="Aptos" pitchFamily="34" charset="-122"/>
                <a:cs typeface="Aptos" pitchFamily="34" charset="-120"/>
              </a:rPr>
              <a:t>RISK</a:t>
            </a:r>
            <a:endParaRPr lang="en-US" sz="1400" dirty="0"/>
          </a:p>
        </p:txBody>
      </p:sp>
      <p:sp>
        <p:nvSpPr>
          <p:cNvPr id="17" name="Text 15"/>
          <p:cNvSpPr txBox="1"/>
          <p:nvPr/>
        </p:nvSpPr>
        <p:spPr>
          <a:xfrm>
            <a:off x="2880360" y="4069080"/>
            <a:ext cx="1965960" cy="685800"/>
          </a:xfrm>
          <a:prstGeom prst="rect">
            <a:avLst/>
          </a:prstGeom>
          <a:noFill/>
          <a:ln/>
        </p:spPr>
        <p:txBody>
          <a:bodyPr wrap="square" lIns="0" tIns="0" rIns="0" bIns="0" rtlCol="0" anchor="ctr">
            <a:normAutofit/>
          </a:bodyPr>
          <a:lstStyle/>
          <a:p>
            <a:pPr algn="ctr" indent="0" marL="0">
              <a:buNone/>
            </a:pPr>
            <a:r>
              <a:rPr lang="en-US" sz="1200" dirty="0">
                <a:solidFill>
                  <a:srgbClr val="6B7785"/>
                </a:solidFill>
                <a:latin typeface="Aptos" pitchFamily="34" charset="0"/>
                <a:ea typeface="Aptos" pitchFamily="34" charset="-122"/>
                <a:cs typeface="Aptos" pitchFamily="34" charset="-120"/>
              </a:rPr>
              <a:t>holding • ordering</a:t>
            </a:r>
            <a:endParaRPr lang="en-US" sz="1200" dirty="0"/>
          </a:p>
          <a:p>
            <a:pPr algn="ctr" indent="0" marL="0">
              <a:buNone/>
            </a:pPr>
            <a:r>
              <a:rPr lang="en-US" sz="1200" dirty="0">
                <a:solidFill>
                  <a:srgbClr val="6B7785"/>
                </a:solidFill>
                <a:latin typeface="Aptos" pitchFamily="34" charset="0"/>
                <a:ea typeface="Aptos" pitchFamily="34" charset="-122"/>
                <a:cs typeface="Aptos" pitchFamily="34" charset="-120"/>
              </a:rPr>
              <a:t>shortage • transport</a:t>
            </a:r>
            <a:endParaRPr lang="en-US" sz="1200" dirty="0"/>
          </a:p>
        </p:txBody>
      </p:sp>
      <p:sp>
        <p:nvSpPr>
          <p:cNvPr id="18" name="Text 16"/>
          <p:cNvSpPr txBox="1"/>
          <p:nvPr/>
        </p:nvSpPr>
        <p:spPr>
          <a:xfrm>
            <a:off x="4983480" y="2514600"/>
            <a:ext cx="1920240" cy="685800"/>
          </a:xfrm>
          <a:prstGeom prst="rect">
            <a:avLst/>
          </a:prstGeom>
          <a:noFill/>
          <a:ln/>
        </p:spPr>
        <p:txBody>
          <a:bodyPr wrap="square" lIns="0" tIns="0" rIns="0" bIns="0" rtlCol="0" anchor="ctr">
            <a:normAutofit/>
          </a:bodyPr>
          <a:lstStyle/>
          <a:p>
            <a:pPr algn="ctr" indent="0" marL="0">
              <a:buNone/>
            </a:pPr>
            <a:r>
              <a:rPr lang="en-US" sz="1200" dirty="0">
                <a:solidFill>
                  <a:srgbClr val="6B7785"/>
                </a:solidFill>
                <a:latin typeface="Aptos" pitchFamily="34" charset="0"/>
                <a:ea typeface="Aptos" pitchFamily="34" charset="-122"/>
                <a:cs typeface="Aptos" pitchFamily="34" charset="-120"/>
              </a:rPr>
              <a:t>availability • response</a:t>
            </a:r>
            <a:endParaRPr lang="en-US" sz="1200" dirty="0"/>
          </a:p>
          <a:p>
            <a:pPr algn="ctr" indent="0" marL="0">
              <a:buNone/>
            </a:pPr>
            <a:r>
              <a:rPr lang="en-US" sz="1200" dirty="0">
                <a:solidFill>
                  <a:srgbClr val="6B7785"/>
                </a:solidFill>
                <a:latin typeface="Aptos" pitchFamily="34" charset="0"/>
                <a:ea typeface="Aptos" pitchFamily="34" charset="-122"/>
                <a:cs typeface="Aptos" pitchFamily="34" charset="-120"/>
              </a:rPr>
              <a:t>time • fill rate</a:t>
            </a:r>
            <a:endParaRPr lang="en-US" sz="1200" dirty="0"/>
          </a:p>
        </p:txBody>
      </p:sp>
      <p:sp>
        <p:nvSpPr>
          <p:cNvPr id="19" name="Text 17"/>
          <p:cNvSpPr txBox="1"/>
          <p:nvPr/>
        </p:nvSpPr>
        <p:spPr>
          <a:xfrm>
            <a:off x="7040880" y="4069080"/>
            <a:ext cx="1965960" cy="685800"/>
          </a:xfrm>
          <a:prstGeom prst="rect">
            <a:avLst/>
          </a:prstGeom>
          <a:noFill/>
          <a:ln/>
        </p:spPr>
        <p:txBody>
          <a:bodyPr wrap="square" lIns="0" tIns="0" rIns="0" bIns="0" rtlCol="0" anchor="ctr">
            <a:normAutofit/>
          </a:bodyPr>
          <a:lstStyle/>
          <a:p>
            <a:pPr algn="ctr" indent="0" marL="0">
              <a:buNone/>
            </a:pPr>
            <a:r>
              <a:rPr lang="en-US" sz="1200" dirty="0">
                <a:solidFill>
                  <a:srgbClr val="6B7785"/>
                </a:solidFill>
                <a:latin typeface="Aptos" pitchFamily="34" charset="0"/>
                <a:ea typeface="Aptos" pitchFamily="34" charset="-122"/>
                <a:cs typeface="Aptos" pitchFamily="34" charset="-120"/>
              </a:rPr>
              <a:t>demand • supply</a:t>
            </a:r>
            <a:endParaRPr lang="en-US" sz="1200" dirty="0"/>
          </a:p>
          <a:p>
            <a:pPr algn="ctr" indent="0" marL="0">
              <a:buNone/>
            </a:pPr>
            <a:r>
              <a:rPr lang="en-US" sz="1200" dirty="0">
                <a:solidFill>
                  <a:srgbClr val="6B7785"/>
                </a:solidFill>
                <a:latin typeface="Aptos" pitchFamily="34" charset="0"/>
                <a:ea typeface="Aptos" pitchFamily="34" charset="-122"/>
                <a:cs typeface="Aptos" pitchFamily="34" charset="-120"/>
              </a:rPr>
              <a:t>obsolescence • concentration</a:t>
            </a:r>
            <a:endParaRPr lang="en-US" sz="1200" dirty="0"/>
          </a:p>
        </p:txBody>
      </p:sp>
      <p:sp>
        <p:nvSpPr>
          <p:cNvPr id="20" name="Text 18"/>
          <p:cNvSpPr txBox="1"/>
          <p:nvPr/>
        </p:nvSpPr>
        <p:spPr>
          <a:xfrm>
            <a:off x="2788920" y="5623560"/>
            <a:ext cx="6309360" cy="274320"/>
          </a:xfrm>
          <a:prstGeom prst="rect">
            <a:avLst/>
          </a:prstGeom>
          <a:noFill/>
          <a:ln/>
        </p:spPr>
        <p:txBody>
          <a:bodyPr wrap="square" lIns="0" tIns="0" rIns="0" bIns="0" rtlCol="0" anchor="ctr">
            <a:normAutofit/>
          </a:bodyPr>
          <a:lstStyle/>
          <a:p>
            <a:pPr algn="ctr" indent="0" marL="0">
              <a:buNone/>
            </a:pPr>
            <a:r>
              <a:rPr lang="en-US" sz="1500" b="1" dirty="0">
                <a:solidFill>
                  <a:srgbClr val="0B1F33"/>
                </a:solidFill>
                <a:latin typeface="Aptos" pitchFamily="34" charset="0"/>
                <a:ea typeface="Aptos" pitchFamily="34" charset="-122"/>
                <a:cs typeface="Aptos" pitchFamily="34" charset="-120"/>
              </a:rPr>
              <a:t>Models make the trade-off explicit. Managers decide which consequences matter.</a:t>
            </a:r>
            <a:endParaRPr lang="en-US" sz="150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INVENTORY ECONOMICS</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Optimizing one cost can increase the total</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Illustrative annual relevant-cost curves • purchase price held constant</a:t>
            </a:r>
            <a:endParaRPr lang="en-US" sz="1350" dirty="0"/>
          </a:p>
        </p:txBody>
      </p:sp>
      <p:sp>
        <p:nvSpPr>
          <p:cNvPr id="5" name="Shape 3"/>
          <p:cNvSpPr/>
          <p:nvPr/>
        </p:nvSpPr>
        <p:spPr>
          <a:xfrm>
            <a:off x="777240" y="5532120"/>
            <a:ext cx="6629400" cy="0"/>
          </a:xfrm>
          <a:prstGeom prst="line">
            <a:avLst/>
          </a:prstGeom>
          <a:noFill/>
          <a:ln w="15240">
            <a:solidFill>
              <a:srgbClr val="6B7785"/>
            </a:solidFill>
            <a:prstDash val="solid"/>
            <a:tailEnd type="triangle"/>
          </a:ln>
        </p:spPr>
      </p:sp>
      <p:sp>
        <p:nvSpPr>
          <p:cNvPr id="6" name="Shape 4"/>
          <p:cNvSpPr/>
          <p:nvPr/>
        </p:nvSpPr>
        <p:spPr>
          <a:xfrm>
            <a:off x="777240" y="5532120"/>
            <a:ext cx="0" cy="-3886200"/>
          </a:xfrm>
          <a:prstGeom prst="line">
            <a:avLst/>
          </a:prstGeom>
          <a:noFill/>
          <a:ln w="15240">
            <a:solidFill>
              <a:srgbClr val="6B7785"/>
            </a:solidFill>
            <a:prstDash val="solid"/>
            <a:tailEnd type="triangle"/>
          </a:ln>
        </p:spPr>
      </p:sp>
      <p:sp>
        <p:nvSpPr>
          <p:cNvPr id="7" name="Text 5"/>
          <p:cNvSpPr txBox="1"/>
          <p:nvPr/>
        </p:nvSpPr>
        <p:spPr>
          <a:xfrm>
            <a:off x="6126480" y="5650992"/>
            <a:ext cx="1280160" cy="201168"/>
          </a:xfrm>
          <a:prstGeom prst="rect">
            <a:avLst/>
          </a:prstGeom>
          <a:noFill/>
          <a:ln/>
        </p:spPr>
        <p:txBody>
          <a:bodyPr wrap="square" lIns="0" tIns="0" rIns="0" bIns="0" rtlCol="0" anchor="ctr">
            <a:normAutofit/>
          </a:bodyPr>
          <a:lstStyle/>
          <a:p>
            <a:pPr algn="r" indent="0" marL="0">
              <a:buNone/>
            </a:pPr>
            <a:r>
              <a:rPr lang="en-US" sz="900" dirty="0">
                <a:solidFill>
                  <a:srgbClr val="6B7785"/>
                </a:solidFill>
                <a:latin typeface="Aptos" pitchFamily="34" charset="0"/>
                <a:ea typeface="Aptos" pitchFamily="34" charset="-122"/>
                <a:cs typeface="Aptos" pitchFamily="34" charset="-120"/>
              </a:rPr>
              <a:t>Order quantity Q (units)</a:t>
            </a:r>
            <a:endParaRPr lang="en-US" sz="900" dirty="0"/>
          </a:p>
        </p:txBody>
      </p:sp>
      <p:sp>
        <p:nvSpPr>
          <p:cNvPr id="8" name="Text 6"/>
          <p:cNvSpPr txBox="1"/>
          <p:nvPr/>
        </p:nvSpPr>
        <p:spPr>
          <a:xfrm>
            <a:off x="502920" y="1371600"/>
            <a:ext cx="1554480" cy="201168"/>
          </a:xfrm>
          <a:prstGeom prst="rect">
            <a:avLst/>
          </a:prstGeom>
          <a:noFill/>
          <a:ln/>
        </p:spPr>
        <p:txBody>
          <a:bodyPr wrap="square" lIns="0" tIns="0" rIns="0" bIns="0" rtlCol="0" anchor="ctr">
            <a:normAutofit/>
          </a:bodyPr>
          <a:lstStyle/>
          <a:p>
            <a:pPr algn="l" indent="0" marL="0">
              <a:buNone/>
            </a:pPr>
            <a:r>
              <a:rPr lang="en-US" sz="900" dirty="0">
                <a:solidFill>
                  <a:srgbClr val="6B7785"/>
                </a:solidFill>
                <a:latin typeface="Aptos" pitchFamily="34" charset="0"/>
                <a:ea typeface="Aptos" pitchFamily="34" charset="-122"/>
                <a:cs typeface="Aptos" pitchFamily="34" charset="-120"/>
              </a:rPr>
              <a:t>Annual cost ($)</a:t>
            </a:r>
            <a:endParaRPr lang="en-US" sz="900" dirty="0"/>
          </a:p>
        </p:txBody>
      </p:sp>
      <p:sp>
        <p:nvSpPr>
          <p:cNvPr id="9" name="Shape 7"/>
          <p:cNvSpPr/>
          <p:nvPr/>
        </p:nvSpPr>
        <p:spPr>
          <a:xfrm>
            <a:off x="777240" y="2352502"/>
            <a:ext cx="828675" cy="1059873"/>
          </a:xfrm>
          <a:prstGeom prst="line">
            <a:avLst/>
          </a:prstGeom>
          <a:noFill/>
          <a:ln w="31750">
            <a:solidFill>
              <a:srgbClr val="1D6FA5"/>
            </a:solidFill>
            <a:prstDash val="solid"/>
          </a:ln>
        </p:spPr>
      </p:sp>
      <p:sp>
        <p:nvSpPr>
          <p:cNvPr id="10" name="Shape 8"/>
          <p:cNvSpPr/>
          <p:nvPr/>
        </p:nvSpPr>
        <p:spPr>
          <a:xfrm>
            <a:off x="1605915" y="3412375"/>
            <a:ext cx="828675" cy="529936"/>
          </a:xfrm>
          <a:prstGeom prst="line">
            <a:avLst/>
          </a:prstGeom>
          <a:noFill/>
          <a:ln w="31750">
            <a:solidFill>
              <a:srgbClr val="1D6FA5"/>
            </a:solidFill>
            <a:prstDash val="solid"/>
          </a:ln>
        </p:spPr>
      </p:sp>
      <p:sp>
        <p:nvSpPr>
          <p:cNvPr id="11" name="Shape 9"/>
          <p:cNvSpPr/>
          <p:nvPr/>
        </p:nvSpPr>
        <p:spPr>
          <a:xfrm>
            <a:off x="2434590" y="3942311"/>
            <a:ext cx="828675" cy="317962"/>
          </a:xfrm>
          <a:prstGeom prst="line">
            <a:avLst/>
          </a:prstGeom>
          <a:noFill/>
          <a:ln w="31750">
            <a:solidFill>
              <a:srgbClr val="1D6FA5"/>
            </a:solidFill>
            <a:prstDash val="solid"/>
          </a:ln>
        </p:spPr>
      </p:sp>
      <p:sp>
        <p:nvSpPr>
          <p:cNvPr id="12" name="Shape 10"/>
          <p:cNvSpPr/>
          <p:nvPr/>
        </p:nvSpPr>
        <p:spPr>
          <a:xfrm>
            <a:off x="3263265" y="4260273"/>
            <a:ext cx="828675" cy="211975"/>
          </a:xfrm>
          <a:prstGeom prst="line">
            <a:avLst/>
          </a:prstGeom>
          <a:noFill/>
          <a:ln w="31750">
            <a:solidFill>
              <a:srgbClr val="1D6FA5"/>
            </a:solidFill>
            <a:prstDash val="solid"/>
          </a:ln>
        </p:spPr>
      </p:sp>
      <p:sp>
        <p:nvSpPr>
          <p:cNvPr id="13" name="Shape 11"/>
          <p:cNvSpPr/>
          <p:nvPr/>
        </p:nvSpPr>
        <p:spPr>
          <a:xfrm>
            <a:off x="4091940" y="4472247"/>
            <a:ext cx="828675" cy="151410"/>
          </a:xfrm>
          <a:prstGeom prst="line">
            <a:avLst/>
          </a:prstGeom>
          <a:noFill/>
          <a:ln w="31750">
            <a:solidFill>
              <a:srgbClr val="1D6FA5"/>
            </a:solidFill>
            <a:prstDash val="solid"/>
          </a:ln>
        </p:spPr>
      </p:sp>
      <p:sp>
        <p:nvSpPr>
          <p:cNvPr id="14" name="Shape 12"/>
          <p:cNvSpPr/>
          <p:nvPr/>
        </p:nvSpPr>
        <p:spPr>
          <a:xfrm>
            <a:off x="4920615" y="4623658"/>
            <a:ext cx="828675" cy="113558"/>
          </a:xfrm>
          <a:prstGeom prst="line">
            <a:avLst/>
          </a:prstGeom>
          <a:noFill/>
          <a:ln w="31750">
            <a:solidFill>
              <a:srgbClr val="1D6FA5"/>
            </a:solidFill>
            <a:prstDash val="solid"/>
          </a:ln>
        </p:spPr>
      </p:sp>
      <p:sp>
        <p:nvSpPr>
          <p:cNvPr id="15" name="Shape 13"/>
          <p:cNvSpPr/>
          <p:nvPr/>
        </p:nvSpPr>
        <p:spPr>
          <a:xfrm>
            <a:off x="5749290" y="4737215"/>
            <a:ext cx="828675" cy="88323"/>
          </a:xfrm>
          <a:prstGeom prst="line">
            <a:avLst/>
          </a:prstGeom>
          <a:noFill/>
          <a:ln w="31750">
            <a:solidFill>
              <a:srgbClr val="1D6FA5"/>
            </a:solidFill>
            <a:prstDash val="solid"/>
          </a:ln>
        </p:spPr>
      </p:sp>
      <p:sp>
        <p:nvSpPr>
          <p:cNvPr id="16" name="Shape 14"/>
          <p:cNvSpPr/>
          <p:nvPr/>
        </p:nvSpPr>
        <p:spPr>
          <a:xfrm>
            <a:off x="6577965" y="4825538"/>
            <a:ext cx="828675" cy="70658"/>
          </a:xfrm>
          <a:prstGeom prst="line">
            <a:avLst/>
          </a:prstGeom>
          <a:noFill/>
          <a:ln w="31750">
            <a:solidFill>
              <a:srgbClr val="1D6FA5"/>
            </a:solidFill>
            <a:prstDash val="solid"/>
          </a:ln>
        </p:spPr>
      </p:sp>
      <p:sp>
        <p:nvSpPr>
          <p:cNvPr id="17" name="Shape 15"/>
          <p:cNvSpPr/>
          <p:nvPr/>
        </p:nvSpPr>
        <p:spPr>
          <a:xfrm>
            <a:off x="777240" y="5178829"/>
            <a:ext cx="828675" cy="-176645"/>
          </a:xfrm>
          <a:prstGeom prst="line">
            <a:avLst/>
          </a:prstGeom>
          <a:noFill/>
          <a:ln w="31750">
            <a:solidFill>
              <a:srgbClr val="F28E2B"/>
            </a:solidFill>
            <a:prstDash val="solid"/>
          </a:ln>
        </p:spPr>
      </p:sp>
      <p:sp>
        <p:nvSpPr>
          <p:cNvPr id="18" name="Shape 16"/>
          <p:cNvSpPr/>
          <p:nvPr/>
        </p:nvSpPr>
        <p:spPr>
          <a:xfrm>
            <a:off x="1605915" y="5002184"/>
            <a:ext cx="828675" cy="-176645"/>
          </a:xfrm>
          <a:prstGeom prst="line">
            <a:avLst/>
          </a:prstGeom>
          <a:noFill/>
          <a:ln w="31750">
            <a:solidFill>
              <a:srgbClr val="F28E2B"/>
            </a:solidFill>
            <a:prstDash val="solid"/>
          </a:ln>
        </p:spPr>
      </p:sp>
      <p:sp>
        <p:nvSpPr>
          <p:cNvPr id="19" name="Shape 17"/>
          <p:cNvSpPr/>
          <p:nvPr/>
        </p:nvSpPr>
        <p:spPr>
          <a:xfrm>
            <a:off x="2434590" y="4825538"/>
            <a:ext cx="828675" cy="-176645"/>
          </a:xfrm>
          <a:prstGeom prst="line">
            <a:avLst/>
          </a:prstGeom>
          <a:noFill/>
          <a:ln w="31750">
            <a:solidFill>
              <a:srgbClr val="F28E2B"/>
            </a:solidFill>
            <a:prstDash val="solid"/>
          </a:ln>
        </p:spPr>
      </p:sp>
      <p:sp>
        <p:nvSpPr>
          <p:cNvPr id="20" name="Shape 18"/>
          <p:cNvSpPr/>
          <p:nvPr/>
        </p:nvSpPr>
        <p:spPr>
          <a:xfrm>
            <a:off x="3263265" y="4648893"/>
            <a:ext cx="828675" cy="-176645"/>
          </a:xfrm>
          <a:prstGeom prst="line">
            <a:avLst/>
          </a:prstGeom>
          <a:noFill/>
          <a:ln w="31750">
            <a:solidFill>
              <a:srgbClr val="F28E2B"/>
            </a:solidFill>
            <a:prstDash val="solid"/>
          </a:ln>
        </p:spPr>
      </p:sp>
      <p:sp>
        <p:nvSpPr>
          <p:cNvPr id="21" name="Shape 19"/>
          <p:cNvSpPr/>
          <p:nvPr/>
        </p:nvSpPr>
        <p:spPr>
          <a:xfrm>
            <a:off x="4091940" y="4472247"/>
            <a:ext cx="828675" cy="-176645"/>
          </a:xfrm>
          <a:prstGeom prst="line">
            <a:avLst/>
          </a:prstGeom>
          <a:noFill/>
          <a:ln w="31750">
            <a:solidFill>
              <a:srgbClr val="F28E2B"/>
            </a:solidFill>
            <a:prstDash val="solid"/>
          </a:ln>
        </p:spPr>
      </p:sp>
      <p:sp>
        <p:nvSpPr>
          <p:cNvPr id="22" name="Shape 20"/>
          <p:cNvSpPr/>
          <p:nvPr/>
        </p:nvSpPr>
        <p:spPr>
          <a:xfrm>
            <a:off x="4920615" y="4295602"/>
            <a:ext cx="828675" cy="-176645"/>
          </a:xfrm>
          <a:prstGeom prst="line">
            <a:avLst/>
          </a:prstGeom>
          <a:noFill/>
          <a:ln w="31750">
            <a:solidFill>
              <a:srgbClr val="F28E2B"/>
            </a:solidFill>
            <a:prstDash val="solid"/>
          </a:ln>
        </p:spPr>
      </p:sp>
      <p:sp>
        <p:nvSpPr>
          <p:cNvPr id="23" name="Shape 21"/>
          <p:cNvSpPr/>
          <p:nvPr/>
        </p:nvSpPr>
        <p:spPr>
          <a:xfrm>
            <a:off x="5749290" y="4118956"/>
            <a:ext cx="828675" cy="-176645"/>
          </a:xfrm>
          <a:prstGeom prst="line">
            <a:avLst/>
          </a:prstGeom>
          <a:noFill/>
          <a:ln w="31750">
            <a:solidFill>
              <a:srgbClr val="F28E2B"/>
            </a:solidFill>
            <a:prstDash val="solid"/>
          </a:ln>
        </p:spPr>
      </p:sp>
      <p:sp>
        <p:nvSpPr>
          <p:cNvPr id="24" name="Shape 22"/>
          <p:cNvSpPr/>
          <p:nvPr/>
        </p:nvSpPr>
        <p:spPr>
          <a:xfrm>
            <a:off x="6577965" y="3942311"/>
            <a:ext cx="828675" cy="-176645"/>
          </a:xfrm>
          <a:prstGeom prst="line">
            <a:avLst/>
          </a:prstGeom>
          <a:noFill/>
          <a:ln w="31750">
            <a:solidFill>
              <a:srgbClr val="F28E2B"/>
            </a:solidFill>
            <a:prstDash val="solid"/>
          </a:ln>
        </p:spPr>
      </p:sp>
      <p:sp>
        <p:nvSpPr>
          <p:cNvPr id="25" name="Shape 23"/>
          <p:cNvSpPr/>
          <p:nvPr/>
        </p:nvSpPr>
        <p:spPr>
          <a:xfrm>
            <a:off x="777240" y="1999211"/>
            <a:ext cx="828675" cy="883227"/>
          </a:xfrm>
          <a:prstGeom prst="line">
            <a:avLst/>
          </a:prstGeom>
          <a:noFill/>
          <a:ln w="44450">
            <a:solidFill>
              <a:srgbClr val="0B1F33"/>
            </a:solidFill>
            <a:prstDash val="solid"/>
          </a:ln>
        </p:spPr>
      </p:sp>
      <p:sp>
        <p:nvSpPr>
          <p:cNvPr id="26" name="Shape 24"/>
          <p:cNvSpPr/>
          <p:nvPr/>
        </p:nvSpPr>
        <p:spPr>
          <a:xfrm>
            <a:off x="1605915" y="2882438"/>
            <a:ext cx="828675" cy="353291"/>
          </a:xfrm>
          <a:prstGeom prst="line">
            <a:avLst/>
          </a:prstGeom>
          <a:noFill/>
          <a:ln w="44450">
            <a:solidFill>
              <a:srgbClr val="0B1F33"/>
            </a:solidFill>
            <a:prstDash val="solid"/>
          </a:ln>
        </p:spPr>
      </p:sp>
      <p:sp>
        <p:nvSpPr>
          <p:cNvPr id="27" name="Shape 25"/>
          <p:cNvSpPr/>
          <p:nvPr/>
        </p:nvSpPr>
        <p:spPr>
          <a:xfrm>
            <a:off x="2434590" y="3235729"/>
            <a:ext cx="828675" cy="141316"/>
          </a:xfrm>
          <a:prstGeom prst="line">
            <a:avLst/>
          </a:prstGeom>
          <a:noFill/>
          <a:ln w="44450">
            <a:solidFill>
              <a:srgbClr val="0B1F33"/>
            </a:solidFill>
            <a:prstDash val="solid"/>
          </a:ln>
        </p:spPr>
      </p:sp>
      <p:sp>
        <p:nvSpPr>
          <p:cNvPr id="28" name="Shape 26"/>
          <p:cNvSpPr/>
          <p:nvPr/>
        </p:nvSpPr>
        <p:spPr>
          <a:xfrm>
            <a:off x="3263265" y="3377045"/>
            <a:ext cx="828675" cy="35329"/>
          </a:xfrm>
          <a:prstGeom prst="line">
            <a:avLst/>
          </a:prstGeom>
          <a:noFill/>
          <a:ln w="44450">
            <a:solidFill>
              <a:srgbClr val="0B1F33"/>
            </a:solidFill>
            <a:prstDash val="solid"/>
          </a:ln>
        </p:spPr>
      </p:sp>
      <p:sp>
        <p:nvSpPr>
          <p:cNvPr id="29" name="Shape 27"/>
          <p:cNvSpPr/>
          <p:nvPr/>
        </p:nvSpPr>
        <p:spPr>
          <a:xfrm>
            <a:off x="4091940" y="3412375"/>
            <a:ext cx="828675" cy="-25235"/>
          </a:xfrm>
          <a:prstGeom prst="line">
            <a:avLst/>
          </a:prstGeom>
          <a:noFill/>
          <a:ln w="44450">
            <a:solidFill>
              <a:srgbClr val="0B1F33"/>
            </a:solidFill>
            <a:prstDash val="solid"/>
          </a:ln>
        </p:spPr>
      </p:sp>
      <p:sp>
        <p:nvSpPr>
          <p:cNvPr id="30" name="Shape 28"/>
          <p:cNvSpPr/>
          <p:nvPr/>
        </p:nvSpPr>
        <p:spPr>
          <a:xfrm>
            <a:off x="4920615" y="3387139"/>
            <a:ext cx="828675" cy="-63088"/>
          </a:xfrm>
          <a:prstGeom prst="line">
            <a:avLst/>
          </a:prstGeom>
          <a:noFill/>
          <a:ln w="44450">
            <a:solidFill>
              <a:srgbClr val="0B1F33"/>
            </a:solidFill>
            <a:prstDash val="solid"/>
          </a:ln>
        </p:spPr>
      </p:sp>
      <p:sp>
        <p:nvSpPr>
          <p:cNvPr id="31" name="Shape 29"/>
          <p:cNvSpPr/>
          <p:nvPr/>
        </p:nvSpPr>
        <p:spPr>
          <a:xfrm>
            <a:off x="5749290" y="3324052"/>
            <a:ext cx="828675" cy="-88323"/>
          </a:xfrm>
          <a:prstGeom prst="line">
            <a:avLst/>
          </a:prstGeom>
          <a:noFill/>
          <a:ln w="44450">
            <a:solidFill>
              <a:srgbClr val="0B1F33"/>
            </a:solidFill>
            <a:prstDash val="solid"/>
          </a:ln>
        </p:spPr>
      </p:sp>
      <p:sp>
        <p:nvSpPr>
          <p:cNvPr id="32" name="Shape 30"/>
          <p:cNvSpPr/>
          <p:nvPr/>
        </p:nvSpPr>
        <p:spPr>
          <a:xfrm>
            <a:off x="6577965" y="3235729"/>
            <a:ext cx="828675" cy="-105987"/>
          </a:xfrm>
          <a:prstGeom prst="line">
            <a:avLst/>
          </a:prstGeom>
          <a:noFill/>
          <a:ln w="44450">
            <a:solidFill>
              <a:srgbClr val="0B1F33"/>
            </a:solidFill>
            <a:prstDash val="solid"/>
          </a:ln>
        </p:spPr>
      </p:sp>
      <p:sp>
        <p:nvSpPr>
          <p:cNvPr id="33" name="Shape 31"/>
          <p:cNvSpPr/>
          <p:nvPr/>
        </p:nvSpPr>
        <p:spPr>
          <a:xfrm>
            <a:off x="4091940" y="5532120"/>
            <a:ext cx="0" cy="-3383280"/>
          </a:xfrm>
          <a:prstGeom prst="line">
            <a:avLst/>
          </a:prstGeom>
          <a:noFill/>
          <a:ln w="20320">
            <a:solidFill>
              <a:srgbClr val="D1495B"/>
            </a:solidFill>
            <a:prstDash val="dash"/>
          </a:ln>
        </p:spPr>
      </p:sp>
      <p:sp>
        <p:nvSpPr>
          <p:cNvPr id="34" name="Shape 32"/>
          <p:cNvSpPr/>
          <p:nvPr/>
        </p:nvSpPr>
        <p:spPr>
          <a:xfrm>
            <a:off x="3575304" y="1874520"/>
            <a:ext cx="1097280" cy="274320"/>
          </a:xfrm>
          <a:prstGeom prst="roundRect">
            <a:avLst>
              <a:gd name="adj" fmla="val 50000"/>
            </a:avLst>
          </a:prstGeom>
          <a:solidFill>
            <a:srgbClr val="FBEAEC"/>
          </a:solidFill>
          <a:ln w="12700">
            <a:solidFill>
              <a:srgbClr val="FBEAEC"/>
            </a:solidFill>
            <a:prstDash val="solid"/>
          </a:ln>
        </p:spPr>
      </p:sp>
      <p:sp>
        <p:nvSpPr>
          <p:cNvPr id="35" name="Text 33"/>
          <p:cNvSpPr txBox="1"/>
          <p:nvPr/>
        </p:nvSpPr>
        <p:spPr>
          <a:xfrm>
            <a:off x="3575304" y="1874520"/>
            <a:ext cx="1097280" cy="274320"/>
          </a:xfrm>
          <a:prstGeom prst="rect">
            <a:avLst/>
          </a:prstGeom>
          <a:noFill/>
          <a:ln/>
        </p:spPr>
        <p:txBody>
          <a:bodyPr wrap="square" lIns="0" tIns="0" rIns="0" bIns="0" rtlCol="0" anchor="ctr">
            <a:normAutofit/>
          </a:bodyPr>
          <a:lstStyle/>
          <a:p>
            <a:pPr algn="ctr" indent="0" marL="0">
              <a:buNone/>
            </a:pPr>
            <a:r>
              <a:rPr lang="en-US" sz="1000" b="1" dirty="0">
                <a:solidFill>
                  <a:srgbClr val="D1495B"/>
                </a:solidFill>
                <a:latin typeface="Aptos" pitchFamily="34" charset="0"/>
                <a:ea typeface="Aptos" pitchFamily="34" charset="-122"/>
                <a:cs typeface="Aptos" pitchFamily="34" charset="-120"/>
              </a:rPr>
              <a:t>EOQ = 600</a:t>
            </a:r>
            <a:endParaRPr lang="en-US" sz="1000" dirty="0"/>
          </a:p>
        </p:txBody>
      </p:sp>
      <p:sp>
        <p:nvSpPr>
          <p:cNvPr id="36" name="Text 34"/>
          <p:cNvSpPr txBox="1"/>
          <p:nvPr/>
        </p:nvSpPr>
        <p:spPr>
          <a:xfrm>
            <a:off x="566928" y="5577840"/>
            <a:ext cx="420624" cy="182880"/>
          </a:xfrm>
          <a:prstGeom prst="rect">
            <a:avLst/>
          </a:prstGeom>
          <a:noFill/>
          <a:ln/>
        </p:spPr>
        <p:txBody>
          <a:bodyPr wrap="square" lIns="0" tIns="0" rIns="0" bIns="0" rtlCol="0" anchor="ctr">
            <a:normAutofit/>
          </a:bodyPr>
          <a:lstStyle/>
          <a:p>
            <a:pPr algn="ctr" indent="0" marL="0">
              <a:buNone/>
            </a:pPr>
            <a:r>
              <a:rPr lang="en-US" sz="800" dirty="0">
                <a:solidFill>
                  <a:srgbClr val="6B7785"/>
                </a:solidFill>
                <a:latin typeface="Aptos" pitchFamily="34" charset="0"/>
                <a:ea typeface="Aptos" pitchFamily="34" charset="-122"/>
                <a:cs typeface="Aptos" pitchFamily="34" charset="-120"/>
              </a:rPr>
              <a:t>200</a:t>
            </a:r>
            <a:endParaRPr lang="en-US" sz="800" dirty="0"/>
          </a:p>
        </p:txBody>
      </p:sp>
      <p:sp>
        <p:nvSpPr>
          <p:cNvPr id="37" name="Text 35"/>
          <p:cNvSpPr txBox="1"/>
          <p:nvPr/>
        </p:nvSpPr>
        <p:spPr>
          <a:xfrm>
            <a:off x="2224278" y="5577840"/>
            <a:ext cx="420624" cy="182880"/>
          </a:xfrm>
          <a:prstGeom prst="rect">
            <a:avLst/>
          </a:prstGeom>
          <a:noFill/>
          <a:ln/>
        </p:spPr>
        <p:txBody>
          <a:bodyPr wrap="square" lIns="0" tIns="0" rIns="0" bIns="0" rtlCol="0" anchor="ctr">
            <a:normAutofit/>
          </a:bodyPr>
          <a:lstStyle/>
          <a:p>
            <a:pPr algn="ctr" indent="0" marL="0">
              <a:buNone/>
            </a:pPr>
            <a:r>
              <a:rPr lang="en-US" sz="800" dirty="0">
                <a:solidFill>
                  <a:srgbClr val="6B7785"/>
                </a:solidFill>
                <a:latin typeface="Aptos" pitchFamily="34" charset="0"/>
                <a:ea typeface="Aptos" pitchFamily="34" charset="-122"/>
                <a:cs typeface="Aptos" pitchFamily="34" charset="-120"/>
              </a:rPr>
              <a:t>400</a:t>
            </a:r>
            <a:endParaRPr lang="en-US" sz="800" dirty="0"/>
          </a:p>
        </p:txBody>
      </p:sp>
      <p:sp>
        <p:nvSpPr>
          <p:cNvPr id="38" name="Text 36"/>
          <p:cNvSpPr txBox="1"/>
          <p:nvPr/>
        </p:nvSpPr>
        <p:spPr>
          <a:xfrm>
            <a:off x="3881628" y="5577840"/>
            <a:ext cx="420624" cy="182880"/>
          </a:xfrm>
          <a:prstGeom prst="rect">
            <a:avLst/>
          </a:prstGeom>
          <a:noFill/>
          <a:ln/>
        </p:spPr>
        <p:txBody>
          <a:bodyPr wrap="square" lIns="0" tIns="0" rIns="0" bIns="0" rtlCol="0" anchor="ctr">
            <a:normAutofit/>
          </a:bodyPr>
          <a:lstStyle/>
          <a:p>
            <a:pPr algn="ctr" indent="0" marL="0">
              <a:buNone/>
            </a:pPr>
            <a:r>
              <a:rPr lang="en-US" sz="800" dirty="0">
                <a:solidFill>
                  <a:srgbClr val="6B7785"/>
                </a:solidFill>
                <a:latin typeface="Aptos" pitchFamily="34" charset="0"/>
                <a:ea typeface="Aptos" pitchFamily="34" charset="-122"/>
                <a:cs typeface="Aptos" pitchFamily="34" charset="-120"/>
              </a:rPr>
              <a:t>600</a:t>
            </a:r>
            <a:endParaRPr lang="en-US" sz="800" dirty="0"/>
          </a:p>
        </p:txBody>
      </p:sp>
      <p:sp>
        <p:nvSpPr>
          <p:cNvPr id="39" name="Text 37"/>
          <p:cNvSpPr txBox="1"/>
          <p:nvPr/>
        </p:nvSpPr>
        <p:spPr>
          <a:xfrm>
            <a:off x="5538978" y="5577840"/>
            <a:ext cx="420624" cy="182880"/>
          </a:xfrm>
          <a:prstGeom prst="rect">
            <a:avLst/>
          </a:prstGeom>
          <a:noFill/>
          <a:ln/>
        </p:spPr>
        <p:txBody>
          <a:bodyPr wrap="square" lIns="0" tIns="0" rIns="0" bIns="0" rtlCol="0" anchor="ctr">
            <a:normAutofit/>
          </a:bodyPr>
          <a:lstStyle/>
          <a:p>
            <a:pPr algn="ctr" indent="0" marL="0">
              <a:buNone/>
            </a:pPr>
            <a:r>
              <a:rPr lang="en-US" sz="800" dirty="0">
                <a:solidFill>
                  <a:srgbClr val="6B7785"/>
                </a:solidFill>
                <a:latin typeface="Aptos" pitchFamily="34" charset="0"/>
                <a:ea typeface="Aptos" pitchFamily="34" charset="-122"/>
                <a:cs typeface="Aptos" pitchFamily="34" charset="-120"/>
              </a:rPr>
              <a:t>800</a:t>
            </a:r>
            <a:endParaRPr lang="en-US" sz="800" dirty="0"/>
          </a:p>
        </p:txBody>
      </p:sp>
      <p:sp>
        <p:nvSpPr>
          <p:cNvPr id="40" name="Text 38"/>
          <p:cNvSpPr txBox="1"/>
          <p:nvPr/>
        </p:nvSpPr>
        <p:spPr>
          <a:xfrm>
            <a:off x="7196328" y="5577840"/>
            <a:ext cx="420624" cy="182880"/>
          </a:xfrm>
          <a:prstGeom prst="rect">
            <a:avLst/>
          </a:prstGeom>
          <a:noFill/>
          <a:ln/>
        </p:spPr>
        <p:txBody>
          <a:bodyPr wrap="square" lIns="0" tIns="0" rIns="0" bIns="0" rtlCol="0" anchor="ctr">
            <a:normAutofit/>
          </a:bodyPr>
          <a:lstStyle/>
          <a:p>
            <a:pPr algn="ctr" indent="0" marL="0">
              <a:buNone/>
            </a:pPr>
            <a:r>
              <a:rPr lang="en-US" sz="800" dirty="0">
                <a:solidFill>
                  <a:srgbClr val="6B7785"/>
                </a:solidFill>
                <a:latin typeface="Aptos" pitchFamily="34" charset="0"/>
                <a:ea typeface="Aptos" pitchFamily="34" charset="-122"/>
                <a:cs typeface="Aptos" pitchFamily="34" charset="-120"/>
              </a:rPr>
              <a:t>1000</a:t>
            </a:r>
            <a:endParaRPr lang="en-US" sz="800" dirty="0"/>
          </a:p>
        </p:txBody>
      </p:sp>
      <p:sp>
        <p:nvSpPr>
          <p:cNvPr id="41" name="Text 39"/>
          <p:cNvSpPr txBox="1"/>
          <p:nvPr/>
        </p:nvSpPr>
        <p:spPr>
          <a:xfrm>
            <a:off x="7909560" y="1920240"/>
            <a:ext cx="2834640" cy="292608"/>
          </a:xfrm>
          <a:prstGeom prst="rect">
            <a:avLst/>
          </a:prstGeom>
          <a:noFill/>
          <a:ln/>
        </p:spPr>
        <p:txBody>
          <a:bodyPr wrap="square" lIns="0" tIns="0" rIns="0" bIns="0" rtlCol="0" anchor="ctr">
            <a:normAutofit/>
          </a:bodyPr>
          <a:lstStyle/>
          <a:p>
            <a:pPr algn="l" indent="0" marL="0">
              <a:buNone/>
            </a:pPr>
            <a:r>
              <a:rPr lang="en-US" sz="1400" b="1" dirty="0">
                <a:solidFill>
                  <a:srgbClr val="1D6FA5"/>
                </a:solidFill>
                <a:latin typeface="Aptos" pitchFamily="34" charset="0"/>
                <a:ea typeface="Aptos" pitchFamily="34" charset="-122"/>
                <a:cs typeface="Aptos" pitchFamily="34" charset="-120"/>
              </a:rPr>
              <a:t>Ordering cost  DS/Q</a:t>
            </a:r>
            <a:endParaRPr lang="en-US" sz="1400" dirty="0"/>
          </a:p>
        </p:txBody>
      </p:sp>
      <p:sp>
        <p:nvSpPr>
          <p:cNvPr id="42" name="Text 40"/>
          <p:cNvSpPr txBox="1"/>
          <p:nvPr/>
        </p:nvSpPr>
        <p:spPr>
          <a:xfrm>
            <a:off x="7909560" y="2514600"/>
            <a:ext cx="2834640" cy="292608"/>
          </a:xfrm>
          <a:prstGeom prst="rect">
            <a:avLst/>
          </a:prstGeom>
          <a:noFill/>
          <a:ln/>
        </p:spPr>
        <p:txBody>
          <a:bodyPr wrap="square" lIns="0" tIns="0" rIns="0" bIns="0" rtlCol="0" anchor="ctr">
            <a:normAutofit/>
          </a:bodyPr>
          <a:lstStyle/>
          <a:p>
            <a:pPr algn="l" indent="0" marL="0">
              <a:buNone/>
            </a:pPr>
            <a:r>
              <a:rPr lang="en-US" sz="1400" b="1" dirty="0">
                <a:solidFill>
                  <a:srgbClr val="F28E2B"/>
                </a:solidFill>
                <a:latin typeface="Aptos" pitchFamily="34" charset="0"/>
                <a:ea typeface="Aptos" pitchFamily="34" charset="-122"/>
                <a:cs typeface="Aptos" pitchFamily="34" charset="-120"/>
              </a:rPr>
              <a:t>Holding cost  HQ/2</a:t>
            </a:r>
            <a:endParaRPr lang="en-US" sz="1400" dirty="0"/>
          </a:p>
        </p:txBody>
      </p:sp>
      <p:sp>
        <p:nvSpPr>
          <p:cNvPr id="43" name="Text 41"/>
          <p:cNvSpPr txBox="1"/>
          <p:nvPr/>
        </p:nvSpPr>
        <p:spPr>
          <a:xfrm>
            <a:off x="7909560" y="3108960"/>
            <a:ext cx="2834640" cy="292608"/>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Total relevant cost</a:t>
            </a:r>
            <a:endParaRPr lang="en-US" sz="1400" dirty="0"/>
          </a:p>
        </p:txBody>
      </p:sp>
      <p:sp>
        <p:nvSpPr>
          <p:cNvPr id="44" name="Text 42"/>
          <p:cNvSpPr txBox="1"/>
          <p:nvPr/>
        </p:nvSpPr>
        <p:spPr>
          <a:xfrm>
            <a:off x="7909560" y="3913632"/>
            <a:ext cx="2468880" cy="228600"/>
          </a:xfrm>
          <a:prstGeom prst="rect">
            <a:avLst/>
          </a:prstGeom>
          <a:noFill/>
          <a:ln/>
        </p:spPr>
        <p:txBody>
          <a:bodyPr wrap="square" lIns="0" tIns="0" rIns="0" bIns="0" rtlCol="0" anchor="ctr">
            <a:normAutofit/>
          </a:bodyPr>
          <a:lstStyle/>
          <a:p>
            <a:pPr algn="l" indent="0" marL="0">
              <a:buNone/>
            </a:pPr>
            <a:r>
              <a:rPr lang="en-US" sz="1000" b="1" dirty="0">
                <a:solidFill>
                  <a:srgbClr val="6B7785"/>
                </a:solidFill>
                <a:latin typeface="Aptos" pitchFamily="34" charset="0"/>
                <a:ea typeface="Aptos" pitchFamily="34" charset="-122"/>
                <a:cs typeface="Aptos" pitchFamily="34" charset="-120"/>
              </a:rPr>
              <a:t>Not shown when constant</a:t>
            </a:r>
            <a:endParaRPr lang="en-US" sz="1000" dirty="0"/>
          </a:p>
        </p:txBody>
      </p:sp>
      <p:sp>
        <p:nvSpPr>
          <p:cNvPr id="45" name="Text 43"/>
          <p:cNvSpPr txBox="1"/>
          <p:nvPr/>
        </p:nvSpPr>
        <p:spPr>
          <a:xfrm>
            <a:off x="7909560" y="4206240"/>
            <a:ext cx="2468880" cy="274320"/>
          </a:xfrm>
          <a:prstGeom prst="rect">
            <a:avLst/>
          </a:prstGeom>
          <a:noFill/>
          <a:ln/>
        </p:spPr>
        <p:txBody>
          <a:bodyPr wrap="square" lIns="0" tIns="0" rIns="0" bIns="0" rtlCol="0" anchor="ctr">
            <a:normAutofit/>
          </a:bodyPr>
          <a:lstStyle/>
          <a:p>
            <a:pPr algn="l" indent="0" marL="0">
              <a:buNone/>
            </a:pPr>
            <a:r>
              <a:rPr lang="en-US" sz="1400" dirty="0">
                <a:solidFill>
                  <a:srgbClr val="6B7785"/>
                </a:solidFill>
                <a:latin typeface="Aptos" pitchFamily="34" charset="0"/>
                <a:ea typeface="Aptos" pitchFamily="34" charset="-122"/>
                <a:cs typeface="Aptos" pitchFamily="34" charset="-120"/>
              </a:rPr>
              <a:t>Purchase cost  DC</a:t>
            </a:r>
            <a:endParaRPr lang="en-US" sz="1400" dirty="0"/>
          </a:p>
        </p:txBody>
      </p:sp>
      <p:sp>
        <p:nvSpPr>
          <p:cNvPr id="46" name="Text 44"/>
          <p:cNvSpPr txBox="1"/>
          <p:nvPr/>
        </p:nvSpPr>
        <p:spPr>
          <a:xfrm>
            <a:off x="7909560" y="4846320"/>
            <a:ext cx="3063240" cy="457200"/>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Also consider shortage and transport effects.</a:t>
            </a:r>
            <a:endParaRPr lang="en-US" sz="1200" dirty="0"/>
          </a:p>
        </p:txBody>
      </p:sp>
      <p:sp>
        <p:nvSpPr>
          <p:cNvPr id="47" name="Shape 45"/>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48" name="Text 46"/>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49" name="Text 47"/>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Total-system thinking matters: “fewer orders” and “less inventory” are not independent wins.</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94360" y="502920"/>
            <a:ext cx="1097280" cy="502920"/>
          </a:xfrm>
          <a:prstGeom prst="rect">
            <a:avLst/>
          </a:prstGeom>
          <a:noFill/>
          <a:ln/>
        </p:spPr>
        <p:txBody>
          <a:bodyPr wrap="square" lIns="0" tIns="0" rIns="0" bIns="0" rtlCol="0" anchor="ctr">
            <a:normAutofit/>
          </a:bodyPr>
          <a:lstStyle/>
          <a:p>
            <a:pPr algn="l" indent="0" marL="0">
              <a:buNone/>
            </a:pPr>
            <a:r>
              <a:rPr lang="en-US" sz="4200" b="1" dirty="0">
                <a:solidFill>
                  <a:srgbClr val="F28E2B"/>
                </a:solidFill>
                <a:latin typeface="Aptos" pitchFamily="34" charset="0"/>
                <a:ea typeface="Aptos" pitchFamily="34" charset="-122"/>
                <a:cs typeface="Aptos" pitchFamily="34" charset="-120"/>
              </a:rPr>
              <a:t>02</a:t>
            </a:r>
            <a:endParaRPr lang="en-US" sz="4200" dirty="0"/>
          </a:p>
        </p:txBody>
      </p:sp>
      <p:sp>
        <p:nvSpPr>
          <p:cNvPr id="3" name="Text 1"/>
          <p:cNvSpPr txBox="1"/>
          <p:nvPr/>
        </p:nvSpPr>
        <p:spPr>
          <a:xfrm>
            <a:off x="594360" y="1371600"/>
            <a:ext cx="7863840" cy="1143000"/>
          </a:xfrm>
          <a:prstGeom prst="rect">
            <a:avLst/>
          </a:prstGeom>
          <a:noFill/>
          <a:ln/>
        </p:spPr>
        <p:txBody>
          <a:bodyPr wrap="square" lIns="0" tIns="0" rIns="0" bIns="0" rtlCol="0" anchor="ctr">
            <a:normAutofit/>
          </a:bodyPr>
          <a:lstStyle/>
          <a:p>
            <a:pPr algn="l" indent="0" marL="0">
              <a:buNone/>
            </a:pPr>
            <a:r>
              <a:rPr lang="en-US" sz="3600" b="1" dirty="0">
                <a:solidFill>
                  <a:srgbClr val="FFFFFF"/>
                </a:solidFill>
                <a:latin typeface="Aptos" pitchFamily="34" charset="0"/>
                <a:ea typeface="Aptos" pitchFamily="34" charset="-122"/>
                <a:cs typeface="Aptos" pitchFamily="34" charset="-120"/>
              </a:rPr>
              <a:t>Classify before calculating</a:t>
            </a:r>
            <a:endParaRPr lang="en-US" sz="3600" dirty="0"/>
          </a:p>
        </p:txBody>
      </p:sp>
      <p:sp>
        <p:nvSpPr>
          <p:cNvPr id="4" name="Text 2"/>
          <p:cNvSpPr txBox="1"/>
          <p:nvPr/>
        </p:nvSpPr>
        <p:spPr>
          <a:xfrm>
            <a:off x="612648" y="2697480"/>
            <a:ext cx="6766560" cy="685800"/>
          </a:xfrm>
          <a:prstGeom prst="rect">
            <a:avLst/>
          </a:prstGeom>
          <a:noFill/>
          <a:ln/>
        </p:spPr>
        <p:txBody>
          <a:bodyPr wrap="square" lIns="0" tIns="0" rIns="0" bIns="0" rtlCol="0" anchor="ctr">
            <a:normAutofit/>
          </a:bodyPr>
          <a:lstStyle/>
          <a:p>
            <a:pPr algn="l" indent="0" marL="0">
              <a:buNone/>
            </a:pPr>
            <a:r>
              <a:rPr lang="en-US" sz="1700" dirty="0">
                <a:solidFill>
                  <a:srgbClr val="C9D6E1"/>
                </a:solidFill>
                <a:latin typeface="Aptos" pitchFamily="34" charset="0"/>
                <a:ea typeface="Aptos" pitchFamily="34" charset="-122"/>
                <a:cs typeface="Aptos" pitchFamily="34" charset="-120"/>
              </a:rPr>
              <a:t>Three lenses prevent one-size-fits-all control</a:t>
            </a:r>
            <a:endParaRPr lang="en-US" sz="1700" dirty="0"/>
          </a:p>
        </p:txBody>
      </p:sp>
      <p:sp>
        <p:nvSpPr>
          <p:cNvPr id="5" name="Shape 3"/>
          <p:cNvSpPr/>
          <p:nvPr/>
        </p:nvSpPr>
        <p:spPr>
          <a:xfrm>
            <a:off x="612648" y="3749040"/>
            <a:ext cx="1371600" cy="274320"/>
          </a:xfrm>
          <a:prstGeom prst="roundRect">
            <a:avLst>
              <a:gd name="adj" fmla="val 50000"/>
            </a:avLst>
          </a:prstGeom>
          <a:solidFill>
            <a:srgbClr val="F28E2B"/>
          </a:solidFill>
          <a:ln w="12700">
            <a:solidFill>
              <a:srgbClr val="F28E2B"/>
            </a:solidFill>
            <a:prstDash val="solid"/>
          </a:ln>
        </p:spPr>
      </p:sp>
      <p:sp>
        <p:nvSpPr>
          <p:cNvPr id="6" name="Text 4"/>
          <p:cNvSpPr txBox="1"/>
          <p:nvPr/>
        </p:nvSpPr>
        <p:spPr>
          <a:xfrm>
            <a:off x="612648" y="3749040"/>
            <a:ext cx="1371600"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9 MINUTES</a:t>
            </a:r>
            <a:endParaRPr lang="en-US" sz="1000" dirty="0"/>
          </a:p>
        </p:txBody>
      </p:sp>
      <p:sp>
        <p:nvSpPr>
          <p:cNvPr id="7" name="Shape 5"/>
          <p:cNvSpPr/>
          <p:nvPr/>
        </p:nvSpPr>
        <p:spPr>
          <a:xfrm>
            <a:off x="8229600" y="4297680"/>
            <a:ext cx="402336" cy="402336"/>
          </a:xfrm>
          <a:prstGeom prst="roundRect">
            <a:avLst>
              <a:gd name="adj" fmla="val 9091"/>
            </a:avLst>
          </a:prstGeom>
          <a:solidFill>
            <a:srgbClr val="1D6FA5"/>
          </a:solidFill>
          <a:ln w="12700">
            <a:solidFill>
              <a:srgbClr val="1D6FA5"/>
            </a:solidFill>
            <a:prstDash val="solid"/>
          </a:ln>
        </p:spPr>
      </p:sp>
      <p:sp>
        <p:nvSpPr>
          <p:cNvPr id="8" name="Shape 6"/>
          <p:cNvSpPr/>
          <p:nvPr/>
        </p:nvSpPr>
        <p:spPr>
          <a:xfrm>
            <a:off x="8732520" y="3840480"/>
            <a:ext cx="402336" cy="402336"/>
          </a:xfrm>
          <a:prstGeom prst="roundRect">
            <a:avLst>
              <a:gd name="adj" fmla="val 9091"/>
            </a:avLst>
          </a:prstGeom>
          <a:solidFill>
            <a:srgbClr val="1D6FA5"/>
          </a:solidFill>
          <a:ln w="12700">
            <a:solidFill>
              <a:srgbClr val="1D6FA5"/>
            </a:solidFill>
            <a:prstDash val="solid"/>
          </a:ln>
        </p:spPr>
      </p:sp>
      <p:sp>
        <p:nvSpPr>
          <p:cNvPr id="9" name="Shape 7"/>
          <p:cNvSpPr/>
          <p:nvPr/>
        </p:nvSpPr>
        <p:spPr>
          <a:xfrm>
            <a:off x="9235440" y="3383280"/>
            <a:ext cx="402336" cy="402336"/>
          </a:xfrm>
          <a:prstGeom prst="roundRect">
            <a:avLst>
              <a:gd name="adj" fmla="val 9091"/>
            </a:avLst>
          </a:prstGeom>
          <a:solidFill>
            <a:srgbClr val="1D6FA5"/>
          </a:solidFill>
          <a:ln w="12700">
            <a:solidFill>
              <a:srgbClr val="1D6FA5"/>
            </a:solidFill>
            <a:prstDash val="solid"/>
          </a:ln>
        </p:spPr>
      </p:sp>
      <p:sp>
        <p:nvSpPr>
          <p:cNvPr id="10" name="Shape 8"/>
          <p:cNvSpPr/>
          <p:nvPr/>
        </p:nvSpPr>
        <p:spPr>
          <a:xfrm>
            <a:off x="9738360" y="2926080"/>
            <a:ext cx="402336" cy="402336"/>
          </a:xfrm>
          <a:prstGeom prst="roundRect">
            <a:avLst>
              <a:gd name="adj" fmla="val 9091"/>
            </a:avLst>
          </a:prstGeom>
          <a:solidFill>
            <a:srgbClr val="F28E2B"/>
          </a:solidFill>
          <a:ln w="12700">
            <a:solidFill>
              <a:srgbClr val="F28E2B"/>
            </a:solidFill>
            <a:prstDash val="solid"/>
          </a:ln>
        </p:spPr>
      </p:sp>
      <p:sp>
        <p:nvSpPr>
          <p:cNvPr id="11" name="Shape 9"/>
          <p:cNvSpPr/>
          <p:nvPr/>
        </p:nvSpPr>
        <p:spPr>
          <a:xfrm>
            <a:off x="10241280" y="2468880"/>
            <a:ext cx="402336" cy="402336"/>
          </a:xfrm>
          <a:prstGeom prst="roundRect">
            <a:avLst>
              <a:gd name="adj" fmla="val 9091"/>
            </a:avLst>
          </a:prstGeom>
          <a:solidFill>
            <a:srgbClr val="F28E2B"/>
          </a:solidFill>
          <a:ln w="12700">
            <a:solidFill>
              <a:srgbClr val="F28E2B"/>
            </a:solidFill>
            <a:prstDash val="solid"/>
          </a:ln>
        </p:spPr>
      </p:sp>
      <p:sp>
        <p:nvSpPr>
          <p:cNvPr id="12" name="Shape 10"/>
          <p:cNvSpPr/>
          <p:nvPr/>
        </p:nvSpPr>
        <p:spPr>
          <a:xfrm>
            <a:off x="7955280" y="4937760"/>
            <a:ext cx="3108960" cy="-3108960"/>
          </a:xfrm>
          <a:prstGeom prst="line">
            <a:avLst/>
          </a:prstGeom>
          <a:noFill/>
          <a:ln w="38100">
            <a:solidFill>
              <a:srgbClr val="4BB3C3"/>
            </a:solidFill>
            <a:prstDash val="solid"/>
            <a:tailEnd type="triangle"/>
          </a:ln>
        </p:spPr>
      </p:sp>
      <p:sp>
        <p:nvSpPr>
          <p:cNvPr id="13" name="Text 11"/>
          <p:cNvSpPr txBox="1"/>
          <p:nvPr/>
        </p:nvSpPr>
        <p:spPr>
          <a:xfrm>
            <a:off x="8275320" y="1078992"/>
            <a:ext cx="2971800" cy="502920"/>
          </a:xfrm>
          <a:prstGeom prst="rect">
            <a:avLst/>
          </a:prstGeom>
          <a:noFill/>
          <a:ln/>
        </p:spPr>
        <p:txBody>
          <a:bodyPr wrap="square" lIns="0" tIns="0" rIns="0" bIns="0" rtlCol="0" anchor="ctr">
            <a:normAutofit/>
          </a:bodyPr>
          <a:lstStyle/>
          <a:p>
            <a:pPr algn="ctr" indent="0" marL="0">
              <a:buNone/>
            </a:pPr>
            <a:r>
              <a:rPr lang="en-US" sz="1200" b="1" dirty="0">
                <a:solidFill>
                  <a:srgbClr val="4BB3C3"/>
                </a:solidFill>
                <a:latin typeface="Aptos" pitchFamily="34" charset="0"/>
                <a:ea typeface="Aptos" pitchFamily="34" charset="-122"/>
                <a:cs typeface="Aptos" pitchFamily="34" charset="-120"/>
              </a:rPr>
              <a:t>VALUE × CRITICALITY × MOVEMENT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ABC CLASSIFICATION</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Focus control where annual consumption value concentrates</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Annual consumption value = annual units × unit cost • illustrative portfolio</a:t>
            </a:r>
            <a:endParaRPr lang="en-US" sz="1350" dirty="0"/>
          </a:p>
        </p:txBody>
      </p:sp>
      <p:sp>
        <p:nvSpPr>
          <p:cNvPr id="5" name="Shape 3"/>
          <p:cNvSpPr/>
          <p:nvPr/>
        </p:nvSpPr>
        <p:spPr>
          <a:xfrm>
            <a:off x="685800" y="5440680"/>
            <a:ext cx="7452360" cy="0"/>
          </a:xfrm>
          <a:prstGeom prst="line">
            <a:avLst/>
          </a:prstGeom>
          <a:noFill/>
          <a:ln w="15240">
            <a:solidFill>
              <a:srgbClr val="6B7785"/>
            </a:solidFill>
            <a:prstDash val="solid"/>
            <a:tailEnd type="triangle"/>
          </a:ln>
        </p:spPr>
      </p:sp>
      <p:sp>
        <p:nvSpPr>
          <p:cNvPr id="6" name="Shape 4"/>
          <p:cNvSpPr/>
          <p:nvPr/>
        </p:nvSpPr>
        <p:spPr>
          <a:xfrm>
            <a:off x="685800" y="5440680"/>
            <a:ext cx="0" cy="-3749040"/>
          </a:xfrm>
          <a:prstGeom prst="line">
            <a:avLst/>
          </a:prstGeom>
          <a:noFill/>
          <a:ln w="15240">
            <a:solidFill>
              <a:srgbClr val="6B7785"/>
            </a:solidFill>
            <a:prstDash val="solid"/>
            <a:tailEnd type="triangle"/>
          </a:ln>
        </p:spPr>
      </p:sp>
      <p:sp>
        <p:nvSpPr>
          <p:cNvPr id="7" name="Text 5"/>
          <p:cNvSpPr txBox="1"/>
          <p:nvPr/>
        </p:nvSpPr>
        <p:spPr>
          <a:xfrm>
            <a:off x="6858000" y="5559552"/>
            <a:ext cx="1280160" cy="201168"/>
          </a:xfrm>
          <a:prstGeom prst="rect">
            <a:avLst/>
          </a:prstGeom>
          <a:noFill/>
          <a:ln/>
        </p:spPr>
        <p:txBody>
          <a:bodyPr wrap="square" lIns="0" tIns="0" rIns="0" bIns="0" rtlCol="0" anchor="ctr">
            <a:normAutofit/>
          </a:bodyPr>
          <a:lstStyle/>
          <a:p>
            <a:pPr algn="r" indent="0" marL="0">
              <a:buNone/>
            </a:pPr>
            <a:r>
              <a:rPr lang="en-US" sz="900" dirty="0">
                <a:solidFill>
                  <a:srgbClr val="6B7785"/>
                </a:solidFill>
                <a:latin typeface="Aptos" pitchFamily="34" charset="0"/>
                <a:ea typeface="Aptos" pitchFamily="34" charset="-122"/>
                <a:cs typeface="Aptos" pitchFamily="34" charset="-120"/>
              </a:rPr>
              <a:t>SKUs ranked by annual consumption value</a:t>
            </a:r>
            <a:endParaRPr lang="en-US" sz="900" dirty="0"/>
          </a:p>
        </p:txBody>
      </p:sp>
      <p:sp>
        <p:nvSpPr>
          <p:cNvPr id="8" name="Text 6"/>
          <p:cNvSpPr txBox="1"/>
          <p:nvPr/>
        </p:nvSpPr>
        <p:spPr>
          <a:xfrm>
            <a:off x="411480" y="1417320"/>
            <a:ext cx="1554480" cy="201168"/>
          </a:xfrm>
          <a:prstGeom prst="rect">
            <a:avLst/>
          </a:prstGeom>
          <a:noFill/>
          <a:ln/>
        </p:spPr>
        <p:txBody>
          <a:bodyPr wrap="square" lIns="0" tIns="0" rIns="0" bIns="0" rtlCol="0" anchor="ctr">
            <a:normAutofit/>
          </a:bodyPr>
          <a:lstStyle/>
          <a:p>
            <a:pPr algn="l" indent="0" marL="0">
              <a:buNone/>
            </a:pPr>
            <a:r>
              <a:rPr lang="en-US" sz="900" dirty="0">
                <a:solidFill>
                  <a:srgbClr val="6B7785"/>
                </a:solidFill>
                <a:latin typeface="Aptos" pitchFamily="34" charset="0"/>
                <a:ea typeface="Aptos" pitchFamily="34" charset="-122"/>
                <a:cs typeface="Aptos" pitchFamily="34" charset="-120"/>
              </a:rPr>
              <a:t>Annual value (relative)</a:t>
            </a:r>
            <a:endParaRPr lang="en-US" sz="900" dirty="0"/>
          </a:p>
        </p:txBody>
      </p:sp>
      <p:sp>
        <p:nvSpPr>
          <p:cNvPr id="9" name="Shape 7"/>
          <p:cNvSpPr/>
          <p:nvPr/>
        </p:nvSpPr>
        <p:spPr>
          <a:xfrm>
            <a:off x="722376" y="1941576"/>
            <a:ext cx="357713" cy="3499104"/>
          </a:xfrm>
          <a:prstGeom prst="rect">
            <a:avLst/>
          </a:prstGeom>
          <a:solidFill>
            <a:srgbClr val="1D6FA5"/>
          </a:solidFill>
          <a:ln w="6350">
            <a:solidFill>
              <a:srgbClr val="FFFFFF"/>
            </a:solidFill>
            <a:prstDash val="solid"/>
          </a:ln>
        </p:spPr>
      </p:sp>
      <p:sp>
        <p:nvSpPr>
          <p:cNvPr id="10" name="Shape 8"/>
          <p:cNvSpPr/>
          <p:nvPr/>
        </p:nvSpPr>
        <p:spPr>
          <a:xfrm>
            <a:off x="1219200" y="3191256"/>
            <a:ext cx="357713" cy="2249424"/>
          </a:xfrm>
          <a:prstGeom prst="rect">
            <a:avLst/>
          </a:prstGeom>
          <a:solidFill>
            <a:srgbClr val="1D6FA5"/>
          </a:solidFill>
          <a:ln w="6350">
            <a:solidFill>
              <a:srgbClr val="FFFFFF"/>
            </a:solidFill>
            <a:prstDash val="solid"/>
          </a:ln>
        </p:spPr>
      </p:sp>
      <p:sp>
        <p:nvSpPr>
          <p:cNvPr id="11" name="Shape 9"/>
          <p:cNvSpPr/>
          <p:nvPr/>
        </p:nvSpPr>
        <p:spPr>
          <a:xfrm>
            <a:off x="1716024" y="3816096"/>
            <a:ext cx="357713" cy="1624584"/>
          </a:xfrm>
          <a:prstGeom prst="rect">
            <a:avLst/>
          </a:prstGeom>
          <a:solidFill>
            <a:srgbClr val="1D6FA5"/>
          </a:solidFill>
          <a:ln w="6350">
            <a:solidFill>
              <a:srgbClr val="FFFFFF"/>
            </a:solidFill>
            <a:prstDash val="solid"/>
          </a:ln>
        </p:spPr>
      </p:sp>
      <p:sp>
        <p:nvSpPr>
          <p:cNvPr id="12" name="Shape 10"/>
          <p:cNvSpPr/>
          <p:nvPr/>
        </p:nvSpPr>
        <p:spPr>
          <a:xfrm>
            <a:off x="2212848" y="4191000"/>
            <a:ext cx="357713" cy="1249680"/>
          </a:xfrm>
          <a:prstGeom prst="rect">
            <a:avLst/>
          </a:prstGeom>
          <a:solidFill>
            <a:srgbClr val="4BB3C3"/>
          </a:solidFill>
          <a:ln w="6350">
            <a:solidFill>
              <a:srgbClr val="FFFFFF"/>
            </a:solidFill>
            <a:prstDash val="solid"/>
          </a:ln>
        </p:spPr>
      </p:sp>
      <p:sp>
        <p:nvSpPr>
          <p:cNvPr id="13" name="Shape 11"/>
          <p:cNvSpPr/>
          <p:nvPr/>
        </p:nvSpPr>
        <p:spPr>
          <a:xfrm>
            <a:off x="2709672" y="4440936"/>
            <a:ext cx="357713" cy="999744"/>
          </a:xfrm>
          <a:prstGeom prst="rect">
            <a:avLst/>
          </a:prstGeom>
          <a:solidFill>
            <a:srgbClr val="4BB3C3"/>
          </a:solidFill>
          <a:ln w="6350">
            <a:solidFill>
              <a:srgbClr val="FFFFFF"/>
            </a:solidFill>
            <a:prstDash val="solid"/>
          </a:ln>
        </p:spPr>
      </p:sp>
      <p:sp>
        <p:nvSpPr>
          <p:cNvPr id="14" name="Shape 12"/>
          <p:cNvSpPr/>
          <p:nvPr/>
        </p:nvSpPr>
        <p:spPr>
          <a:xfrm>
            <a:off x="3206496" y="4690872"/>
            <a:ext cx="357713" cy="749808"/>
          </a:xfrm>
          <a:prstGeom prst="rect">
            <a:avLst/>
          </a:prstGeom>
          <a:solidFill>
            <a:srgbClr val="4BB3C3"/>
          </a:solidFill>
          <a:ln w="6350">
            <a:solidFill>
              <a:srgbClr val="FFFFFF"/>
            </a:solidFill>
            <a:prstDash val="solid"/>
          </a:ln>
        </p:spPr>
      </p:sp>
      <p:sp>
        <p:nvSpPr>
          <p:cNvPr id="15" name="Shape 13"/>
          <p:cNvSpPr/>
          <p:nvPr/>
        </p:nvSpPr>
        <p:spPr>
          <a:xfrm>
            <a:off x="3703320" y="4940808"/>
            <a:ext cx="357713" cy="499872"/>
          </a:xfrm>
          <a:prstGeom prst="rect">
            <a:avLst/>
          </a:prstGeom>
          <a:solidFill>
            <a:srgbClr val="4BB3C3"/>
          </a:solidFill>
          <a:ln w="6350">
            <a:solidFill>
              <a:srgbClr val="FFFFFF"/>
            </a:solidFill>
            <a:prstDash val="solid"/>
          </a:ln>
        </p:spPr>
      </p:sp>
      <p:sp>
        <p:nvSpPr>
          <p:cNvPr id="16" name="Shape 14"/>
          <p:cNvSpPr/>
          <p:nvPr/>
        </p:nvSpPr>
        <p:spPr>
          <a:xfrm>
            <a:off x="4200144" y="5065776"/>
            <a:ext cx="357713" cy="374904"/>
          </a:xfrm>
          <a:prstGeom prst="rect">
            <a:avLst/>
          </a:prstGeom>
          <a:solidFill>
            <a:srgbClr val="4BB3C3"/>
          </a:solidFill>
          <a:ln w="6350">
            <a:solidFill>
              <a:srgbClr val="FFFFFF"/>
            </a:solidFill>
            <a:prstDash val="solid"/>
          </a:ln>
        </p:spPr>
      </p:sp>
      <p:sp>
        <p:nvSpPr>
          <p:cNvPr id="17" name="Shape 15"/>
          <p:cNvSpPr/>
          <p:nvPr/>
        </p:nvSpPr>
        <p:spPr>
          <a:xfrm>
            <a:off x="4696968" y="5128260"/>
            <a:ext cx="357713" cy="312420"/>
          </a:xfrm>
          <a:prstGeom prst="rect">
            <a:avLst/>
          </a:prstGeom>
          <a:solidFill>
            <a:srgbClr val="E8EDF2"/>
          </a:solidFill>
          <a:ln w="6350">
            <a:solidFill>
              <a:srgbClr val="FFFFFF"/>
            </a:solidFill>
            <a:prstDash val="solid"/>
          </a:ln>
        </p:spPr>
      </p:sp>
      <p:sp>
        <p:nvSpPr>
          <p:cNvPr id="18" name="Shape 16"/>
          <p:cNvSpPr/>
          <p:nvPr/>
        </p:nvSpPr>
        <p:spPr>
          <a:xfrm>
            <a:off x="5193792" y="5190744"/>
            <a:ext cx="357713" cy="249936"/>
          </a:xfrm>
          <a:prstGeom prst="rect">
            <a:avLst/>
          </a:prstGeom>
          <a:solidFill>
            <a:srgbClr val="E8EDF2"/>
          </a:solidFill>
          <a:ln w="6350">
            <a:solidFill>
              <a:srgbClr val="FFFFFF"/>
            </a:solidFill>
            <a:prstDash val="solid"/>
          </a:ln>
        </p:spPr>
      </p:sp>
      <p:sp>
        <p:nvSpPr>
          <p:cNvPr id="19" name="Shape 17"/>
          <p:cNvSpPr/>
          <p:nvPr/>
        </p:nvSpPr>
        <p:spPr>
          <a:xfrm>
            <a:off x="5690616" y="5215738"/>
            <a:ext cx="357713" cy="224942"/>
          </a:xfrm>
          <a:prstGeom prst="rect">
            <a:avLst/>
          </a:prstGeom>
          <a:solidFill>
            <a:srgbClr val="E8EDF2"/>
          </a:solidFill>
          <a:ln w="6350">
            <a:solidFill>
              <a:srgbClr val="FFFFFF"/>
            </a:solidFill>
            <a:prstDash val="solid"/>
          </a:ln>
        </p:spPr>
      </p:sp>
      <p:sp>
        <p:nvSpPr>
          <p:cNvPr id="20" name="Shape 18"/>
          <p:cNvSpPr/>
          <p:nvPr/>
        </p:nvSpPr>
        <p:spPr>
          <a:xfrm>
            <a:off x="6187440" y="5253228"/>
            <a:ext cx="357713" cy="187452"/>
          </a:xfrm>
          <a:prstGeom prst="rect">
            <a:avLst/>
          </a:prstGeom>
          <a:solidFill>
            <a:srgbClr val="E8EDF2"/>
          </a:solidFill>
          <a:ln w="6350">
            <a:solidFill>
              <a:srgbClr val="FFFFFF"/>
            </a:solidFill>
            <a:prstDash val="solid"/>
          </a:ln>
        </p:spPr>
      </p:sp>
      <p:sp>
        <p:nvSpPr>
          <p:cNvPr id="21" name="Shape 19"/>
          <p:cNvSpPr/>
          <p:nvPr/>
        </p:nvSpPr>
        <p:spPr>
          <a:xfrm>
            <a:off x="6684264" y="5290718"/>
            <a:ext cx="357713" cy="149962"/>
          </a:xfrm>
          <a:prstGeom prst="rect">
            <a:avLst/>
          </a:prstGeom>
          <a:solidFill>
            <a:srgbClr val="E8EDF2"/>
          </a:solidFill>
          <a:ln w="6350">
            <a:solidFill>
              <a:srgbClr val="FFFFFF"/>
            </a:solidFill>
            <a:prstDash val="solid"/>
          </a:ln>
        </p:spPr>
      </p:sp>
      <p:sp>
        <p:nvSpPr>
          <p:cNvPr id="22" name="Shape 20"/>
          <p:cNvSpPr/>
          <p:nvPr/>
        </p:nvSpPr>
        <p:spPr>
          <a:xfrm>
            <a:off x="7181088" y="5340706"/>
            <a:ext cx="357713" cy="99974"/>
          </a:xfrm>
          <a:prstGeom prst="rect">
            <a:avLst/>
          </a:prstGeom>
          <a:solidFill>
            <a:srgbClr val="E8EDF2"/>
          </a:solidFill>
          <a:ln w="6350">
            <a:solidFill>
              <a:srgbClr val="FFFFFF"/>
            </a:solidFill>
            <a:prstDash val="solid"/>
          </a:ln>
        </p:spPr>
      </p:sp>
      <p:sp>
        <p:nvSpPr>
          <p:cNvPr id="23" name="Shape 21"/>
          <p:cNvSpPr/>
          <p:nvPr/>
        </p:nvSpPr>
        <p:spPr>
          <a:xfrm>
            <a:off x="7677912" y="5353202"/>
            <a:ext cx="357713" cy="87478"/>
          </a:xfrm>
          <a:prstGeom prst="rect">
            <a:avLst/>
          </a:prstGeom>
          <a:solidFill>
            <a:srgbClr val="E8EDF2"/>
          </a:solidFill>
          <a:ln w="6350">
            <a:solidFill>
              <a:srgbClr val="FFFFFF"/>
            </a:solidFill>
            <a:prstDash val="solid"/>
          </a:ln>
        </p:spPr>
      </p:sp>
      <p:sp>
        <p:nvSpPr>
          <p:cNvPr id="24" name="Shape 22"/>
          <p:cNvSpPr/>
          <p:nvPr/>
        </p:nvSpPr>
        <p:spPr>
          <a:xfrm>
            <a:off x="884530" y="4396171"/>
            <a:ext cx="496824" cy="-671470"/>
          </a:xfrm>
          <a:prstGeom prst="line">
            <a:avLst/>
          </a:prstGeom>
          <a:noFill/>
          <a:ln w="38100">
            <a:solidFill>
              <a:srgbClr val="F28E2B"/>
            </a:solidFill>
            <a:prstDash val="solid"/>
          </a:ln>
        </p:spPr>
      </p:sp>
      <p:sp>
        <p:nvSpPr>
          <p:cNvPr id="25" name="Shape 23"/>
          <p:cNvSpPr/>
          <p:nvPr/>
        </p:nvSpPr>
        <p:spPr>
          <a:xfrm>
            <a:off x="1381354" y="3724701"/>
            <a:ext cx="496824" cy="-484950"/>
          </a:xfrm>
          <a:prstGeom prst="line">
            <a:avLst/>
          </a:prstGeom>
          <a:noFill/>
          <a:ln w="38100">
            <a:solidFill>
              <a:srgbClr val="F28E2B"/>
            </a:solidFill>
            <a:prstDash val="solid"/>
          </a:ln>
        </p:spPr>
      </p:sp>
      <p:sp>
        <p:nvSpPr>
          <p:cNvPr id="26" name="Shape 24"/>
          <p:cNvSpPr/>
          <p:nvPr/>
        </p:nvSpPr>
        <p:spPr>
          <a:xfrm>
            <a:off x="1878178" y="3239751"/>
            <a:ext cx="496824" cy="-373039"/>
          </a:xfrm>
          <a:prstGeom prst="line">
            <a:avLst/>
          </a:prstGeom>
          <a:noFill/>
          <a:ln w="38100">
            <a:solidFill>
              <a:srgbClr val="F28E2B"/>
            </a:solidFill>
            <a:prstDash val="solid"/>
          </a:ln>
        </p:spPr>
      </p:sp>
      <p:sp>
        <p:nvSpPr>
          <p:cNvPr id="27" name="Shape 25"/>
          <p:cNvSpPr/>
          <p:nvPr/>
        </p:nvSpPr>
        <p:spPr>
          <a:xfrm>
            <a:off x="2375002" y="2866712"/>
            <a:ext cx="496824" cy="-298431"/>
          </a:xfrm>
          <a:prstGeom prst="line">
            <a:avLst/>
          </a:prstGeom>
          <a:noFill/>
          <a:ln w="38100">
            <a:solidFill>
              <a:srgbClr val="F28E2B"/>
            </a:solidFill>
            <a:prstDash val="solid"/>
          </a:ln>
        </p:spPr>
      </p:sp>
      <p:sp>
        <p:nvSpPr>
          <p:cNvPr id="28" name="Shape 26"/>
          <p:cNvSpPr/>
          <p:nvPr/>
        </p:nvSpPr>
        <p:spPr>
          <a:xfrm>
            <a:off x="2871826" y="2568281"/>
            <a:ext cx="496824" cy="-223823"/>
          </a:xfrm>
          <a:prstGeom prst="line">
            <a:avLst/>
          </a:prstGeom>
          <a:noFill/>
          <a:ln w="38100">
            <a:solidFill>
              <a:srgbClr val="F28E2B"/>
            </a:solidFill>
            <a:prstDash val="solid"/>
          </a:ln>
        </p:spPr>
      </p:sp>
      <p:sp>
        <p:nvSpPr>
          <p:cNvPr id="29" name="Shape 27"/>
          <p:cNvSpPr/>
          <p:nvPr/>
        </p:nvSpPr>
        <p:spPr>
          <a:xfrm>
            <a:off x="3368650" y="2344458"/>
            <a:ext cx="496824" cy="-149216"/>
          </a:xfrm>
          <a:prstGeom prst="line">
            <a:avLst/>
          </a:prstGeom>
          <a:noFill/>
          <a:ln w="38100">
            <a:solidFill>
              <a:srgbClr val="F28E2B"/>
            </a:solidFill>
            <a:prstDash val="solid"/>
          </a:ln>
        </p:spPr>
      </p:sp>
      <p:sp>
        <p:nvSpPr>
          <p:cNvPr id="30" name="Shape 28"/>
          <p:cNvSpPr/>
          <p:nvPr/>
        </p:nvSpPr>
        <p:spPr>
          <a:xfrm>
            <a:off x="3865474" y="2195242"/>
            <a:ext cx="496824" cy="-111912"/>
          </a:xfrm>
          <a:prstGeom prst="line">
            <a:avLst/>
          </a:prstGeom>
          <a:noFill/>
          <a:ln w="38100">
            <a:solidFill>
              <a:srgbClr val="F28E2B"/>
            </a:solidFill>
            <a:prstDash val="solid"/>
          </a:ln>
        </p:spPr>
      </p:sp>
      <p:sp>
        <p:nvSpPr>
          <p:cNvPr id="31" name="Shape 29"/>
          <p:cNvSpPr/>
          <p:nvPr/>
        </p:nvSpPr>
        <p:spPr>
          <a:xfrm>
            <a:off x="4362298" y="2083331"/>
            <a:ext cx="496824" cy="-93260"/>
          </a:xfrm>
          <a:prstGeom prst="line">
            <a:avLst/>
          </a:prstGeom>
          <a:noFill/>
          <a:ln w="38100">
            <a:solidFill>
              <a:srgbClr val="F28E2B"/>
            </a:solidFill>
            <a:prstDash val="solid"/>
          </a:ln>
        </p:spPr>
      </p:sp>
      <p:sp>
        <p:nvSpPr>
          <p:cNvPr id="32" name="Shape 30"/>
          <p:cNvSpPr/>
          <p:nvPr/>
        </p:nvSpPr>
        <p:spPr>
          <a:xfrm>
            <a:off x="4859122" y="1990071"/>
            <a:ext cx="496824" cy="-74608"/>
          </a:xfrm>
          <a:prstGeom prst="line">
            <a:avLst/>
          </a:prstGeom>
          <a:noFill/>
          <a:ln w="38100">
            <a:solidFill>
              <a:srgbClr val="F28E2B"/>
            </a:solidFill>
            <a:prstDash val="solid"/>
          </a:ln>
        </p:spPr>
      </p:sp>
      <p:sp>
        <p:nvSpPr>
          <p:cNvPr id="33" name="Shape 31"/>
          <p:cNvSpPr/>
          <p:nvPr/>
        </p:nvSpPr>
        <p:spPr>
          <a:xfrm>
            <a:off x="5355946" y="1915463"/>
            <a:ext cx="496824" cy="-67147"/>
          </a:xfrm>
          <a:prstGeom prst="line">
            <a:avLst/>
          </a:prstGeom>
          <a:noFill/>
          <a:ln w="38100">
            <a:solidFill>
              <a:srgbClr val="F28E2B"/>
            </a:solidFill>
            <a:prstDash val="solid"/>
          </a:ln>
        </p:spPr>
      </p:sp>
      <p:sp>
        <p:nvSpPr>
          <p:cNvPr id="34" name="Shape 32"/>
          <p:cNvSpPr/>
          <p:nvPr/>
        </p:nvSpPr>
        <p:spPr>
          <a:xfrm>
            <a:off x="5852770" y="1848316"/>
            <a:ext cx="496824" cy="-55956"/>
          </a:xfrm>
          <a:prstGeom prst="line">
            <a:avLst/>
          </a:prstGeom>
          <a:noFill/>
          <a:ln w="38100">
            <a:solidFill>
              <a:srgbClr val="F28E2B"/>
            </a:solidFill>
            <a:prstDash val="solid"/>
          </a:ln>
        </p:spPr>
      </p:sp>
      <p:sp>
        <p:nvSpPr>
          <p:cNvPr id="35" name="Shape 33"/>
          <p:cNvSpPr/>
          <p:nvPr/>
        </p:nvSpPr>
        <p:spPr>
          <a:xfrm>
            <a:off x="6349594" y="1792360"/>
            <a:ext cx="496824" cy="-44765"/>
          </a:xfrm>
          <a:prstGeom prst="line">
            <a:avLst/>
          </a:prstGeom>
          <a:noFill/>
          <a:ln w="38100">
            <a:solidFill>
              <a:srgbClr val="F28E2B"/>
            </a:solidFill>
            <a:prstDash val="solid"/>
          </a:ln>
        </p:spPr>
      </p:sp>
      <p:sp>
        <p:nvSpPr>
          <p:cNvPr id="36" name="Shape 34"/>
          <p:cNvSpPr/>
          <p:nvPr/>
        </p:nvSpPr>
        <p:spPr>
          <a:xfrm>
            <a:off x="6846418" y="1747596"/>
            <a:ext cx="496824" cy="-29843"/>
          </a:xfrm>
          <a:prstGeom prst="line">
            <a:avLst/>
          </a:prstGeom>
          <a:noFill/>
          <a:ln w="38100">
            <a:solidFill>
              <a:srgbClr val="F28E2B"/>
            </a:solidFill>
            <a:prstDash val="solid"/>
          </a:ln>
        </p:spPr>
      </p:sp>
      <p:sp>
        <p:nvSpPr>
          <p:cNvPr id="37" name="Shape 35"/>
          <p:cNvSpPr/>
          <p:nvPr/>
        </p:nvSpPr>
        <p:spPr>
          <a:xfrm>
            <a:off x="7343242" y="1717753"/>
            <a:ext cx="496824" cy="-26113"/>
          </a:xfrm>
          <a:prstGeom prst="line">
            <a:avLst/>
          </a:prstGeom>
          <a:noFill/>
          <a:ln w="38100">
            <a:solidFill>
              <a:srgbClr val="F28E2B"/>
            </a:solidFill>
            <a:prstDash val="solid"/>
          </a:ln>
        </p:spPr>
      </p:sp>
      <p:sp>
        <p:nvSpPr>
          <p:cNvPr id="38" name="Text 36"/>
          <p:cNvSpPr txBox="1"/>
          <p:nvPr/>
        </p:nvSpPr>
        <p:spPr>
          <a:xfrm>
            <a:off x="5760720" y="1490472"/>
            <a:ext cx="2103120" cy="182880"/>
          </a:xfrm>
          <a:prstGeom prst="rect">
            <a:avLst/>
          </a:prstGeom>
          <a:noFill/>
          <a:ln/>
        </p:spPr>
        <p:txBody>
          <a:bodyPr wrap="square" lIns="0" tIns="0" rIns="0" bIns="0" rtlCol="0" anchor="ctr">
            <a:normAutofit/>
          </a:bodyPr>
          <a:lstStyle/>
          <a:p>
            <a:pPr algn="r" indent="0" marL="0">
              <a:buNone/>
            </a:pPr>
            <a:r>
              <a:rPr lang="en-US" sz="900" b="1" dirty="0">
                <a:solidFill>
                  <a:srgbClr val="F28E2B"/>
                </a:solidFill>
                <a:latin typeface="Aptos" pitchFamily="34" charset="0"/>
                <a:ea typeface="Aptos" pitchFamily="34" charset="-122"/>
                <a:cs typeface="Aptos" pitchFamily="34" charset="-120"/>
              </a:rPr>
              <a:t>Cumulative share (%) →</a:t>
            </a:r>
            <a:endParaRPr lang="en-US" sz="900" dirty="0"/>
          </a:p>
        </p:txBody>
      </p:sp>
      <p:sp>
        <p:nvSpPr>
          <p:cNvPr id="39" name="Shape 37"/>
          <p:cNvSpPr/>
          <p:nvPr/>
        </p:nvSpPr>
        <p:spPr>
          <a:xfrm>
            <a:off x="2176272" y="1691640"/>
            <a:ext cx="0" cy="3749040"/>
          </a:xfrm>
          <a:prstGeom prst="line">
            <a:avLst/>
          </a:prstGeom>
          <a:noFill/>
          <a:ln w="12700">
            <a:solidFill>
              <a:srgbClr val="1D6FA5"/>
            </a:solidFill>
            <a:prstDash val="dash"/>
          </a:ln>
        </p:spPr>
      </p:sp>
      <p:sp>
        <p:nvSpPr>
          <p:cNvPr id="40" name="Shape 38"/>
          <p:cNvSpPr/>
          <p:nvPr/>
        </p:nvSpPr>
        <p:spPr>
          <a:xfrm>
            <a:off x="4660392" y="1691640"/>
            <a:ext cx="0" cy="3749040"/>
          </a:xfrm>
          <a:prstGeom prst="line">
            <a:avLst/>
          </a:prstGeom>
          <a:noFill/>
          <a:ln w="12700">
            <a:solidFill>
              <a:srgbClr val="4BB3C3"/>
            </a:solidFill>
            <a:prstDash val="dash"/>
          </a:ln>
        </p:spPr>
      </p:sp>
      <p:sp>
        <p:nvSpPr>
          <p:cNvPr id="41" name="Shape 39"/>
          <p:cNvSpPr/>
          <p:nvPr/>
        </p:nvSpPr>
        <p:spPr>
          <a:xfrm>
            <a:off x="1051560" y="5138928"/>
            <a:ext cx="914400" cy="274320"/>
          </a:xfrm>
          <a:prstGeom prst="roundRect">
            <a:avLst>
              <a:gd name="adj" fmla="val 50000"/>
            </a:avLst>
          </a:prstGeom>
          <a:solidFill>
            <a:srgbClr val="1D6FA5"/>
          </a:solidFill>
          <a:ln w="12700">
            <a:solidFill>
              <a:srgbClr val="1D6FA5"/>
            </a:solidFill>
            <a:prstDash val="solid"/>
          </a:ln>
        </p:spPr>
      </p:sp>
      <p:sp>
        <p:nvSpPr>
          <p:cNvPr id="42" name="Text 40"/>
          <p:cNvSpPr txBox="1"/>
          <p:nvPr/>
        </p:nvSpPr>
        <p:spPr>
          <a:xfrm>
            <a:off x="1051560" y="5138928"/>
            <a:ext cx="914400"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a:t>
            </a:r>
            <a:endParaRPr lang="en-US" sz="1000" dirty="0"/>
          </a:p>
        </p:txBody>
      </p:sp>
      <p:sp>
        <p:nvSpPr>
          <p:cNvPr id="43" name="Shape 41"/>
          <p:cNvSpPr/>
          <p:nvPr/>
        </p:nvSpPr>
        <p:spPr>
          <a:xfrm>
            <a:off x="3017520" y="5138928"/>
            <a:ext cx="1097280" cy="274320"/>
          </a:xfrm>
          <a:prstGeom prst="roundRect">
            <a:avLst>
              <a:gd name="adj" fmla="val 50000"/>
            </a:avLst>
          </a:prstGeom>
          <a:solidFill>
            <a:srgbClr val="4BB3C3"/>
          </a:solidFill>
          <a:ln w="12700">
            <a:solidFill>
              <a:srgbClr val="4BB3C3"/>
            </a:solidFill>
            <a:prstDash val="solid"/>
          </a:ln>
        </p:spPr>
      </p:sp>
      <p:sp>
        <p:nvSpPr>
          <p:cNvPr id="44" name="Text 42"/>
          <p:cNvSpPr txBox="1"/>
          <p:nvPr/>
        </p:nvSpPr>
        <p:spPr>
          <a:xfrm>
            <a:off x="3017520" y="5138928"/>
            <a:ext cx="1097280"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B</a:t>
            </a:r>
            <a:endParaRPr lang="en-US" sz="1000" dirty="0"/>
          </a:p>
        </p:txBody>
      </p:sp>
      <p:sp>
        <p:nvSpPr>
          <p:cNvPr id="45" name="Shape 43"/>
          <p:cNvSpPr/>
          <p:nvPr/>
        </p:nvSpPr>
        <p:spPr>
          <a:xfrm>
            <a:off x="5733288" y="5138928"/>
            <a:ext cx="1097280" cy="274320"/>
          </a:xfrm>
          <a:prstGeom prst="roundRect">
            <a:avLst>
              <a:gd name="adj" fmla="val 50000"/>
            </a:avLst>
          </a:prstGeom>
          <a:solidFill>
            <a:srgbClr val="E8EDF2"/>
          </a:solidFill>
          <a:ln w="12700">
            <a:solidFill>
              <a:srgbClr val="E8EDF2"/>
            </a:solidFill>
            <a:prstDash val="solid"/>
          </a:ln>
        </p:spPr>
      </p:sp>
      <p:sp>
        <p:nvSpPr>
          <p:cNvPr id="46" name="Text 44"/>
          <p:cNvSpPr txBox="1"/>
          <p:nvPr/>
        </p:nvSpPr>
        <p:spPr>
          <a:xfrm>
            <a:off x="5733288" y="5138928"/>
            <a:ext cx="1097280" cy="274320"/>
          </a:xfrm>
          <a:prstGeom prst="rect">
            <a:avLst/>
          </a:prstGeom>
          <a:noFill/>
          <a:ln/>
        </p:spPr>
        <p:txBody>
          <a:bodyPr wrap="square" lIns="0" tIns="0" rIns="0" bIns="0" rtlCol="0" anchor="ctr">
            <a:normAutofit/>
          </a:bodyPr>
          <a:lstStyle/>
          <a:p>
            <a:pPr algn="ctr" indent="0" marL="0">
              <a:buNone/>
            </a:pPr>
            <a:r>
              <a:rPr lang="en-US" sz="1000" b="1" dirty="0">
                <a:solidFill>
                  <a:srgbClr val="0B1F33"/>
                </a:solidFill>
                <a:latin typeface="Aptos" pitchFamily="34" charset="0"/>
                <a:ea typeface="Aptos" pitchFamily="34" charset="-122"/>
                <a:cs typeface="Aptos" pitchFamily="34" charset="-120"/>
              </a:rPr>
              <a:t>C</a:t>
            </a:r>
            <a:endParaRPr lang="en-US" sz="1000" dirty="0"/>
          </a:p>
        </p:txBody>
      </p:sp>
      <p:sp>
        <p:nvSpPr>
          <p:cNvPr id="47" name="Shape 45"/>
          <p:cNvSpPr/>
          <p:nvPr/>
        </p:nvSpPr>
        <p:spPr>
          <a:xfrm>
            <a:off x="8458200" y="1691640"/>
            <a:ext cx="3154680" cy="3749040"/>
          </a:xfrm>
          <a:prstGeom prst="roundRect">
            <a:avLst>
              <a:gd name="adj" fmla="val 3478"/>
            </a:avLst>
          </a:prstGeom>
          <a:solidFill>
            <a:srgbClr val="FFFFFF"/>
          </a:solidFill>
          <a:ln w="12700">
            <a:solidFill>
              <a:srgbClr val="E8EDF2"/>
            </a:solidFill>
            <a:prstDash val="solid"/>
          </a:ln>
        </p:spPr>
      </p:sp>
      <p:sp>
        <p:nvSpPr>
          <p:cNvPr id="48" name="Text 46"/>
          <p:cNvSpPr txBox="1"/>
          <p:nvPr/>
        </p:nvSpPr>
        <p:spPr>
          <a:xfrm>
            <a:off x="8732520" y="1938528"/>
            <a:ext cx="2651760" cy="320040"/>
          </a:xfrm>
          <a:prstGeom prst="rect">
            <a:avLst/>
          </a:prstGeom>
          <a:noFill/>
          <a:ln/>
        </p:spPr>
        <p:txBody>
          <a:bodyPr wrap="square" lIns="0" tIns="0" rIns="0" bIns="0" rtlCol="0" anchor="ctr">
            <a:normAutofit/>
          </a:bodyPr>
          <a:lstStyle/>
          <a:p>
            <a:pPr algn="l" indent="0" marL="0">
              <a:buNone/>
            </a:pPr>
            <a:r>
              <a:rPr lang="en-US" sz="1700" b="1" dirty="0">
                <a:solidFill>
                  <a:srgbClr val="0B1F33"/>
                </a:solidFill>
                <a:latin typeface="Aptos" pitchFamily="34" charset="0"/>
                <a:ea typeface="Aptos" pitchFamily="34" charset="-122"/>
                <a:cs typeface="Aptos" pitchFamily="34" charset="-120"/>
              </a:rPr>
              <a:t>Governance implication</a:t>
            </a:r>
            <a:endParaRPr lang="en-US" sz="1700" dirty="0"/>
          </a:p>
        </p:txBody>
      </p:sp>
      <p:sp>
        <p:nvSpPr>
          <p:cNvPr id="49" name="Text 47"/>
          <p:cNvSpPr txBox="1"/>
          <p:nvPr/>
        </p:nvSpPr>
        <p:spPr>
          <a:xfrm>
            <a:off x="8732520" y="2487168"/>
            <a:ext cx="320040" cy="256032"/>
          </a:xfrm>
          <a:prstGeom prst="rect">
            <a:avLst/>
          </a:prstGeom>
          <a:noFill/>
          <a:ln/>
        </p:spPr>
        <p:txBody>
          <a:bodyPr wrap="square" lIns="0" tIns="0" rIns="0" bIns="0" rtlCol="0" anchor="ctr">
            <a:normAutofit/>
          </a:bodyPr>
          <a:lstStyle/>
          <a:p>
            <a:pPr algn="l" indent="0" marL="0">
              <a:buNone/>
            </a:pPr>
            <a:r>
              <a:rPr lang="en-US" sz="1600" b="1" dirty="0">
                <a:solidFill>
                  <a:srgbClr val="1D6FA5"/>
                </a:solidFill>
                <a:latin typeface="Aptos" pitchFamily="34" charset="0"/>
                <a:ea typeface="Aptos" pitchFamily="34" charset="-122"/>
                <a:cs typeface="Aptos" pitchFamily="34" charset="-120"/>
              </a:rPr>
              <a:t>A</a:t>
            </a:r>
            <a:endParaRPr lang="en-US" sz="1600" dirty="0"/>
          </a:p>
        </p:txBody>
      </p:sp>
      <p:sp>
        <p:nvSpPr>
          <p:cNvPr id="50" name="Text 48"/>
          <p:cNvSpPr txBox="1"/>
          <p:nvPr/>
        </p:nvSpPr>
        <p:spPr>
          <a:xfrm>
            <a:off x="9144000" y="2450592"/>
            <a:ext cx="2057400" cy="502920"/>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tight records, frequent review, senior attention</a:t>
            </a:r>
            <a:endParaRPr lang="en-US" sz="1250" dirty="0"/>
          </a:p>
        </p:txBody>
      </p:sp>
      <p:sp>
        <p:nvSpPr>
          <p:cNvPr id="51" name="Text 49"/>
          <p:cNvSpPr txBox="1"/>
          <p:nvPr/>
        </p:nvSpPr>
        <p:spPr>
          <a:xfrm>
            <a:off x="8732520" y="3246120"/>
            <a:ext cx="320040" cy="256032"/>
          </a:xfrm>
          <a:prstGeom prst="rect">
            <a:avLst/>
          </a:prstGeom>
          <a:noFill/>
          <a:ln/>
        </p:spPr>
        <p:txBody>
          <a:bodyPr wrap="square" lIns="0" tIns="0" rIns="0" bIns="0" rtlCol="0" anchor="ctr">
            <a:normAutofit/>
          </a:bodyPr>
          <a:lstStyle/>
          <a:p>
            <a:pPr algn="l" indent="0" marL="0">
              <a:buNone/>
            </a:pPr>
            <a:r>
              <a:rPr lang="en-US" sz="1600" b="1" dirty="0">
                <a:solidFill>
                  <a:srgbClr val="4BB3C3"/>
                </a:solidFill>
                <a:latin typeface="Aptos" pitchFamily="34" charset="0"/>
                <a:ea typeface="Aptos" pitchFamily="34" charset="-122"/>
                <a:cs typeface="Aptos" pitchFamily="34" charset="-120"/>
              </a:rPr>
              <a:t>B</a:t>
            </a:r>
            <a:endParaRPr lang="en-US" sz="1600" dirty="0"/>
          </a:p>
        </p:txBody>
      </p:sp>
      <p:sp>
        <p:nvSpPr>
          <p:cNvPr id="52" name="Text 50"/>
          <p:cNvSpPr txBox="1"/>
          <p:nvPr/>
        </p:nvSpPr>
        <p:spPr>
          <a:xfrm>
            <a:off x="9144000" y="3209544"/>
            <a:ext cx="2057400" cy="502920"/>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standard controls, exception review</a:t>
            </a:r>
            <a:endParaRPr lang="en-US" sz="1250" dirty="0"/>
          </a:p>
        </p:txBody>
      </p:sp>
      <p:sp>
        <p:nvSpPr>
          <p:cNvPr id="53" name="Text 51"/>
          <p:cNvSpPr txBox="1"/>
          <p:nvPr/>
        </p:nvSpPr>
        <p:spPr>
          <a:xfrm>
            <a:off x="8732520" y="4005072"/>
            <a:ext cx="320040" cy="256032"/>
          </a:xfrm>
          <a:prstGeom prst="rect">
            <a:avLst/>
          </a:prstGeom>
          <a:noFill/>
          <a:ln/>
        </p:spPr>
        <p:txBody>
          <a:bodyPr wrap="square" lIns="0" tIns="0" rIns="0" bIns="0" rtlCol="0" anchor="ctr">
            <a:normAutofit/>
          </a:bodyPr>
          <a:lstStyle/>
          <a:p>
            <a:pPr algn="l" indent="0" marL="0">
              <a:buNone/>
            </a:pPr>
            <a:r>
              <a:rPr lang="en-US" sz="1600" b="1" dirty="0">
                <a:solidFill>
                  <a:srgbClr val="9AA6B2"/>
                </a:solidFill>
                <a:latin typeface="Aptos" pitchFamily="34" charset="0"/>
                <a:ea typeface="Aptos" pitchFamily="34" charset="-122"/>
                <a:cs typeface="Aptos" pitchFamily="34" charset="-120"/>
              </a:rPr>
              <a:t>C</a:t>
            </a:r>
            <a:endParaRPr lang="en-US" sz="1600" dirty="0"/>
          </a:p>
        </p:txBody>
      </p:sp>
      <p:sp>
        <p:nvSpPr>
          <p:cNvPr id="54" name="Text 52"/>
          <p:cNvSpPr txBox="1"/>
          <p:nvPr/>
        </p:nvSpPr>
        <p:spPr>
          <a:xfrm>
            <a:off x="9144000" y="3968496"/>
            <a:ext cx="2057400" cy="502920"/>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simple controls, low transaction effort</a:t>
            </a:r>
            <a:endParaRPr lang="en-US" sz="1250" dirty="0"/>
          </a:p>
        </p:txBody>
      </p:sp>
      <p:sp>
        <p:nvSpPr>
          <p:cNvPr id="55" name="Text 53"/>
          <p:cNvSpPr txBox="1"/>
          <p:nvPr/>
        </p:nvSpPr>
        <p:spPr>
          <a:xfrm>
            <a:off x="8732520" y="4773168"/>
            <a:ext cx="822960" cy="237744"/>
          </a:xfrm>
          <a:prstGeom prst="rect">
            <a:avLst/>
          </a:prstGeom>
          <a:noFill/>
          <a:ln/>
        </p:spPr>
        <p:txBody>
          <a:bodyPr wrap="square" lIns="0" tIns="0" rIns="0" bIns="0" rtlCol="0" anchor="ctr">
            <a:normAutofit/>
          </a:bodyPr>
          <a:lstStyle/>
          <a:p>
            <a:pPr algn="l" indent="0" marL="0">
              <a:buNone/>
            </a:pPr>
            <a:r>
              <a:rPr lang="en-US" sz="1100" b="1" dirty="0">
                <a:solidFill>
                  <a:srgbClr val="D1495B"/>
                </a:solidFill>
                <a:latin typeface="Aptos" pitchFamily="34" charset="0"/>
                <a:ea typeface="Aptos" pitchFamily="34" charset="-122"/>
                <a:cs typeface="Aptos" pitchFamily="34" charset="-120"/>
              </a:rPr>
              <a:t>Watch-out</a:t>
            </a:r>
            <a:endParaRPr lang="en-US" sz="1100" dirty="0"/>
          </a:p>
        </p:txBody>
      </p:sp>
      <p:sp>
        <p:nvSpPr>
          <p:cNvPr id="56" name="Text 54"/>
          <p:cNvSpPr txBox="1"/>
          <p:nvPr/>
        </p:nvSpPr>
        <p:spPr>
          <a:xfrm>
            <a:off x="9555480" y="4736592"/>
            <a:ext cx="1691640" cy="457200"/>
          </a:xfrm>
          <a:prstGeom prst="rect">
            <a:avLst/>
          </a:prstGeom>
          <a:noFill/>
          <a:ln/>
        </p:spPr>
        <p:txBody>
          <a:bodyPr wrap="square" lIns="0" tIns="0" rIns="0" bIns="0" rtlCol="0" anchor="ctr">
            <a:normAutofit/>
          </a:bodyPr>
          <a:lstStyle/>
          <a:p>
            <a:pPr algn="l" indent="0" marL="0">
              <a:buNone/>
            </a:pPr>
            <a:r>
              <a:rPr lang="en-US" sz="1150" dirty="0">
                <a:solidFill>
                  <a:srgbClr val="D1495B"/>
                </a:solidFill>
                <a:latin typeface="Aptos" pitchFamily="34" charset="0"/>
                <a:ea typeface="Aptos" pitchFamily="34" charset="-122"/>
                <a:cs typeface="Aptos" pitchFamily="34" charset="-120"/>
              </a:rPr>
              <a:t>Low-value can still be mission-critical.</a:t>
            </a:r>
            <a:endParaRPr lang="en-US" sz="1150" dirty="0"/>
          </a:p>
        </p:txBody>
      </p:sp>
      <p:sp>
        <p:nvSpPr>
          <p:cNvPr id="57" name="Shape 55"/>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58" name="Text 56"/>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59" name="Text 57"/>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ABC allocates attention by economic exposure—not by operational criticality or demand pattern.</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VED + FSN</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Add consequence and movement to the value lens</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Each classification answers a different question.</a:t>
            </a:r>
            <a:endParaRPr lang="en-US" sz="1350" dirty="0"/>
          </a:p>
        </p:txBody>
      </p:sp>
      <p:sp>
        <p:nvSpPr>
          <p:cNvPr id="5" name="Shape 3"/>
          <p:cNvSpPr/>
          <p:nvPr/>
        </p:nvSpPr>
        <p:spPr>
          <a:xfrm>
            <a:off x="640080" y="1600200"/>
            <a:ext cx="10881360" cy="1097280"/>
          </a:xfrm>
          <a:prstGeom prst="roundRect">
            <a:avLst>
              <a:gd name="adj" fmla="val 8333"/>
            </a:avLst>
          </a:prstGeom>
          <a:solidFill>
            <a:srgbClr val="FFFFFF"/>
          </a:solidFill>
          <a:ln w="12700">
            <a:solidFill>
              <a:srgbClr val="E8EDF2"/>
            </a:solidFill>
            <a:prstDash val="solid"/>
          </a:ln>
        </p:spPr>
      </p:sp>
      <p:sp>
        <p:nvSpPr>
          <p:cNvPr id="6" name="Shape 4"/>
          <p:cNvSpPr/>
          <p:nvPr/>
        </p:nvSpPr>
        <p:spPr>
          <a:xfrm>
            <a:off x="868680" y="1856232"/>
            <a:ext cx="566928" cy="566928"/>
          </a:xfrm>
          <a:prstGeom prst="ellipse">
            <a:avLst/>
          </a:prstGeom>
          <a:solidFill>
            <a:srgbClr val="1D6FA5"/>
          </a:solidFill>
          <a:ln w="12700">
            <a:solidFill>
              <a:srgbClr val="1D6FA5"/>
            </a:solidFill>
            <a:prstDash val="solid"/>
          </a:ln>
        </p:spPr>
      </p:sp>
      <p:sp>
        <p:nvSpPr>
          <p:cNvPr id="7" name="Text 5"/>
          <p:cNvSpPr txBox="1"/>
          <p:nvPr/>
        </p:nvSpPr>
        <p:spPr>
          <a:xfrm>
            <a:off x="868680" y="1856232"/>
            <a:ext cx="566928" cy="566928"/>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A</a:t>
            </a:r>
            <a:endParaRPr lang="en-US" sz="1800" dirty="0"/>
          </a:p>
        </p:txBody>
      </p:sp>
      <p:sp>
        <p:nvSpPr>
          <p:cNvPr id="8" name="Text 6"/>
          <p:cNvSpPr txBox="1"/>
          <p:nvPr/>
        </p:nvSpPr>
        <p:spPr>
          <a:xfrm>
            <a:off x="1627632" y="1764792"/>
            <a:ext cx="914400" cy="274320"/>
          </a:xfrm>
          <a:prstGeom prst="rect">
            <a:avLst/>
          </a:prstGeom>
          <a:noFill/>
          <a:ln/>
        </p:spPr>
        <p:txBody>
          <a:bodyPr wrap="square" lIns="0" tIns="0" rIns="0" bIns="0" rtlCol="0" anchor="ctr">
            <a:normAutofit/>
          </a:bodyPr>
          <a:lstStyle/>
          <a:p>
            <a:pPr algn="l" indent="0" marL="0">
              <a:buNone/>
            </a:pPr>
            <a:r>
              <a:rPr lang="en-US" sz="1700" b="1" dirty="0">
                <a:solidFill>
                  <a:srgbClr val="0B1F33"/>
                </a:solidFill>
                <a:latin typeface="Aptos" pitchFamily="34" charset="0"/>
                <a:ea typeface="Aptos" pitchFamily="34" charset="-122"/>
                <a:cs typeface="Aptos" pitchFamily="34" charset="-120"/>
              </a:rPr>
              <a:t>ABC</a:t>
            </a:r>
            <a:endParaRPr lang="en-US" sz="1700" dirty="0"/>
          </a:p>
        </p:txBody>
      </p:sp>
      <p:sp>
        <p:nvSpPr>
          <p:cNvPr id="9" name="Text 7"/>
          <p:cNvSpPr txBox="1"/>
          <p:nvPr/>
        </p:nvSpPr>
        <p:spPr>
          <a:xfrm>
            <a:off x="2606040" y="1737360"/>
            <a:ext cx="2743200" cy="347472"/>
          </a:xfrm>
          <a:prstGeom prst="rect">
            <a:avLst/>
          </a:prstGeom>
          <a:noFill/>
          <a:ln/>
        </p:spPr>
        <p:txBody>
          <a:bodyPr wrap="square" lIns="0" tIns="0" rIns="0" bIns="0" rtlCol="0" anchor="ctr">
            <a:normAutofit/>
          </a:bodyPr>
          <a:lstStyle/>
          <a:p>
            <a:pPr algn="l" indent="0" marL="0">
              <a:buNone/>
            </a:pPr>
            <a:r>
              <a:rPr lang="en-US" sz="1300" b="1" dirty="0">
                <a:solidFill>
                  <a:srgbClr val="152433"/>
                </a:solidFill>
                <a:latin typeface="Aptos" pitchFamily="34" charset="0"/>
                <a:ea typeface="Aptos" pitchFamily="34" charset="-122"/>
                <a:cs typeface="Aptos" pitchFamily="34" charset="-120"/>
              </a:rPr>
              <a:t>How much economic exposure?</a:t>
            </a:r>
            <a:endParaRPr lang="en-US" sz="1300" dirty="0"/>
          </a:p>
        </p:txBody>
      </p:sp>
      <p:sp>
        <p:nvSpPr>
          <p:cNvPr id="10" name="Text 8"/>
          <p:cNvSpPr txBox="1"/>
          <p:nvPr/>
        </p:nvSpPr>
        <p:spPr>
          <a:xfrm>
            <a:off x="5532120" y="1737360"/>
            <a:ext cx="2331720" cy="347472"/>
          </a:xfrm>
          <a:prstGeom prst="rect">
            <a:avLst/>
          </a:prstGeom>
          <a:noFill/>
          <a:ln/>
        </p:spPr>
        <p:txBody>
          <a:bodyPr wrap="square" lIns="0" tIns="0" rIns="0" bIns="0" rtlCol="0" anchor="ctr">
            <a:normAutofit/>
          </a:bodyPr>
          <a:lstStyle/>
          <a:p>
            <a:pPr algn="l" indent="0" marL="0">
              <a:buNone/>
            </a:pPr>
            <a:r>
              <a:rPr lang="en-US" sz="1250" b="1" dirty="0">
                <a:solidFill>
                  <a:srgbClr val="1D6FA5"/>
                </a:solidFill>
                <a:latin typeface="Aptos" pitchFamily="34" charset="0"/>
                <a:ea typeface="Aptos" pitchFamily="34" charset="-122"/>
                <a:cs typeface="Aptos" pitchFamily="34" charset="-120"/>
              </a:rPr>
              <a:t>Annual consumption value</a:t>
            </a:r>
            <a:endParaRPr lang="en-US" sz="1250" dirty="0"/>
          </a:p>
        </p:txBody>
      </p:sp>
      <p:sp>
        <p:nvSpPr>
          <p:cNvPr id="11" name="Text 9"/>
          <p:cNvSpPr txBox="1"/>
          <p:nvPr/>
        </p:nvSpPr>
        <p:spPr>
          <a:xfrm>
            <a:off x="7955280" y="1709928"/>
            <a:ext cx="3154680" cy="502920"/>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Can miss low-value critical parts</a:t>
            </a:r>
            <a:endParaRPr lang="en-US" sz="1200" dirty="0"/>
          </a:p>
        </p:txBody>
      </p:sp>
      <p:sp>
        <p:nvSpPr>
          <p:cNvPr id="12" name="Shape 10"/>
          <p:cNvSpPr/>
          <p:nvPr/>
        </p:nvSpPr>
        <p:spPr>
          <a:xfrm>
            <a:off x="640080" y="2944368"/>
            <a:ext cx="10881360" cy="1097280"/>
          </a:xfrm>
          <a:prstGeom prst="roundRect">
            <a:avLst>
              <a:gd name="adj" fmla="val 8333"/>
            </a:avLst>
          </a:prstGeom>
          <a:solidFill>
            <a:srgbClr val="FFFFFF"/>
          </a:solidFill>
          <a:ln w="12700">
            <a:solidFill>
              <a:srgbClr val="E8EDF2"/>
            </a:solidFill>
            <a:prstDash val="solid"/>
          </a:ln>
        </p:spPr>
      </p:sp>
      <p:sp>
        <p:nvSpPr>
          <p:cNvPr id="13" name="Shape 11"/>
          <p:cNvSpPr/>
          <p:nvPr/>
        </p:nvSpPr>
        <p:spPr>
          <a:xfrm>
            <a:off x="868680" y="3200400"/>
            <a:ext cx="566928" cy="566928"/>
          </a:xfrm>
          <a:prstGeom prst="ellipse">
            <a:avLst/>
          </a:prstGeom>
          <a:solidFill>
            <a:srgbClr val="D1495B"/>
          </a:solidFill>
          <a:ln w="12700">
            <a:solidFill>
              <a:srgbClr val="D1495B"/>
            </a:solidFill>
            <a:prstDash val="solid"/>
          </a:ln>
        </p:spPr>
      </p:sp>
      <p:sp>
        <p:nvSpPr>
          <p:cNvPr id="14" name="Text 12"/>
          <p:cNvSpPr txBox="1"/>
          <p:nvPr/>
        </p:nvSpPr>
        <p:spPr>
          <a:xfrm>
            <a:off x="868680" y="3200400"/>
            <a:ext cx="566928" cy="566928"/>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V</a:t>
            </a:r>
            <a:endParaRPr lang="en-US" sz="1800" dirty="0"/>
          </a:p>
        </p:txBody>
      </p:sp>
      <p:sp>
        <p:nvSpPr>
          <p:cNvPr id="15" name="Text 13"/>
          <p:cNvSpPr txBox="1"/>
          <p:nvPr/>
        </p:nvSpPr>
        <p:spPr>
          <a:xfrm>
            <a:off x="1627632" y="3108960"/>
            <a:ext cx="914400" cy="274320"/>
          </a:xfrm>
          <a:prstGeom prst="rect">
            <a:avLst/>
          </a:prstGeom>
          <a:noFill/>
          <a:ln/>
        </p:spPr>
        <p:txBody>
          <a:bodyPr wrap="square" lIns="0" tIns="0" rIns="0" bIns="0" rtlCol="0" anchor="ctr">
            <a:normAutofit/>
          </a:bodyPr>
          <a:lstStyle/>
          <a:p>
            <a:pPr algn="l" indent="0" marL="0">
              <a:buNone/>
            </a:pPr>
            <a:r>
              <a:rPr lang="en-US" sz="1700" b="1" dirty="0">
                <a:solidFill>
                  <a:srgbClr val="0B1F33"/>
                </a:solidFill>
                <a:latin typeface="Aptos" pitchFamily="34" charset="0"/>
                <a:ea typeface="Aptos" pitchFamily="34" charset="-122"/>
                <a:cs typeface="Aptos" pitchFamily="34" charset="-120"/>
              </a:rPr>
              <a:t>VED</a:t>
            </a:r>
            <a:endParaRPr lang="en-US" sz="1700" dirty="0"/>
          </a:p>
        </p:txBody>
      </p:sp>
      <p:sp>
        <p:nvSpPr>
          <p:cNvPr id="16" name="Text 14"/>
          <p:cNvSpPr txBox="1"/>
          <p:nvPr/>
        </p:nvSpPr>
        <p:spPr>
          <a:xfrm>
            <a:off x="2606040" y="3081528"/>
            <a:ext cx="2743200" cy="347472"/>
          </a:xfrm>
          <a:prstGeom prst="rect">
            <a:avLst/>
          </a:prstGeom>
          <a:noFill/>
          <a:ln/>
        </p:spPr>
        <p:txBody>
          <a:bodyPr wrap="square" lIns="0" tIns="0" rIns="0" bIns="0" rtlCol="0" anchor="ctr">
            <a:normAutofit/>
          </a:bodyPr>
          <a:lstStyle/>
          <a:p>
            <a:pPr algn="l" indent="0" marL="0">
              <a:buNone/>
            </a:pPr>
            <a:r>
              <a:rPr lang="en-US" sz="1300" b="1" dirty="0">
                <a:solidFill>
                  <a:srgbClr val="152433"/>
                </a:solidFill>
                <a:latin typeface="Aptos" pitchFamily="34" charset="0"/>
                <a:ea typeface="Aptos" pitchFamily="34" charset="-122"/>
                <a:cs typeface="Aptos" pitchFamily="34" charset="-120"/>
              </a:rPr>
              <a:t>What happens if it is unavailable?</a:t>
            </a:r>
            <a:endParaRPr lang="en-US" sz="1300" dirty="0"/>
          </a:p>
        </p:txBody>
      </p:sp>
      <p:sp>
        <p:nvSpPr>
          <p:cNvPr id="17" name="Text 15"/>
          <p:cNvSpPr txBox="1"/>
          <p:nvPr/>
        </p:nvSpPr>
        <p:spPr>
          <a:xfrm>
            <a:off x="5532120" y="3081528"/>
            <a:ext cx="2331720" cy="347472"/>
          </a:xfrm>
          <a:prstGeom prst="rect">
            <a:avLst/>
          </a:prstGeom>
          <a:noFill/>
          <a:ln/>
        </p:spPr>
        <p:txBody>
          <a:bodyPr wrap="square" lIns="0" tIns="0" rIns="0" bIns="0" rtlCol="0" anchor="ctr">
            <a:normAutofit/>
          </a:bodyPr>
          <a:lstStyle/>
          <a:p>
            <a:pPr algn="l" indent="0" marL="0">
              <a:buNone/>
            </a:pPr>
            <a:r>
              <a:rPr lang="en-US" sz="1250" b="1" dirty="0">
                <a:solidFill>
                  <a:srgbClr val="D1495B"/>
                </a:solidFill>
                <a:latin typeface="Aptos" pitchFamily="34" charset="0"/>
                <a:ea typeface="Aptos" pitchFamily="34" charset="-122"/>
                <a:cs typeface="Aptos" pitchFamily="34" charset="-120"/>
              </a:rPr>
              <a:t>Vital • Essential • Desirable</a:t>
            </a:r>
            <a:endParaRPr lang="en-US" sz="1250" dirty="0"/>
          </a:p>
        </p:txBody>
      </p:sp>
      <p:sp>
        <p:nvSpPr>
          <p:cNvPr id="18" name="Text 16"/>
          <p:cNvSpPr txBox="1"/>
          <p:nvPr/>
        </p:nvSpPr>
        <p:spPr>
          <a:xfrm>
            <a:off x="7955280" y="3054096"/>
            <a:ext cx="3154680" cy="502920"/>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Judgment can be political or inconsistent</a:t>
            </a:r>
            <a:endParaRPr lang="en-US" sz="1200" dirty="0"/>
          </a:p>
        </p:txBody>
      </p:sp>
      <p:sp>
        <p:nvSpPr>
          <p:cNvPr id="19" name="Shape 17"/>
          <p:cNvSpPr/>
          <p:nvPr/>
        </p:nvSpPr>
        <p:spPr>
          <a:xfrm>
            <a:off x="640080" y="4288536"/>
            <a:ext cx="10881360" cy="1097280"/>
          </a:xfrm>
          <a:prstGeom prst="roundRect">
            <a:avLst>
              <a:gd name="adj" fmla="val 8333"/>
            </a:avLst>
          </a:prstGeom>
          <a:solidFill>
            <a:srgbClr val="FFFFFF"/>
          </a:solidFill>
          <a:ln w="12700">
            <a:solidFill>
              <a:srgbClr val="E8EDF2"/>
            </a:solidFill>
            <a:prstDash val="solid"/>
          </a:ln>
        </p:spPr>
      </p:sp>
      <p:sp>
        <p:nvSpPr>
          <p:cNvPr id="20" name="Shape 18"/>
          <p:cNvSpPr/>
          <p:nvPr/>
        </p:nvSpPr>
        <p:spPr>
          <a:xfrm>
            <a:off x="868680" y="4544568"/>
            <a:ext cx="566928" cy="566928"/>
          </a:xfrm>
          <a:prstGeom prst="ellipse">
            <a:avLst/>
          </a:prstGeom>
          <a:solidFill>
            <a:srgbClr val="2A9D8F"/>
          </a:solidFill>
          <a:ln w="12700">
            <a:solidFill>
              <a:srgbClr val="2A9D8F"/>
            </a:solidFill>
            <a:prstDash val="solid"/>
          </a:ln>
        </p:spPr>
      </p:sp>
      <p:sp>
        <p:nvSpPr>
          <p:cNvPr id="21" name="Text 19"/>
          <p:cNvSpPr txBox="1"/>
          <p:nvPr/>
        </p:nvSpPr>
        <p:spPr>
          <a:xfrm>
            <a:off x="868680" y="4544568"/>
            <a:ext cx="566928" cy="566928"/>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F</a:t>
            </a:r>
            <a:endParaRPr lang="en-US" sz="1800" dirty="0"/>
          </a:p>
        </p:txBody>
      </p:sp>
      <p:sp>
        <p:nvSpPr>
          <p:cNvPr id="22" name="Text 20"/>
          <p:cNvSpPr txBox="1"/>
          <p:nvPr/>
        </p:nvSpPr>
        <p:spPr>
          <a:xfrm>
            <a:off x="1627632" y="4453128"/>
            <a:ext cx="914400" cy="274320"/>
          </a:xfrm>
          <a:prstGeom prst="rect">
            <a:avLst/>
          </a:prstGeom>
          <a:noFill/>
          <a:ln/>
        </p:spPr>
        <p:txBody>
          <a:bodyPr wrap="square" lIns="0" tIns="0" rIns="0" bIns="0" rtlCol="0" anchor="ctr">
            <a:normAutofit/>
          </a:bodyPr>
          <a:lstStyle/>
          <a:p>
            <a:pPr algn="l" indent="0" marL="0">
              <a:buNone/>
            </a:pPr>
            <a:r>
              <a:rPr lang="en-US" sz="1700" b="1" dirty="0">
                <a:solidFill>
                  <a:srgbClr val="0B1F33"/>
                </a:solidFill>
                <a:latin typeface="Aptos" pitchFamily="34" charset="0"/>
                <a:ea typeface="Aptos" pitchFamily="34" charset="-122"/>
                <a:cs typeface="Aptos" pitchFamily="34" charset="-120"/>
              </a:rPr>
              <a:t>FSN</a:t>
            </a:r>
            <a:endParaRPr lang="en-US" sz="1700" dirty="0"/>
          </a:p>
        </p:txBody>
      </p:sp>
      <p:sp>
        <p:nvSpPr>
          <p:cNvPr id="23" name="Text 21"/>
          <p:cNvSpPr txBox="1"/>
          <p:nvPr/>
        </p:nvSpPr>
        <p:spPr>
          <a:xfrm>
            <a:off x="2606040" y="4425696"/>
            <a:ext cx="2743200" cy="347472"/>
          </a:xfrm>
          <a:prstGeom prst="rect">
            <a:avLst/>
          </a:prstGeom>
          <a:noFill/>
          <a:ln/>
        </p:spPr>
        <p:txBody>
          <a:bodyPr wrap="square" lIns="0" tIns="0" rIns="0" bIns="0" rtlCol="0" anchor="ctr">
            <a:normAutofit/>
          </a:bodyPr>
          <a:lstStyle/>
          <a:p>
            <a:pPr algn="l" indent="0" marL="0">
              <a:buNone/>
            </a:pPr>
            <a:r>
              <a:rPr lang="en-US" sz="1300" b="1" dirty="0">
                <a:solidFill>
                  <a:srgbClr val="152433"/>
                </a:solidFill>
                <a:latin typeface="Aptos" pitchFamily="34" charset="0"/>
                <a:ea typeface="Aptos" pitchFamily="34" charset="-122"/>
                <a:cs typeface="Aptos" pitchFamily="34" charset="-120"/>
              </a:rPr>
              <a:t>How often does it move?</a:t>
            </a:r>
            <a:endParaRPr lang="en-US" sz="1300" dirty="0"/>
          </a:p>
        </p:txBody>
      </p:sp>
      <p:sp>
        <p:nvSpPr>
          <p:cNvPr id="24" name="Text 22"/>
          <p:cNvSpPr txBox="1"/>
          <p:nvPr/>
        </p:nvSpPr>
        <p:spPr>
          <a:xfrm>
            <a:off x="5532120" y="4425696"/>
            <a:ext cx="2331720" cy="347472"/>
          </a:xfrm>
          <a:prstGeom prst="rect">
            <a:avLst/>
          </a:prstGeom>
          <a:noFill/>
          <a:ln/>
        </p:spPr>
        <p:txBody>
          <a:bodyPr wrap="square" lIns="0" tIns="0" rIns="0" bIns="0" rtlCol="0" anchor="ctr">
            <a:normAutofit/>
          </a:bodyPr>
          <a:lstStyle/>
          <a:p>
            <a:pPr algn="l" indent="0" marL="0">
              <a:buNone/>
            </a:pPr>
            <a:r>
              <a:rPr lang="en-US" sz="1250" b="1" dirty="0">
                <a:solidFill>
                  <a:srgbClr val="2A9D8F"/>
                </a:solidFill>
                <a:latin typeface="Aptos" pitchFamily="34" charset="0"/>
                <a:ea typeface="Aptos" pitchFamily="34" charset="-122"/>
                <a:cs typeface="Aptos" pitchFamily="34" charset="-120"/>
              </a:rPr>
              <a:t>Fast • Slow • Non-moving</a:t>
            </a:r>
            <a:endParaRPr lang="en-US" sz="1250" dirty="0"/>
          </a:p>
        </p:txBody>
      </p:sp>
      <p:sp>
        <p:nvSpPr>
          <p:cNvPr id="25" name="Text 23"/>
          <p:cNvSpPr txBox="1"/>
          <p:nvPr/>
        </p:nvSpPr>
        <p:spPr>
          <a:xfrm>
            <a:off x="7955280" y="4398264"/>
            <a:ext cx="3154680" cy="502920"/>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History may lag launches or seasonality</a:t>
            </a:r>
            <a:endParaRPr lang="en-US" sz="1200" dirty="0"/>
          </a:p>
        </p:txBody>
      </p:sp>
      <p:sp>
        <p:nvSpPr>
          <p:cNvPr id="26" name="Text 24"/>
          <p:cNvSpPr txBox="1"/>
          <p:nvPr/>
        </p:nvSpPr>
        <p:spPr>
          <a:xfrm>
            <a:off x="713232" y="5760720"/>
            <a:ext cx="10698480" cy="320040"/>
          </a:xfrm>
          <a:prstGeom prst="rect">
            <a:avLst/>
          </a:prstGeom>
          <a:noFill/>
          <a:ln/>
        </p:spPr>
        <p:txBody>
          <a:bodyPr wrap="square" lIns="0" tIns="0" rIns="0" bIns="0" rtlCol="0" anchor="ctr">
            <a:normAutofit/>
          </a:bodyPr>
          <a:lstStyle/>
          <a:p>
            <a:pPr algn="ctr" indent="0" marL="0">
              <a:buNone/>
            </a:pPr>
            <a:r>
              <a:rPr lang="en-US" sz="1800" b="1" dirty="0">
                <a:solidFill>
                  <a:srgbClr val="0B1F33"/>
                </a:solidFill>
                <a:latin typeface="Aptos" pitchFamily="34" charset="0"/>
                <a:ea typeface="Aptos" pitchFamily="34" charset="-122"/>
                <a:cs typeface="Aptos" pitchFamily="34" charset="-120"/>
              </a:rPr>
              <a:t>A complete policy sees value, consequence, and demand behavior together.</a:t>
            </a:r>
            <a:endParaRPr lang="en-US" sz="180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PORTFOLIO JUDGMENT</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Which items deserve the tightest control—and why?</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Think–pair–share • 90 seconds think + 60 seconds discuss</a:t>
            </a:r>
            <a:endParaRPr lang="en-US" sz="1350" dirty="0"/>
          </a:p>
        </p:txBody>
      </p:sp>
      <p:sp>
        <p:nvSpPr>
          <p:cNvPr id="5" name="Shape 3"/>
          <p:cNvSpPr/>
          <p:nvPr/>
        </p:nvSpPr>
        <p:spPr>
          <a:xfrm>
            <a:off x="621792" y="1600200"/>
            <a:ext cx="5303520" cy="1051560"/>
          </a:xfrm>
          <a:prstGeom prst="roundRect">
            <a:avLst>
              <a:gd name="adj" fmla="val 8696"/>
            </a:avLst>
          </a:prstGeom>
          <a:solidFill>
            <a:srgbClr val="FFFFFF"/>
          </a:solidFill>
          <a:ln w="12700">
            <a:solidFill>
              <a:srgbClr val="E8EDF2"/>
            </a:solidFill>
            <a:prstDash val="solid"/>
          </a:ln>
        </p:spPr>
      </p:sp>
      <p:sp>
        <p:nvSpPr>
          <p:cNvPr id="6" name="Shape 4"/>
          <p:cNvSpPr/>
          <p:nvPr/>
        </p:nvSpPr>
        <p:spPr>
          <a:xfrm>
            <a:off x="804672" y="1819656"/>
            <a:ext cx="566928" cy="566928"/>
          </a:xfrm>
          <a:prstGeom prst="ellipse">
            <a:avLst/>
          </a:prstGeom>
          <a:solidFill>
            <a:srgbClr val="D1495B"/>
          </a:solidFill>
          <a:ln w="12700">
            <a:solidFill>
              <a:srgbClr val="D1495B"/>
            </a:solidFill>
            <a:prstDash val="solid"/>
          </a:ln>
        </p:spPr>
      </p:sp>
      <p:sp>
        <p:nvSpPr>
          <p:cNvPr id="7" name="Text 5"/>
          <p:cNvSpPr txBox="1"/>
          <p:nvPr/>
        </p:nvSpPr>
        <p:spPr>
          <a:xfrm>
            <a:off x="804672" y="1819656"/>
            <a:ext cx="566928" cy="56692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P1</a:t>
            </a:r>
            <a:endParaRPr lang="en-US" sz="1100" dirty="0"/>
          </a:p>
        </p:txBody>
      </p:sp>
      <p:sp>
        <p:nvSpPr>
          <p:cNvPr id="8" name="Text 6"/>
          <p:cNvSpPr txBox="1"/>
          <p:nvPr/>
        </p:nvSpPr>
        <p:spPr>
          <a:xfrm>
            <a:off x="1536192" y="1764792"/>
            <a:ext cx="2103120" cy="310896"/>
          </a:xfrm>
          <a:prstGeom prst="rect">
            <a:avLst/>
          </a:prstGeom>
          <a:noFill/>
          <a:ln/>
        </p:spPr>
        <p:txBody>
          <a:bodyPr wrap="square" lIns="0" tIns="0" rIns="0" bIns="0" rtlCol="0" anchor="ctr">
            <a:normAutofit/>
          </a:bodyPr>
          <a:lstStyle/>
          <a:p>
            <a:pPr algn="l" indent="0" marL="0">
              <a:buNone/>
            </a:pPr>
            <a:r>
              <a:rPr lang="en-US" sz="1600" b="1" dirty="0">
                <a:solidFill>
                  <a:srgbClr val="0B1F33"/>
                </a:solidFill>
                <a:latin typeface="Aptos" pitchFamily="34" charset="0"/>
                <a:ea typeface="Aptos" pitchFamily="34" charset="-122"/>
                <a:cs typeface="Aptos" pitchFamily="34" charset="-120"/>
              </a:rPr>
              <a:t>$900 controller</a:t>
            </a:r>
            <a:endParaRPr lang="en-US" sz="1600" dirty="0"/>
          </a:p>
        </p:txBody>
      </p:sp>
      <p:sp>
        <p:nvSpPr>
          <p:cNvPr id="9" name="Shape 7"/>
          <p:cNvSpPr/>
          <p:nvPr/>
        </p:nvSpPr>
        <p:spPr>
          <a:xfrm>
            <a:off x="3776472" y="1801368"/>
            <a:ext cx="1737360" cy="274320"/>
          </a:xfrm>
          <a:prstGeom prst="roundRect">
            <a:avLst>
              <a:gd name="adj" fmla="val 50000"/>
            </a:avLst>
          </a:prstGeom>
          <a:solidFill>
            <a:srgbClr val="FBEAEC"/>
          </a:solidFill>
          <a:ln w="12700">
            <a:solidFill>
              <a:srgbClr val="FBEAEC"/>
            </a:solidFill>
            <a:prstDash val="solid"/>
          </a:ln>
        </p:spPr>
      </p:sp>
      <p:sp>
        <p:nvSpPr>
          <p:cNvPr id="10" name="Text 8"/>
          <p:cNvSpPr txBox="1"/>
          <p:nvPr/>
        </p:nvSpPr>
        <p:spPr>
          <a:xfrm>
            <a:off x="3776472" y="1801368"/>
            <a:ext cx="1737360" cy="274320"/>
          </a:xfrm>
          <a:prstGeom prst="rect">
            <a:avLst/>
          </a:prstGeom>
          <a:noFill/>
          <a:ln/>
        </p:spPr>
        <p:txBody>
          <a:bodyPr wrap="square" lIns="0" tIns="0" rIns="0" bIns="0" rtlCol="0" anchor="ctr">
            <a:normAutofit/>
          </a:bodyPr>
          <a:lstStyle/>
          <a:p>
            <a:pPr algn="ctr" indent="0" marL="0">
              <a:buNone/>
            </a:pPr>
            <a:r>
              <a:rPr lang="en-US" sz="1000" b="1" dirty="0">
                <a:solidFill>
                  <a:srgbClr val="D1495B"/>
                </a:solidFill>
                <a:latin typeface="Aptos" pitchFamily="34" charset="0"/>
                <a:ea typeface="Aptos" pitchFamily="34" charset="-122"/>
                <a:cs typeface="Aptos" pitchFamily="34" charset="-120"/>
              </a:rPr>
              <a:t>A • Vital • Fast</a:t>
            </a:r>
            <a:endParaRPr lang="en-US" sz="1000" dirty="0"/>
          </a:p>
        </p:txBody>
      </p:sp>
      <p:sp>
        <p:nvSpPr>
          <p:cNvPr id="11" name="Text 9"/>
          <p:cNvSpPr txBox="1"/>
          <p:nvPr/>
        </p:nvSpPr>
        <p:spPr>
          <a:xfrm>
            <a:off x="1536192" y="2167128"/>
            <a:ext cx="3840480" cy="256032"/>
          </a:xfrm>
          <a:prstGeom prst="rect">
            <a:avLst/>
          </a:prstGeom>
          <a:noFill/>
          <a:ln/>
        </p:spPr>
        <p:txBody>
          <a:bodyPr wrap="square" lIns="0" tIns="0" rIns="0" bIns="0" rtlCol="0" anchor="ctr">
            <a:normAutofit/>
          </a:bodyPr>
          <a:lstStyle/>
          <a:p>
            <a:pPr algn="l" indent="0" marL="0">
              <a:buNone/>
            </a:pPr>
            <a:r>
              <a:rPr lang="en-US" sz="1150" dirty="0">
                <a:solidFill>
                  <a:srgbClr val="6B7785"/>
                </a:solidFill>
                <a:latin typeface="Aptos" pitchFamily="34" charset="0"/>
                <a:ea typeface="Aptos" pitchFamily="34" charset="-122"/>
                <a:cs typeface="Aptos" pitchFamily="34" charset="-120"/>
              </a:rPr>
              <a:t>What control intensity? What service logic?</a:t>
            </a:r>
            <a:endParaRPr lang="en-US" sz="1150" dirty="0"/>
          </a:p>
        </p:txBody>
      </p:sp>
      <p:sp>
        <p:nvSpPr>
          <p:cNvPr id="12" name="Shape 10"/>
          <p:cNvSpPr/>
          <p:nvPr/>
        </p:nvSpPr>
        <p:spPr>
          <a:xfrm>
            <a:off x="6199632" y="1600200"/>
            <a:ext cx="5303520" cy="1051560"/>
          </a:xfrm>
          <a:prstGeom prst="roundRect">
            <a:avLst>
              <a:gd name="adj" fmla="val 8696"/>
            </a:avLst>
          </a:prstGeom>
          <a:solidFill>
            <a:srgbClr val="FFFFFF"/>
          </a:solidFill>
          <a:ln w="12700">
            <a:solidFill>
              <a:srgbClr val="E8EDF2"/>
            </a:solidFill>
            <a:prstDash val="solid"/>
          </a:ln>
        </p:spPr>
      </p:sp>
      <p:sp>
        <p:nvSpPr>
          <p:cNvPr id="13" name="Shape 11"/>
          <p:cNvSpPr/>
          <p:nvPr/>
        </p:nvSpPr>
        <p:spPr>
          <a:xfrm>
            <a:off x="6382512" y="1819656"/>
            <a:ext cx="566928" cy="566928"/>
          </a:xfrm>
          <a:prstGeom prst="ellipse">
            <a:avLst/>
          </a:prstGeom>
          <a:solidFill>
            <a:srgbClr val="F28E2B"/>
          </a:solidFill>
          <a:ln w="12700">
            <a:solidFill>
              <a:srgbClr val="F28E2B"/>
            </a:solidFill>
            <a:prstDash val="solid"/>
          </a:ln>
        </p:spPr>
      </p:sp>
      <p:sp>
        <p:nvSpPr>
          <p:cNvPr id="14" name="Text 12"/>
          <p:cNvSpPr txBox="1"/>
          <p:nvPr/>
        </p:nvSpPr>
        <p:spPr>
          <a:xfrm>
            <a:off x="6382512" y="1819656"/>
            <a:ext cx="566928" cy="56692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P2</a:t>
            </a:r>
            <a:endParaRPr lang="en-US" sz="1100" dirty="0"/>
          </a:p>
        </p:txBody>
      </p:sp>
      <p:sp>
        <p:nvSpPr>
          <p:cNvPr id="15" name="Text 13"/>
          <p:cNvSpPr txBox="1"/>
          <p:nvPr/>
        </p:nvSpPr>
        <p:spPr>
          <a:xfrm>
            <a:off x="7114032" y="1764792"/>
            <a:ext cx="2103120" cy="310896"/>
          </a:xfrm>
          <a:prstGeom prst="rect">
            <a:avLst/>
          </a:prstGeom>
          <a:noFill/>
          <a:ln/>
        </p:spPr>
        <p:txBody>
          <a:bodyPr wrap="square" lIns="0" tIns="0" rIns="0" bIns="0" rtlCol="0" anchor="ctr">
            <a:normAutofit/>
          </a:bodyPr>
          <a:lstStyle/>
          <a:p>
            <a:pPr algn="l" indent="0" marL="0">
              <a:buNone/>
            </a:pPr>
            <a:r>
              <a:rPr lang="en-US" sz="1600" b="1" dirty="0">
                <a:solidFill>
                  <a:srgbClr val="0B1F33"/>
                </a:solidFill>
                <a:latin typeface="Aptos" pitchFamily="34" charset="0"/>
                <a:ea typeface="Aptos" pitchFamily="34" charset="-122"/>
                <a:cs typeface="Aptos" pitchFamily="34" charset="-120"/>
              </a:rPr>
              <a:t>$2 gasket</a:t>
            </a:r>
            <a:endParaRPr lang="en-US" sz="1600" dirty="0"/>
          </a:p>
        </p:txBody>
      </p:sp>
      <p:sp>
        <p:nvSpPr>
          <p:cNvPr id="16" name="Shape 14"/>
          <p:cNvSpPr/>
          <p:nvPr/>
        </p:nvSpPr>
        <p:spPr>
          <a:xfrm>
            <a:off x="9354312" y="1801368"/>
            <a:ext cx="1737360" cy="274320"/>
          </a:xfrm>
          <a:prstGeom prst="roundRect">
            <a:avLst>
              <a:gd name="adj" fmla="val 50000"/>
            </a:avLst>
          </a:prstGeom>
          <a:solidFill>
            <a:srgbClr val="FFF1E3"/>
          </a:solidFill>
          <a:ln w="12700">
            <a:solidFill>
              <a:srgbClr val="FFF1E3"/>
            </a:solidFill>
            <a:prstDash val="solid"/>
          </a:ln>
        </p:spPr>
      </p:sp>
      <p:sp>
        <p:nvSpPr>
          <p:cNvPr id="17" name="Text 15"/>
          <p:cNvSpPr txBox="1"/>
          <p:nvPr/>
        </p:nvSpPr>
        <p:spPr>
          <a:xfrm>
            <a:off x="9354312" y="1801368"/>
            <a:ext cx="1737360" cy="274320"/>
          </a:xfrm>
          <a:prstGeom prst="rect">
            <a:avLst/>
          </a:prstGeom>
          <a:noFill/>
          <a:ln/>
        </p:spPr>
        <p:txBody>
          <a:bodyPr wrap="square" lIns="0" tIns="0" rIns="0" bIns="0" rtlCol="0" anchor="ctr">
            <a:normAutofit/>
          </a:bodyPr>
          <a:lstStyle/>
          <a:p>
            <a:pPr algn="ctr" indent="0" marL="0">
              <a:buNone/>
            </a:pPr>
            <a:r>
              <a:rPr lang="en-US" sz="1000" b="1" dirty="0">
                <a:solidFill>
                  <a:srgbClr val="F28E2B"/>
                </a:solidFill>
                <a:latin typeface="Aptos" pitchFamily="34" charset="0"/>
                <a:ea typeface="Aptos" pitchFamily="34" charset="-122"/>
                <a:cs typeface="Aptos" pitchFamily="34" charset="-120"/>
              </a:rPr>
              <a:t>C • Vital • Slow</a:t>
            </a:r>
            <a:endParaRPr lang="en-US" sz="1000" dirty="0"/>
          </a:p>
        </p:txBody>
      </p:sp>
      <p:sp>
        <p:nvSpPr>
          <p:cNvPr id="18" name="Text 16"/>
          <p:cNvSpPr txBox="1"/>
          <p:nvPr/>
        </p:nvSpPr>
        <p:spPr>
          <a:xfrm>
            <a:off x="7114032" y="2167128"/>
            <a:ext cx="3840480" cy="256032"/>
          </a:xfrm>
          <a:prstGeom prst="rect">
            <a:avLst/>
          </a:prstGeom>
          <a:noFill/>
          <a:ln/>
        </p:spPr>
        <p:txBody>
          <a:bodyPr wrap="square" lIns="0" tIns="0" rIns="0" bIns="0" rtlCol="0" anchor="ctr">
            <a:normAutofit/>
          </a:bodyPr>
          <a:lstStyle/>
          <a:p>
            <a:pPr algn="l" indent="0" marL="0">
              <a:buNone/>
            </a:pPr>
            <a:r>
              <a:rPr lang="en-US" sz="1150" dirty="0">
                <a:solidFill>
                  <a:srgbClr val="6B7785"/>
                </a:solidFill>
                <a:latin typeface="Aptos" pitchFamily="34" charset="0"/>
                <a:ea typeface="Aptos" pitchFamily="34" charset="-122"/>
                <a:cs typeface="Aptos" pitchFamily="34" charset="-120"/>
              </a:rPr>
              <a:t>What control intensity? What service logic?</a:t>
            </a:r>
            <a:endParaRPr lang="en-US" sz="1150" dirty="0"/>
          </a:p>
        </p:txBody>
      </p:sp>
      <p:sp>
        <p:nvSpPr>
          <p:cNvPr id="19" name="Shape 17"/>
          <p:cNvSpPr/>
          <p:nvPr/>
        </p:nvSpPr>
        <p:spPr>
          <a:xfrm>
            <a:off x="621792" y="2898648"/>
            <a:ext cx="5303520" cy="1051560"/>
          </a:xfrm>
          <a:prstGeom prst="roundRect">
            <a:avLst>
              <a:gd name="adj" fmla="val 8696"/>
            </a:avLst>
          </a:prstGeom>
          <a:solidFill>
            <a:srgbClr val="FFFFFF"/>
          </a:solidFill>
          <a:ln w="12700">
            <a:solidFill>
              <a:srgbClr val="E8EDF2"/>
            </a:solidFill>
            <a:prstDash val="solid"/>
          </a:ln>
        </p:spPr>
      </p:sp>
      <p:sp>
        <p:nvSpPr>
          <p:cNvPr id="20" name="Shape 18"/>
          <p:cNvSpPr/>
          <p:nvPr/>
        </p:nvSpPr>
        <p:spPr>
          <a:xfrm>
            <a:off x="804672" y="3118104"/>
            <a:ext cx="566928" cy="566928"/>
          </a:xfrm>
          <a:prstGeom prst="ellipse">
            <a:avLst/>
          </a:prstGeom>
          <a:solidFill>
            <a:srgbClr val="2A9D8F"/>
          </a:solidFill>
          <a:ln w="12700">
            <a:solidFill>
              <a:srgbClr val="2A9D8F"/>
            </a:solidFill>
            <a:prstDash val="solid"/>
          </a:ln>
        </p:spPr>
      </p:sp>
      <p:sp>
        <p:nvSpPr>
          <p:cNvPr id="21" name="Text 19"/>
          <p:cNvSpPr txBox="1"/>
          <p:nvPr/>
        </p:nvSpPr>
        <p:spPr>
          <a:xfrm>
            <a:off x="804672" y="3118104"/>
            <a:ext cx="566928" cy="56692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P3</a:t>
            </a:r>
            <a:endParaRPr lang="en-US" sz="1100" dirty="0"/>
          </a:p>
        </p:txBody>
      </p:sp>
      <p:sp>
        <p:nvSpPr>
          <p:cNvPr id="22" name="Text 20"/>
          <p:cNvSpPr txBox="1"/>
          <p:nvPr/>
        </p:nvSpPr>
        <p:spPr>
          <a:xfrm>
            <a:off x="1536192" y="3063240"/>
            <a:ext cx="2103120" cy="310896"/>
          </a:xfrm>
          <a:prstGeom prst="rect">
            <a:avLst/>
          </a:prstGeom>
          <a:noFill/>
          <a:ln/>
        </p:spPr>
        <p:txBody>
          <a:bodyPr wrap="square" lIns="0" tIns="0" rIns="0" bIns="0" rtlCol="0" anchor="ctr">
            <a:normAutofit/>
          </a:bodyPr>
          <a:lstStyle/>
          <a:p>
            <a:pPr algn="l" indent="0" marL="0">
              <a:buNone/>
            </a:pPr>
            <a:r>
              <a:rPr lang="en-US" sz="1600" b="1" dirty="0">
                <a:solidFill>
                  <a:srgbClr val="0B1F33"/>
                </a:solidFill>
                <a:latin typeface="Aptos" pitchFamily="34" charset="0"/>
                <a:ea typeface="Aptos" pitchFamily="34" charset="-122"/>
                <a:cs typeface="Aptos" pitchFamily="34" charset="-120"/>
              </a:rPr>
              <a:t>$18 cable</a:t>
            </a:r>
            <a:endParaRPr lang="en-US" sz="1600" dirty="0"/>
          </a:p>
        </p:txBody>
      </p:sp>
      <p:sp>
        <p:nvSpPr>
          <p:cNvPr id="23" name="Shape 21"/>
          <p:cNvSpPr/>
          <p:nvPr/>
        </p:nvSpPr>
        <p:spPr>
          <a:xfrm>
            <a:off x="3776472" y="3099816"/>
            <a:ext cx="1737360" cy="274320"/>
          </a:xfrm>
          <a:prstGeom prst="roundRect">
            <a:avLst>
              <a:gd name="adj" fmla="val 50000"/>
            </a:avLst>
          </a:prstGeom>
          <a:solidFill>
            <a:srgbClr val="E7F5F2"/>
          </a:solidFill>
          <a:ln w="12700">
            <a:solidFill>
              <a:srgbClr val="E7F5F2"/>
            </a:solidFill>
            <a:prstDash val="solid"/>
          </a:ln>
        </p:spPr>
      </p:sp>
      <p:sp>
        <p:nvSpPr>
          <p:cNvPr id="24" name="Text 22"/>
          <p:cNvSpPr txBox="1"/>
          <p:nvPr/>
        </p:nvSpPr>
        <p:spPr>
          <a:xfrm>
            <a:off x="3776472" y="3099816"/>
            <a:ext cx="1737360" cy="274320"/>
          </a:xfrm>
          <a:prstGeom prst="rect">
            <a:avLst/>
          </a:prstGeom>
          <a:noFill/>
          <a:ln/>
        </p:spPr>
        <p:txBody>
          <a:bodyPr wrap="square" lIns="0" tIns="0" rIns="0" bIns="0" rtlCol="0" anchor="ctr">
            <a:normAutofit/>
          </a:bodyPr>
          <a:lstStyle/>
          <a:p>
            <a:pPr algn="ctr" indent="0" marL="0">
              <a:buNone/>
            </a:pPr>
            <a:r>
              <a:rPr lang="en-US" sz="1000" b="1" dirty="0">
                <a:solidFill>
                  <a:srgbClr val="2A9D8F"/>
                </a:solidFill>
                <a:latin typeface="Aptos" pitchFamily="34" charset="0"/>
                <a:ea typeface="Aptos" pitchFamily="34" charset="-122"/>
                <a:cs typeface="Aptos" pitchFamily="34" charset="-120"/>
              </a:rPr>
              <a:t>B • Desirable • Fast</a:t>
            </a:r>
            <a:endParaRPr lang="en-US" sz="1000" dirty="0"/>
          </a:p>
        </p:txBody>
      </p:sp>
      <p:sp>
        <p:nvSpPr>
          <p:cNvPr id="25" name="Text 23"/>
          <p:cNvSpPr txBox="1"/>
          <p:nvPr/>
        </p:nvSpPr>
        <p:spPr>
          <a:xfrm>
            <a:off x="1536192" y="3465576"/>
            <a:ext cx="3840480" cy="256032"/>
          </a:xfrm>
          <a:prstGeom prst="rect">
            <a:avLst/>
          </a:prstGeom>
          <a:noFill/>
          <a:ln/>
        </p:spPr>
        <p:txBody>
          <a:bodyPr wrap="square" lIns="0" tIns="0" rIns="0" bIns="0" rtlCol="0" anchor="ctr">
            <a:normAutofit/>
          </a:bodyPr>
          <a:lstStyle/>
          <a:p>
            <a:pPr algn="l" indent="0" marL="0">
              <a:buNone/>
            </a:pPr>
            <a:r>
              <a:rPr lang="en-US" sz="1150" dirty="0">
                <a:solidFill>
                  <a:srgbClr val="6B7785"/>
                </a:solidFill>
                <a:latin typeface="Aptos" pitchFamily="34" charset="0"/>
                <a:ea typeface="Aptos" pitchFamily="34" charset="-122"/>
                <a:cs typeface="Aptos" pitchFamily="34" charset="-120"/>
              </a:rPr>
              <a:t>What control intensity? What service logic?</a:t>
            </a:r>
            <a:endParaRPr lang="en-US" sz="1150" dirty="0"/>
          </a:p>
        </p:txBody>
      </p:sp>
      <p:sp>
        <p:nvSpPr>
          <p:cNvPr id="26" name="Shape 24"/>
          <p:cNvSpPr/>
          <p:nvPr/>
        </p:nvSpPr>
        <p:spPr>
          <a:xfrm>
            <a:off x="6199632" y="2898648"/>
            <a:ext cx="5303520" cy="1051560"/>
          </a:xfrm>
          <a:prstGeom prst="roundRect">
            <a:avLst>
              <a:gd name="adj" fmla="val 8696"/>
            </a:avLst>
          </a:prstGeom>
          <a:solidFill>
            <a:srgbClr val="FFFFFF"/>
          </a:solidFill>
          <a:ln w="12700">
            <a:solidFill>
              <a:srgbClr val="E8EDF2"/>
            </a:solidFill>
            <a:prstDash val="solid"/>
          </a:ln>
        </p:spPr>
      </p:sp>
      <p:sp>
        <p:nvSpPr>
          <p:cNvPr id="27" name="Shape 25"/>
          <p:cNvSpPr/>
          <p:nvPr/>
        </p:nvSpPr>
        <p:spPr>
          <a:xfrm>
            <a:off x="6382512" y="3118104"/>
            <a:ext cx="566928" cy="566928"/>
          </a:xfrm>
          <a:prstGeom prst="ellipse">
            <a:avLst/>
          </a:prstGeom>
          <a:solidFill>
            <a:srgbClr val="1D6FA5"/>
          </a:solidFill>
          <a:ln w="12700">
            <a:solidFill>
              <a:srgbClr val="1D6FA5"/>
            </a:solidFill>
            <a:prstDash val="solid"/>
          </a:ln>
        </p:spPr>
      </p:sp>
      <p:sp>
        <p:nvSpPr>
          <p:cNvPr id="28" name="Text 26"/>
          <p:cNvSpPr txBox="1"/>
          <p:nvPr/>
        </p:nvSpPr>
        <p:spPr>
          <a:xfrm>
            <a:off x="6382512" y="3118104"/>
            <a:ext cx="566928" cy="56692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P4</a:t>
            </a:r>
            <a:endParaRPr lang="en-US" sz="1100" dirty="0"/>
          </a:p>
        </p:txBody>
      </p:sp>
      <p:sp>
        <p:nvSpPr>
          <p:cNvPr id="29" name="Text 27"/>
          <p:cNvSpPr txBox="1"/>
          <p:nvPr/>
        </p:nvSpPr>
        <p:spPr>
          <a:xfrm>
            <a:off x="7114032" y="3063240"/>
            <a:ext cx="2103120" cy="310896"/>
          </a:xfrm>
          <a:prstGeom prst="rect">
            <a:avLst/>
          </a:prstGeom>
          <a:noFill/>
          <a:ln/>
        </p:spPr>
        <p:txBody>
          <a:bodyPr wrap="square" lIns="0" tIns="0" rIns="0" bIns="0" rtlCol="0" anchor="ctr">
            <a:normAutofit/>
          </a:bodyPr>
          <a:lstStyle/>
          <a:p>
            <a:pPr algn="l" indent="0" marL="0">
              <a:buNone/>
            </a:pPr>
            <a:r>
              <a:rPr lang="en-US" sz="1600" b="1" dirty="0">
                <a:solidFill>
                  <a:srgbClr val="0B1F33"/>
                </a:solidFill>
                <a:latin typeface="Aptos" pitchFamily="34" charset="0"/>
                <a:ea typeface="Aptos" pitchFamily="34" charset="-122"/>
                <a:cs typeface="Aptos" pitchFamily="34" charset="-120"/>
              </a:rPr>
              <a:t>$120 legacy panel</a:t>
            </a:r>
            <a:endParaRPr lang="en-US" sz="1600" dirty="0"/>
          </a:p>
        </p:txBody>
      </p:sp>
      <p:sp>
        <p:nvSpPr>
          <p:cNvPr id="30" name="Shape 28"/>
          <p:cNvSpPr/>
          <p:nvPr/>
        </p:nvSpPr>
        <p:spPr>
          <a:xfrm>
            <a:off x="9354312" y="3099816"/>
            <a:ext cx="1737360" cy="274320"/>
          </a:xfrm>
          <a:prstGeom prst="roundRect">
            <a:avLst>
              <a:gd name="adj" fmla="val 50000"/>
            </a:avLst>
          </a:prstGeom>
          <a:solidFill>
            <a:srgbClr val="EAF3F8"/>
          </a:solidFill>
          <a:ln w="12700">
            <a:solidFill>
              <a:srgbClr val="EAF3F8"/>
            </a:solidFill>
            <a:prstDash val="solid"/>
          </a:ln>
        </p:spPr>
      </p:sp>
      <p:sp>
        <p:nvSpPr>
          <p:cNvPr id="31" name="Text 29"/>
          <p:cNvSpPr txBox="1"/>
          <p:nvPr/>
        </p:nvSpPr>
        <p:spPr>
          <a:xfrm>
            <a:off x="9354312" y="3099816"/>
            <a:ext cx="1737360" cy="274320"/>
          </a:xfrm>
          <a:prstGeom prst="rect">
            <a:avLst/>
          </a:prstGeom>
          <a:noFill/>
          <a:ln/>
        </p:spPr>
        <p:txBody>
          <a:bodyPr wrap="square" lIns="0" tIns="0" rIns="0" bIns="0" rtlCol="0" anchor="ctr">
            <a:normAutofit/>
          </a:bodyPr>
          <a:lstStyle/>
          <a:p>
            <a:pPr algn="ctr" indent="0" marL="0">
              <a:buNone/>
            </a:pPr>
            <a:r>
              <a:rPr lang="en-US" sz="1000" b="1" dirty="0">
                <a:solidFill>
                  <a:srgbClr val="1D6FA5"/>
                </a:solidFill>
                <a:latin typeface="Aptos" pitchFamily="34" charset="0"/>
                <a:ea typeface="Aptos" pitchFamily="34" charset="-122"/>
                <a:cs typeface="Aptos" pitchFamily="34" charset="-120"/>
              </a:rPr>
              <a:t>C • Essential • Non-moving</a:t>
            </a:r>
            <a:endParaRPr lang="en-US" sz="1000" dirty="0"/>
          </a:p>
        </p:txBody>
      </p:sp>
      <p:sp>
        <p:nvSpPr>
          <p:cNvPr id="32" name="Text 30"/>
          <p:cNvSpPr txBox="1"/>
          <p:nvPr/>
        </p:nvSpPr>
        <p:spPr>
          <a:xfrm>
            <a:off x="7114032" y="3465576"/>
            <a:ext cx="3840480" cy="256032"/>
          </a:xfrm>
          <a:prstGeom prst="rect">
            <a:avLst/>
          </a:prstGeom>
          <a:noFill/>
          <a:ln/>
        </p:spPr>
        <p:txBody>
          <a:bodyPr wrap="square" lIns="0" tIns="0" rIns="0" bIns="0" rtlCol="0" anchor="ctr">
            <a:normAutofit/>
          </a:bodyPr>
          <a:lstStyle/>
          <a:p>
            <a:pPr algn="l" indent="0" marL="0">
              <a:buNone/>
            </a:pPr>
            <a:r>
              <a:rPr lang="en-US" sz="1150" dirty="0">
                <a:solidFill>
                  <a:srgbClr val="6B7785"/>
                </a:solidFill>
                <a:latin typeface="Aptos" pitchFamily="34" charset="0"/>
                <a:ea typeface="Aptos" pitchFamily="34" charset="-122"/>
                <a:cs typeface="Aptos" pitchFamily="34" charset="-120"/>
              </a:rPr>
              <a:t>What control intensity? What service logic?</a:t>
            </a:r>
            <a:endParaRPr lang="en-US" sz="1150" dirty="0"/>
          </a:p>
        </p:txBody>
      </p:sp>
      <p:sp>
        <p:nvSpPr>
          <p:cNvPr id="33" name="Shape 31"/>
          <p:cNvSpPr/>
          <p:nvPr/>
        </p:nvSpPr>
        <p:spPr>
          <a:xfrm>
            <a:off x="621792" y="4480560"/>
            <a:ext cx="10881360" cy="960120"/>
          </a:xfrm>
          <a:prstGeom prst="roundRect">
            <a:avLst>
              <a:gd name="adj" fmla="val 9524"/>
            </a:avLst>
          </a:prstGeom>
          <a:solidFill>
            <a:srgbClr val="EAF3F8"/>
          </a:solidFill>
          <a:ln w="12700">
            <a:solidFill>
              <a:srgbClr val="EAF3F8"/>
            </a:solidFill>
            <a:prstDash val="solid"/>
          </a:ln>
        </p:spPr>
      </p:sp>
      <p:sp>
        <p:nvSpPr>
          <p:cNvPr id="34" name="Text 32"/>
          <p:cNvSpPr txBox="1"/>
          <p:nvPr/>
        </p:nvSpPr>
        <p:spPr>
          <a:xfrm>
            <a:off x="896112" y="4709160"/>
            <a:ext cx="685800" cy="228600"/>
          </a:xfrm>
          <a:prstGeom prst="rect">
            <a:avLst/>
          </a:prstGeom>
          <a:noFill/>
          <a:ln/>
        </p:spPr>
        <p:txBody>
          <a:bodyPr wrap="square" lIns="0" tIns="0" rIns="0" bIns="0" rtlCol="0" anchor="ctr">
            <a:normAutofit/>
          </a:bodyPr>
          <a:lstStyle/>
          <a:p>
            <a:pPr algn="l" indent="0" marL="0">
              <a:buNone/>
            </a:pPr>
            <a:r>
              <a:rPr lang="en-US" sz="1200" b="1" dirty="0">
                <a:solidFill>
                  <a:srgbClr val="1D6FA5"/>
                </a:solidFill>
                <a:latin typeface="Aptos" pitchFamily="34" charset="0"/>
                <a:ea typeface="Aptos" pitchFamily="34" charset="-122"/>
                <a:cs typeface="Aptos" pitchFamily="34" charset="-120"/>
              </a:rPr>
              <a:t>Prompt</a:t>
            </a:r>
            <a:endParaRPr lang="en-US" sz="1200" dirty="0"/>
          </a:p>
        </p:txBody>
      </p:sp>
      <p:sp>
        <p:nvSpPr>
          <p:cNvPr id="35" name="Text 33"/>
          <p:cNvSpPr txBox="1"/>
          <p:nvPr/>
        </p:nvSpPr>
        <p:spPr>
          <a:xfrm>
            <a:off x="1572768" y="4645152"/>
            <a:ext cx="9418320" cy="365760"/>
          </a:xfrm>
          <a:prstGeom prst="rect">
            <a:avLst/>
          </a:prstGeom>
          <a:noFill/>
          <a:ln/>
        </p:spPr>
        <p:txBody>
          <a:bodyPr wrap="square" lIns="0" tIns="0" rIns="0" bIns="0" rtlCol="0" anchor="ctr">
            <a:normAutofit/>
          </a:bodyPr>
          <a:lstStyle/>
          <a:p>
            <a:pPr algn="l" indent="0" marL="0">
              <a:buNone/>
            </a:pPr>
            <a:r>
              <a:rPr lang="en-US" sz="1600" b="1" dirty="0">
                <a:solidFill>
                  <a:srgbClr val="0B1F33"/>
                </a:solidFill>
                <a:latin typeface="Aptos" pitchFamily="34" charset="0"/>
                <a:ea typeface="Aptos" pitchFamily="34" charset="-122"/>
                <a:cs typeface="Aptos" pitchFamily="34" charset="-120"/>
              </a:rPr>
              <a:t>Rank the four items for managerial attention. Defend the top choice using at least two lenses.</a:t>
            </a:r>
            <a:endParaRPr lang="en-US" sz="1600" dirty="0"/>
          </a:p>
        </p:txBody>
      </p:sp>
      <p:sp>
        <p:nvSpPr>
          <p:cNvPr id="36" name="Shape 34"/>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37" name="Text 35"/>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38" name="Text 36"/>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Control intensity is not the same as stocking quantity: tight control may mean better data, faster review, or supplier action.</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94360" y="502920"/>
            <a:ext cx="1097280" cy="502920"/>
          </a:xfrm>
          <a:prstGeom prst="rect">
            <a:avLst/>
          </a:prstGeom>
          <a:noFill/>
          <a:ln/>
        </p:spPr>
        <p:txBody>
          <a:bodyPr wrap="square" lIns="0" tIns="0" rIns="0" bIns="0" rtlCol="0" anchor="ctr">
            <a:normAutofit/>
          </a:bodyPr>
          <a:lstStyle/>
          <a:p>
            <a:pPr algn="l" indent="0" marL="0">
              <a:buNone/>
            </a:pPr>
            <a:r>
              <a:rPr lang="en-US" sz="4200" b="1" dirty="0">
                <a:solidFill>
                  <a:srgbClr val="F28E2B"/>
                </a:solidFill>
                <a:latin typeface="Aptos" pitchFamily="34" charset="0"/>
                <a:ea typeface="Aptos" pitchFamily="34" charset="-122"/>
                <a:cs typeface="Aptos" pitchFamily="34" charset="-120"/>
              </a:rPr>
              <a:t>03</a:t>
            </a:r>
            <a:endParaRPr lang="en-US" sz="4200" dirty="0"/>
          </a:p>
        </p:txBody>
      </p:sp>
      <p:sp>
        <p:nvSpPr>
          <p:cNvPr id="3" name="Text 1"/>
          <p:cNvSpPr txBox="1"/>
          <p:nvPr/>
        </p:nvSpPr>
        <p:spPr>
          <a:xfrm>
            <a:off x="594360" y="1371600"/>
            <a:ext cx="7863840" cy="1143000"/>
          </a:xfrm>
          <a:prstGeom prst="rect">
            <a:avLst/>
          </a:prstGeom>
          <a:noFill/>
          <a:ln/>
        </p:spPr>
        <p:txBody>
          <a:bodyPr wrap="square" lIns="0" tIns="0" rIns="0" bIns="0" rtlCol="0" anchor="ctr">
            <a:normAutofit/>
          </a:bodyPr>
          <a:lstStyle/>
          <a:p>
            <a:pPr algn="l" indent="0" marL="0">
              <a:buNone/>
            </a:pPr>
            <a:r>
              <a:rPr lang="en-US" sz="3600" b="1" dirty="0">
                <a:solidFill>
                  <a:srgbClr val="FFFFFF"/>
                </a:solidFill>
                <a:latin typeface="Aptos" pitchFamily="34" charset="0"/>
                <a:ea typeface="Aptos" pitchFamily="34" charset="-122"/>
                <a:cs typeface="Aptos" pitchFamily="34" charset="-120"/>
              </a:rPr>
              <a:t>How much to order</a:t>
            </a:r>
            <a:endParaRPr lang="en-US" sz="3600" dirty="0"/>
          </a:p>
        </p:txBody>
      </p:sp>
      <p:sp>
        <p:nvSpPr>
          <p:cNvPr id="4" name="Text 2"/>
          <p:cNvSpPr txBox="1"/>
          <p:nvPr/>
        </p:nvSpPr>
        <p:spPr>
          <a:xfrm>
            <a:off x="612648" y="2697480"/>
            <a:ext cx="6766560" cy="685800"/>
          </a:xfrm>
          <a:prstGeom prst="rect">
            <a:avLst/>
          </a:prstGeom>
          <a:noFill/>
          <a:ln/>
        </p:spPr>
        <p:txBody>
          <a:bodyPr wrap="square" lIns="0" tIns="0" rIns="0" bIns="0" rtlCol="0" anchor="ctr">
            <a:normAutofit/>
          </a:bodyPr>
          <a:lstStyle/>
          <a:p>
            <a:pPr algn="l" indent="0" marL="0">
              <a:buNone/>
            </a:pPr>
            <a:r>
              <a:rPr lang="en-US" sz="1700" dirty="0">
                <a:solidFill>
                  <a:srgbClr val="C9D6E1"/>
                </a:solidFill>
                <a:latin typeface="Aptos" pitchFamily="34" charset="0"/>
                <a:ea typeface="Aptos" pitchFamily="34" charset="-122"/>
                <a:cs typeface="Aptos" pitchFamily="34" charset="-120"/>
              </a:rPr>
              <a:t>EOQ as a cost-balancing benchmark—not a sacred number</a:t>
            </a:r>
            <a:endParaRPr lang="en-US" sz="1700" dirty="0"/>
          </a:p>
        </p:txBody>
      </p:sp>
      <p:sp>
        <p:nvSpPr>
          <p:cNvPr id="5" name="Shape 3"/>
          <p:cNvSpPr/>
          <p:nvPr/>
        </p:nvSpPr>
        <p:spPr>
          <a:xfrm>
            <a:off x="612648" y="3749040"/>
            <a:ext cx="1371600" cy="274320"/>
          </a:xfrm>
          <a:prstGeom prst="roundRect">
            <a:avLst>
              <a:gd name="adj" fmla="val 50000"/>
            </a:avLst>
          </a:prstGeom>
          <a:solidFill>
            <a:srgbClr val="F28E2B"/>
          </a:solidFill>
          <a:ln w="12700">
            <a:solidFill>
              <a:srgbClr val="F28E2B"/>
            </a:solidFill>
            <a:prstDash val="solid"/>
          </a:ln>
        </p:spPr>
      </p:sp>
      <p:sp>
        <p:nvSpPr>
          <p:cNvPr id="6" name="Text 4"/>
          <p:cNvSpPr txBox="1"/>
          <p:nvPr/>
        </p:nvSpPr>
        <p:spPr>
          <a:xfrm>
            <a:off x="612648" y="3749040"/>
            <a:ext cx="1371600"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18.5 MINUTES</a:t>
            </a:r>
            <a:endParaRPr lang="en-US" sz="1000" dirty="0"/>
          </a:p>
        </p:txBody>
      </p:sp>
      <p:sp>
        <p:nvSpPr>
          <p:cNvPr id="7" name="Shape 5"/>
          <p:cNvSpPr/>
          <p:nvPr/>
        </p:nvSpPr>
        <p:spPr>
          <a:xfrm>
            <a:off x="8229600" y="4297680"/>
            <a:ext cx="402336" cy="402336"/>
          </a:xfrm>
          <a:prstGeom prst="roundRect">
            <a:avLst>
              <a:gd name="adj" fmla="val 9091"/>
            </a:avLst>
          </a:prstGeom>
          <a:solidFill>
            <a:srgbClr val="1D6FA5"/>
          </a:solidFill>
          <a:ln w="12700">
            <a:solidFill>
              <a:srgbClr val="1D6FA5"/>
            </a:solidFill>
            <a:prstDash val="solid"/>
          </a:ln>
        </p:spPr>
      </p:sp>
      <p:sp>
        <p:nvSpPr>
          <p:cNvPr id="8" name="Shape 6"/>
          <p:cNvSpPr/>
          <p:nvPr/>
        </p:nvSpPr>
        <p:spPr>
          <a:xfrm>
            <a:off x="8732520" y="3840480"/>
            <a:ext cx="402336" cy="402336"/>
          </a:xfrm>
          <a:prstGeom prst="roundRect">
            <a:avLst>
              <a:gd name="adj" fmla="val 9091"/>
            </a:avLst>
          </a:prstGeom>
          <a:solidFill>
            <a:srgbClr val="1D6FA5"/>
          </a:solidFill>
          <a:ln w="12700">
            <a:solidFill>
              <a:srgbClr val="1D6FA5"/>
            </a:solidFill>
            <a:prstDash val="solid"/>
          </a:ln>
        </p:spPr>
      </p:sp>
      <p:sp>
        <p:nvSpPr>
          <p:cNvPr id="9" name="Shape 7"/>
          <p:cNvSpPr/>
          <p:nvPr/>
        </p:nvSpPr>
        <p:spPr>
          <a:xfrm>
            <a:off x="9235440" y="3383280"/>
            <a:ext cx="402336" cy="402336"/>
          </a:xfrm>
          <a:prstGeom prst="roundRect">
            <a:avLst>
              <a:gd name="adj" fmla="val 9091"/>
            </a:avLst>
          </a:prstGeom>
          <a:solidFill>
            <a:srgbClr val="1D6FA5"/>
          </a:solidFill>
          <a:ln w="12700">
            <a:solidFill>
              <a:srgbClr val="1D6FA5"/>
            </a:solidFill>
            <a:prstDash val="solid"/>
          </a:ln>
        </p:spPr>
      </p:sp>
      <p:sp>
        <p:nvSpPr>
          <p:cNvPr id="10" name="Shape 8"/>
          <p:cNvSpPr/>
          <p:nvPr/>
        </p:nvSpPr>
        <p:spPr>
          <a:xfrm>
            <a:off x="9738360" y="2926080"/>
            <a:ext cx="402336" cy="402336"/>
          </a:xfrm>
          <a:prstGeom prst="roundRect">
            <a:avLst>
              <a:gd name="adj" fmla="val 9091"/>
            </a:avLst>
          </a:prstGeom>
          <a:solidFill>
            <a:srgbClr val="F28E2B"/>
          </a:solidFill>
          <a:ln w="12700">
            <a:solidFill>
              <a:srgbClr val="F28E2B"/>
            </a:solidFill>
            <a:prstDash val="solid"/>
          </a:ln>
        </p:spPr>
      </p:sp>
      <p:sp>
        <p:nvSpPr>
          <p:cNvPr id="11" name="Shape 9"/>
          <p:cNvSpPr/>
          <p:nvPr/>
        </p:nvSpPr>
        <p:spPr>
          <a:xfrm>
            <a:off x="10241280" y="2468880"/>
            <a:ext cx="402336" cy="402336"/>
          </a:xfrm>
          <a:prstGeom prst="roundRect">
            <a:avLst>
              <a:gd name="adj" fmla="val 9091"/>
            </a:avLst>
          </a:prstGeom>
          <a:solidFill>
            <a:srgbClr val="F28E2B"/>
          </a:solidFill>
          <a:ln w="12700">
            <a:solidFill>
              <a:srgbClr val="F28E2B"/>
            </a:solidFill>
            <a:prstDash val="solid"/>
          </a:ln>
        </p:spPr>
      </p:sp>
      <p:sp>
        <p:nvSpPr>
          <p:cNvPr id="12" name="Shape 10"/>
          <p:cNvSpPr/>
          <p:nvPr/>
        </p:nvSpPr>
        <p:spPr>
          <a:xfrm>
            <a:off x="7955280" y="4937760"/>
            <a:ext cx="3108960" cy="-3108960"/>
          </a:xfrm>
          <a:prstGeom prst="line">
            <a:avLst/>
          </a:prstGeom>
          <a:noFill/>
          <a:ln w="38100">
            <a:solidFill>
              <a:srgbClr val="4BB3C3"/>
            </a:solidFill>
            <a:prstDash val="solid"/>
            <a:tailEnd type="triangle"/>
          </a:ln>
        </p:spPr>
      </p:sp>
      <p:sp>
        <p:nvSpPr>
          <p:cNvPr id="13" name="Text 11"/>
          <p:cNvSpPr txBox="1"/>
          <p:nvPr/>
        </p:nvSpPr>
        <p:spPr>
          <a:xfrm>
            <a:off x="8275320" y="1078992"/>
            <a:ext cx="2971800" cy="502920"/>
          </a:xfrm>
          <a:prstGeom prst="rect">
            <a:avLst/>
          </a:prstGeom>
          <a:noFill/>
          <a:ln/>
        </p:spPr>
        <p:txBody>
          <a:bodyPr wrap="square" lIns="0" tIns="0" rIns="0" bIns="0" rtlCol="0" anchor="ctr">
            <a:normAutofit/>
          </a:bodyPr>
          <a:lstStyle/>
          <a:p>
            <a:pPr algn="ctr" indent="0" marL="0">
              <a:buNone/>
            </a:pPr>
            <a:r>
              <a:rPr lang="en-US" sz="1200" b="1" dirty="0">
                <a:solidFill>
                  <a:srgbClr val="4BB3C3"/>
                </a:solidFill>
                <a:latin typeface="Aptos" pitchFamily="34" charset="0"/>
                <a:ea typeface="Aptos" pitchFamily="34" charset="-122"/>
                <a:cs typeface="Aptos" pitchFamily="34" charset="-120"/>
              </a:rPr>
              <a:t>BATCH SIZE ↔ TOTAL RELEVANT COST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EOQ MODEL</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Balance ordering effort against cycle-stock carrying cost</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Basic model • no shortage optimization</a:t>
            </a:r>
            <a:endParaRPr lang="en-US" sz="1350" dirty="0"/>
          </a:p>
        </p:txBody>
      </p:sp>
      <p:sp>
        <p:nvSpPr>
          <p:cNvPr id="5" name="Shape 3"/>
          <p:cNvSpPr/>
          <p:nvPr/>
        </p:nvSpPr>
        <p:spPr>
          <a:xfrm>
            <a:off x="640080" y="1600200"/>
            <a:ext cx="4937760" cy="1965960"/>
          </a:xfrm>
          <a:prstGeom prst="roundRect">
            <a:avLst>
              <a:gd name="adj" fmla="val 6512"/>
            </a:avLst>
          </a:prstGeom>
          <a:solidFill>
            <a:srgbClr val="0B1F33"/>
          </a:solidFill>
          <a:ln w="12700">
            <a:solidFill>
              <a:srgbClr val="0B1F33"/>
            </a:solidFill>
            <a:prstDash val="solid"/>
          </a:ln>
        </p:spPr>
      </p:sp>
      <p:sp>
        <p:nvSpPr>
          <p:cNvPr id="6" name="Text 4"/>
          <p:cNvSpPr txBox="1"/>
          <p:nvPr/>
        </p:nvSpPr>
        <p:spPr>
          <a:xfrm>
            <a:off x="868680" y="1993392"/>
            <a:ext cx="4480560" cy="658368"/>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Aptos" pitchFamily="34" charset="0"/>
                <a:ea typeface="Aptos" pitchFamily="34" charset="-122"/>
                <a:cs typeface="Aptos" pitchFamily="34" charset="-120"/>
              </a:rPr>
              <a:t>Q* = √(2DS / H)</a:t>
            </a:r>
            <a:endParaRPr lang="en-US" sz="3400" dirty="0"/>
          </a:p>
        </p:txBody>
      </p:sp>
      <p:sp>
        <p:nvSpPr>
          <p:cNvPr id="7" name="Text 5"/>
          <p:cNvSpPr txBox="1"/>
          <p:nvPr/>
        </p:nvSpPr>
        <p:spPr>
          <a:xfrm>
            <a:off x="914400" y="2852928"/>
            <a:ext cx="4389120" cy="384048"/>
          </a:xfrm>
          <a:prstGeom prst="rect">
            <a:avLst/>
          </a:prstGeom>
          <a:noFill/>
          <a:ln/>
        </p:spPr>
        <p:txBody>
          <a:bodyPr wrap="square" lIns="0" tIns="0" rIns="0" bIns="0" rtlCol="0" anchor="ctr">
            <a:normAutofit/>
          </a:bodyPr>
          <a:lstStyle/>
          <a:p>
            <a:pPr algn="ctr" indent="0" marL="0">
              <a:buNone/>
            </a:pPr>
            <a:r>
              <a:rPr lang="en-US" sz="1300" dirty="0">
                <a:solidFill>
                  <a:srgbClr val="F4C95D"/>
                </a:solidFill>
                <a:latin typeface="Aptos" pitchFamily="34" charset="0"/>
                <a:ea typeface="Aptos" pitchFamily="34" charset="-122"/>
                <a:cs typeface="Aptos" pitchFamily="34" charset="-120"/>
              </a:rPr>
              <a:t>At Q*: annual ordering cost = annual cycle holding cost</a:t>
            </a:r>
            <a:endParaRPr lang="en-US" sz="1300" dirty="0"/>
          </a:p>
        </p:txBody>
      </p:sp>
      <p:sp>
        <p:nvSpPr>
          <p:cNvPr id="8" name="Shape 6"/>
          <p:cNvSpPr/>
          <p:nvPr/>
        </p:nvSpPr>
        <p:spPr>
          <a:xfrm>
            <a:off x="5925312" y="1600200"/>
            <a:ext cx="2514600" cy="804672"/>
          </a:xfrm>
          <a:prstGeom prst="roundRect">
            <a:avLst>
              <a:gd name="adj" fmla="val 11364"/>
            </a:avLst>
          </a:prstGeom>
          <a:solidFill>
            <a:srgbClr val="FFFFFF"/>
          </a:solidFill>
          <a:ln w="12700">
            <a:solidFill>
              <a:srgbClr val="E8EDF2"/>
            </a:solidFill>
            <a:prstDash val="solid"/>
          </a:ln>
        </p:spPr>
      </p:sp>
      <p:sp>
        <p:nvSpPr>
          <p:cNvPr id="9" name="Text 7"/>
          <p:cNvSpPr txBox="1"/>
          <p:nvPr/>
        </p:nvSpPr>
        <p:spPr>
          <a:xfrm>
            <a:off x="6071616" y="1737360"/>
            <a:ext cx="384048" cy="320040"/>
          </a:xfrm>
          <a:prstGeom prst="rect">
            <a:avLst/>
          </a:prstGeom>
          <a:noFill/>
          <a:ln/>
        </p:spPr>
        <p:txBody>
          <a:bodyPr wrap="square" lIns="0" tIns="0" rIns="0" bIns="0" rtlCol="0" anchor="ctr">
            <a:normAutofit/>
          </a:bodyPr>
          <a:lstStyle/>
          <a:p>
            <a:pPr algn="l" indent="0" marL="0">
              <a:buNone/>
            </a:pPr>
            <a:r>
              <a:rPr lang="en-US" sz="2000" b="1" dirty="0">
                <a:solidFill>
                  <a:srgbClr val="1D6FA5"/>
                </a:solidFill>
                <a:latin typeface="Aptos" pitchFamily="34" charset="0"/>
                <a:ea typeface="Aptos" pitchFamily="34" charset="-122"/>
                <a:cs typeface="Aptos" pitchFamily="34" charset="-120"/>
              </a:rPr>
              <a:t>D</a:t>
            </a:r>
            <a:endParaRPr lang="en-US" sz="2000" dirty="0"/>
          </a:p>
        </p:txBody>
      </p:sp>
      <p:sp>
        <p:nvSpPr>
          <p:cNvPr id="10" name="Text 8"/>
          <p:cNvSpPr txBox="1"/>
          <p:nvPr/>
        </p:nvSpPr>
        <p:spPr>
          <a:xfrm>
            <a:off x="6492240" y="1709928"/>
            <a:ext cx="1664208" cy="274320"/>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annual demand</a:t>
            </a:r>
            <a:endParaRPr lang="en-US" sz="1250" dirty="0"/>
          </a:p>
        </p:txBody>
      </p:sp>
      <p:sp>
        <p:nvSpPr>
          <p:cNvPr id="11" name="Text 9"/>
          <p:cNvSpPr txBox="1"/>
          <p:nvPr/>
        </p:nvSpPr>
        <p:spPr>
          <a:xfrm>
            <a:off x="6492240" y="2011680"/>
            <a:ext cx="1664208" cy="201168"/>
          </a:xfrm>
          <a:prstGeom prst="rect">
            <a:avLst/>
          </a:prstGeom>
          <a:noFill/>
          <a:ln/>
        </p:spPr>
        <p:txBody>
          <a:bodyPr wrap="square" lIns="0" tIns="0" rIns="0" bIns="0" rtlCol="0" anchor="ctr">
            <a:normAutofit/>
          </a:bodyPr>
          <a:lstStyle/>
          <a:p>
            <a:pPr algn="l" indent="0" marL="0">
              <a:buNone/>
            </a:pPr>
            <a:r>
              <a:rPr lang="en-US" sz="1000" dirty="0">
                <a:solidFill>
                  <a:srgbClr val="6B7785"/>
                </a:solidFill>
                <a:latin typeface="Aptos" pitchFamily="34" charset="0"/>
                <a:ea typeface="Aptos" pitchFamily="34" charset="-122"/>
                <a:cs typeface="Aptos" pitchFamily="34" charset="-120"/>
              </a:rPr>
              <a:t>units / year</a:t>
            </a:r>
            <a:endParaRPr lang="en-US" sz="1000" dirty="0"/>
          </a:p>
        </p:txBody>
      </p:sp>
      <p:sp>
        <p:nvSpPr>
          <p:cNvPr id="12" name="Shape 10"/>
          <p:cNvSpPr/>
          <p:nvPr/>
        </p:nvSpPr>
        <p:spPr>
          <a:xfrm>
            <a:off x="8668512" y="1600200"/>
            <a:ext cx="2514600" cy="804672"/>
          </a:xfrm>
          <a:prstGeom prst="roundRect">
            <a:avLst>
              <a:gd name="adj" fmla="val 11364"/>
            </a:avLst>
          </a:prstGeom>
          <a:solidFill>
            <a:srgbClr val="FFFFFF"/>
          </a:solidFill>
          <a:ln w="12700">
            <a:solidFill>
              <a:srgbClr val="E8EDF2"/>
            </a:solidFill>
            <a:prstDash val="solid"/>
          </a:ln>
        </p:spPr>
      </p:sp>
      <p:sp>
        <p:nvSpPr>
          <p:cNvPr id="13" name="Text 11"/>
          <p:cNvSpPr txBox="1"/>
          <p:nvPr/>
        </p:nvSpPr>
        <p:spPr>
          <a:xfrm>
            <a:off x="8814816" y="1737360"/>
            <a:ext cx="384048" cy="320040"/>
          </a:xfrm>
          <a:prstGeom prst="rect">
            <a:avLst/>
          </a:prstGeom>
          <a:noFill/>
          <a:ln/>
        </p:spPr>
        <p:txBody>
          <a:bodyPr wrap="square" lIns="0" tIns="0" rIns="0" bIns="0" rtlCol="0" anchor="ctr">
            <a:normAutofit/>
          </a:bodyPr>
          <a:lstStyle/>
          <a:p>
            <a:pPr algn="l" indent="0" marL="0">
              <a:buNone/>
            </a:pPr>
            <a:r>
              <a:rPr lang="en-US" sz="2000" b="1" dirty="0">
                <a:solidFill>
                  <a:srgbClr val="1D6FA5"/>
                </a:solidFill>
                <a:latin typeface="Aptos" pitchFamily="34" charset="0"/>
                <a:ea typeface="Aptos" pitchFamily="34" charset="-122"/>
                <a:cs typeface="Aptos" pitchFamily="34" charset="-120"/>
              </a:rPr>
              <a:t>S</a:t>
            </a:r>
            <a:endParaRPr lang="en-US" sz="2000" dirty="0"/>
          </a:p>
        </p:txBody>
      </p:sp>
      <p:sp>
        <p:nvSpPr>
          <p:cNvPr id="14" name="Text 12"/>
          <p:cNvSpPr txBox="1"/>
          <p:nvPr/>
        </p:nvSpPr>
        <p:spPr>
          <a:xfrm>
            <a:off x="9235440" y="1709928"/>
            <a:ext cx="1664208" cy="274320"/>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order or setup cost</a:t>
            </a:r>
            <a:endParaRPr lang="en-US" sz="1250" dirty="0"/>
          </a:p>
        </p:txBody>
      </p:sp>
      <p:sp>
        <p:nvSpPr>
          <p:cNvPr id="15" name="Text 13"/>
          <p:cNvSpPr txBox="1"/>
          <p:nvPr/>
        </p:nvSpPr>
        <p:spPr>
          <a:xfrm>
            <a:off x="9235440" y="2011680"/>
            <a:ext cx="1664208" cy="201168"/>
          </a:xfrm>
          <a:prstGeom prst="rect">
            <a:avLst/>
          </a:prstGeom>
          <a:noFill/>
          <a:ln/>
        </p:spPr>
        <p:txBody>
          <a:bodyPr wrap="square" lIns="0" tIns="0" rIns="0" bIns="0" rtlCol="0" anchor="ctr">
            <a:normAutofit/>
          </a:bodyPr>
          <a:lstStyle/>
          <a:p>
            <a:pPr algn="l" indent="0" marL="0">
              <a:buNone/>
            </a:pPr>
            <a:r>
              <a:rPr lang="en-US" sz="1000" dirty="0">
                <a:solidFill>
                  <a:srgbClr val="6B7785"/>
                </a:solidFill>
                <a:latin typeface="Aptos" pitchFamily="34" charset="0"/>
                <a:ea typeface="Aptos" pitchFamily="34" charset="-122"/>
                <a:cs typeface="Aptos" pitchFamily="34" charset="-120"/>
              </a:rPr>
              <a:t>$ / order</a:t>
            </a:r>
            <a:endParaRPr lang="en-US" sz="1000" dirty="0"/>
          </a:p>
        </p:txBody>
      </p:sp>
      <p:sp>
        <p:nvSpPr>
          <p:cNvPr id="16" name="Shape 14"/>
          <p:cNvSpPr/>
          <p:nvPr/>
        </p:nvSpPr>
        <p:spPr>
          <a:xfrm>
            <a:off x="5925312" y="2606040"/>
            <a:ext cx="2514600" cy="804672"/>
          </a:xfrm>
          <a:prstGeom prst="roundRect">
            <a:avLst>
              <a:gd name="adj" fmla="val 11364"/>
            </a:avLst>
          </a:prstGeom>
          <a:solidFill>
            <a:srgbClr val="FFFFFF"/>
          </a:solidFill>
          <a:ln w="12700">
            <a:solidFill>
              <a:srgbClr val="E8EDF2"/>
            </a:solidFill>
            <a:prstDash val="solid"/>
          </a:ln>
        </p:spPr>
      </p:sp>
      <p:sp>
        <p:nvSpPr>
          <p:cNvPr id="17" name="Text 15"/>
          <p:cNvSpPr txBox="1"/>
          <p:nvPr/>
        </p:nvSpPr>
        <p:spPr>
          <a:xfrm>
            <a:off x="6071616" y="2743200"/>
            <a:ext cx="384048" cy="320040"/>
          </a:xfrm>
          <a:prstGeom prst="rect">
            <a:avLst/>
          </a:prstGeom>
          <a:noFill/>
          <a:ln/>
        </p:spPr>
        <p:txBody>
          <a:bodyPr wrap="square" lIns="0" tIns="0" rIns="0" bIns="0" rtlCol="0" anchor="ctr">
            <a:normAutofit/>
          </a:bodyPr>
          <a:lstStyle/>
          <a:p>
            <a:pPr algn="l" indent="0" marL="0">
              <a:buNone/>
            </a:pPr>
            <a:r>
              <a:rPr lang="en-US" sz="2000" b="1" dirty="0">
                <a:solidFill>
                  <a:srgbClr val="1D6FA5"/>
                </a:solidFill>
                <a:latin typeface="Aptos" pitchFamily="34" charset="0"/>
                <a:ea typeface="Aptos" pitchFamily="34" charset="-122"/>
                <a:cs typeface="Aptos" pitchFamily="34" charset="-120"/>
              </a:rPr>
              <a:t>H</a:t>
            </a:r>
            <a:endParaRPr lang="en-US" sz="2000" dirty="0"/>
          </a:p>
        </p:txBody>
      </p:sp>
      <p:sp>
        <p:nvSpPr>
          <p:cNvPr id="18" name="Text 16"/>
          <p:cNvSpPr txBox="1"/>
          <p:nvPr/>
        </p:nvSpPr>
        <p:spPr>
          <a:xfrm>
            <a:off x="6492240" y="2715768"/>
            <a:ext cx="1664208" cy="274320"/>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annual holding cost</a:t>
            </a:r>
            <a:endParaRPr lang="en-US" sz="1250" dirty="0"/>
          </a:p>
        </p:txBody>
      </p:sp>
      <p:sp>
        <p:nvSpPr>
          <p:cNvPr id="19" name="Text 17"/>
          <p:cNvSpPr txBox="1"/>
          <p:nvPr/>
        </p:nvSpPr>
        <p:spPr>
          <a:xfrm>
            <a:off x="6492240" y="3017520"/>
            <a:ext cx="1664208" cy="201168"/>
          </a:xfrm>
          <a:prstGeom prst="rect">
            <a:avLst/>
          </a:prstGeom>
          <a:noFill/>
          <a:ln/>
        </p:spPr>
        <p:txBody>
          <a:bodyPr wrap="square" lIns="0" tIns="0" rIns="0" bIns="0" rtlCol="0" anchor="ctr">
            <a:normAutofit/>
          </a:bodyPr>
          <a:lstStyle/>
          <a:p>
            <a:pPr algn="l" indent="0" marL="0">
              <a:buNone/>
            </a:pPr>
            <a:r>
              <a:rPr lang="en-US" sz="1000" dirty="0">
                <a:solidFill>
                  <a:srgbClr val="6B7785"/>
                </a:solidFill>
                <a:latin typeface="Aptos" pitchFamily="34" charset="0"/>
                <a:ea typeface="Aptos" pitchFamily="34" charset="-122"/>
                <a:cs typeface="Aptos" pitchFamily="34" charset="-120"/>
              </a:rPr>
              <a:t>$ / unit-year</a:t>
            </a:r>
            <a:endParaRPr lang="en-US" sz="1000" dirty="0"/>
          </a:p>
        </p:txBody>
      </p:sp>
      <p:sp>
        <p:nvSpPr>
          <p:cNvPr id="20" name="Shape 18"/>
          <p:cNvSpPr/>
          <p:nvPr/>
        </p:nvSpPr>
        <p:spPr>
          <a:xfrm>
            <a:off x="8668512" y="2606040"/>
            <a:ext cx="2514600" cy="804672"/>
          </a:xfrm>
          <a:prstGeom prst="roundRect">
            <a:avLst>
              <a:gd name="adj" fmla="val 11364"/>
            </a:avLst>
          </a:prstGeom>
          <a:solidFill>
            <a:srgbClr val="FFFFFF"/>
          </a:solidFill>
          <a:ln w="12700">
            <a:solidFill>
              <a:srgbClr val="E8EDF2"/>
            </a:solidFill>
            <a:prstDash val="solid"/>
          </a:ln>
        </p:spPr>
      </p:sp>
      <p:sp>
        <p:nvSpPr>
          <p:cNvPr id="21" name="Text 19"/>
          <p:cNvSpPr txBox="1"/>
          <p:nvPr/>
        </p:nvSpPr>
        <p:spPr>
          <a:xfrm>
            <a:off x="8814816" y="2743200"/>
            <a:ext cx="384048" cy="320040"/>
          </a:xfrm>
          <a:prstGeom prst="rect">
            <a:avLst/>
          </a:prstGeom>
          <a:noFill/>
          <a:ln/>
        </p:spPr>
        <p:txBody>
          <a:bodyPr wrap="square" lIns="0" tIns="0" rIns="0" bIns="0" rtlCol="0" anchor="ctr">
            <a:normAutofit/>
          </a:bodyPr>
          <a:lstStyle/>
          <a:p>
            <a:pPr algn="l" indent="0" marL="0">
              <a:buNone/>
            </a:pPr>
            <a:r>
              <a:rPr lang="en-US" sz="2000" b="1" dirty="0">
                <a:solidFill>
                  <a:srgbClr val="1D6FA5"/>
                </a:solidFill>
                <a:latin typeface="Aptos" pitchFamily="34" charset="0"/>
                <a:ea typeface="Aptos" pitchFamily="34" charset="-122"/>
                <a:cs typeface="Aptos" pitchFamily="34" charset="-120"/>
              </a:rPr>
              <a:t>Q</a:t>
            </a:r>
            <a:endParaRPr lang="en-US" sz="2000" dirty="0"/>
          </a:p>
        </p:txBody>
      </p:sp>
      <p:sp>
        <p:nvSpPr>
          <p:cNvPr id="22" name="Text 20"/>
          <p:cNvSpPr txBox="1"/>
          <p:nvPr/>
        </p:nvSpPr>
        <p:spPr>
          <a:xfrm>
            <a:off x="9235440" y="2715768"/>
            <a:ext cx="1664208" cy="274320"/>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order quantity</a:t>
            </a:r>
            <a:endParaRPr lang="en-US" sz="1250" dirty="0"/>
          </a:p>
        </p:txBody>
      </p:sp>
      <p:sp>
        <p:nvSpPr>
          <p:cNvPr id="23" name="Text 21"/>
          <p:cNvSpPr txBox="1"/>
          <p:nvPr/>
        </p:nvSpPr>
        <p:spPr>
          <a:xfrm>
            <a:off x="9235440" y="3017520"/>
            <a:ext cx="1664208" cy="201168"/>
          </a:xfrm>
          <a:prstGeom prst="rect">
            <a:avLst/>
          </a:prstGeom>
          <a:noFill/>
          <a:ln/>
        </p:spPr>
        <p:txBody>
          <a:bodyPr wrap="square" lIns="0" tIns="0" rIns="0" bIns="0" rtlCol="0" anchor="ctr">
            <a:normAutofit/>
          </a:bodyPr>
          <a:lstStyle/>
          <a:p>
            <a:pPr algn="l" indent="0" marL="0">
              <a:buNone/>
            </a:pPr>
            <a:r>
              <a:rPr lang="en-US" sz="1000" dirty="0">
                <a:solidFill>
                  <a:srgbClr val="6B7785"/>
                </a:solidFill>
                <a:latin typeface="Aptos" pitchFamily="34" charset="0"/>
                <a:ea typeface="Aptos" pitchFamily="34" charset="-122"/>
                <a:cs typeface="Aptos" pitchFamily="34" charset="-120"/>
              </a:rPr>
              <a:t>units / order</a:t>
            </a:r>
            <a:endParaRPr lang="en-US" sz="1000" dirty="0"/>
          </a:p>
        </p:txBody>
      </p:sp>
      <p:sp>
        <p:nvSpPr>
          <p:cNvPr id="24" name="Text 22"/>
          <p:cNvSpPr txBox="1"/>
          <p:nvPr/>
        </p:nvSpPr>
        <p:spPr>
          <a:xfrm>
            <a:off x="658368" y="3977640"/>
            <a:ext cx="3840480" cy="320040"/>
          </a:xfrm>
          <a:prstGeom prst="rect">
            <a:avLst/>
          </a:prstGeom>
          <a:noFill/>
          <a:ln/>
        </p:spPr>
        <p:txBody>
          <a:bodyPr wrap="square" lIns="0" tIns="0" rIns="0" bIns="0" rtlCol="0" anchor="ctr">
            <a:normAutofit/>
          </a:bodyPr>
          <a:lstStyle/>
          <a:p>
            <a:pPr algn="l" indent="0" marL="0">
              <a:buNone/>
            </a:pPr>
            <a:r>
              <a:rPr lang="en-US" sz="1700" b="1" dirty="0">
                <a:solidFill>
                  <a:srgbClr val="0B1F33"/>
                </a:solidFill>
                <a:latin typeface="Aptos" pitchFamily="34" charset="0"/>
                <a:ea typeface="Aptos" pitchFamily="34" charset="-122"/>
                <a:cs typeface="Aptos" pitchFamily="34" charset="-120"/>
              </a:rPr>
              <a:t>Managerial claims embedded in the model</a:t>
            </a:r>
            <a:endParaRPr lang="en-US" sz="1700" dirty="0"/>
          </a:p>
        </p:txBody>
      </p:sp>
      <p:sp>
        <p:nvSpPr>
          <p:cNvPr id="25" name="Text 23"/>
          <p:cNvSpPr/>
          <p:nvPr/>
        </p:nvSpPr>
        <p:spPr>
          <a:xfrm>
            <a:off x="841248" y="4370832"/>
            <a:ext cx="10424160" cy="1143000"/>
          </a:xfrm>
          <a:prstGeom prst="rect">
            <a:avLst/>
          </a:prstGeom>
          <a:noFill/>
          <a:ln/>
        </p:spPr>
        <p:txBody>
          <a:bodyPr wrap="square" lIns="762" tIns="762" rIns="762" bIns="762" rtlCol="0" anchor="t">
            <a:normAutofit/>
          </a:bodyPr>
          <a:lstStyle/>
          <a:p>
            <a:pPr marL="203200" indent="-203200">
              <a:buSzPct val="100000"/>
              <a:buChar char="•"/>
            </a:pPr>
            <a:r>
              <a:rPr lang="en-US" sz="1350" dirty="0">
                <a:solidFill>
                  <a:srgbClr val="152433"/>
                </a:solidFill>
                <a:latin typeface="Aptos" pitchFamily="34" charset="0"/>
                <a:ea typeface="Aptos" pitchFamily="34" charset="-122"/>
                <a:cs typeface="Aptos" pitchFamily="34" charset="-120"/>
              </a:rPr>
              <a:t>Demand is known and stable in aggregate</a:t>
            </a:r>
            <a:endParaRPr lang="en-US" sz="1350" dirty="0"/>
          </a:p>
          <a:p>
            <a:pPr marL="203200" indent="-203200">
              <a:buSzPct val="100000"/>
              <a:buChar char="•"/>
            </a:pPr>
            <a:r>
              <a:rPr lang="en-US" sz="1350" dirty="0">
                <a:solidFill>
                  <a:srgbClr val="152433"/>
                </a:solidFill>
                <a:latin typeface="Aptos" pitchFamily="34" charset="0"/>
                <a:ea typeface="Aptos" pitchFamily="34" charset="-122"/>
                <a:cs typeface="Aptos" pitchFamily="34" charset="-120"/>
              </a:rPr>
              <a:t>Replenishment is instantaneous and lead time does not change Q</a:t>
            </a:r>
            <a:endParaRPr lang="en-US" sz="1350" dirty="0"/>
          </a:p>
          <a:p>
            <a:pPr marL="203200" indent="-203200">
              <a:buSzPct val="100000"/>
              <a:buChar char="•"/>
            </a:pPr>
            <a:r>
              <a:rPr lang="en-US" sz="1350" dirty="0">
                <a:solidFill>
                  <a:srgbClr val="152433"/>
                </a:solidFill>
                <a:latin typeface="Aptos" pitchFamily="34" charset="0"/>
                <a:ea typeface="Aptos" pitchFamily="34" charset="-122"/>
                <a:cs typeface="Aptos" pitchFamily="34" charset="-120"/>
              </a:rPr>
              <a:t>No shortages and no quantity discounts</a:t>
            </a:r>
            <a:endParaRPr lang="en-US" sz="1350" dirty="0"/>
          </a:p>
          <a:p>
            <a:pPr marL="203200" indent="-203200">
              <a:buSzPct val="100000"/>
              <a:buChar char="•"/>
            </a:pPr>
            <a:r>
              <a:rPr lang="en-US" sz="1350" dirty="0">
                <a:solidFill>
                  <a:srgbClr val="152433"/>
                </a:solidFill>
                <a:latin typeface="Aptos" pitchFamily="34" charset="0"/>
                <a:ea typeface="Aptos" pitchFamily="34" charset="-122"/>
                <a:cs typeface="Aptos" pitchFamily="34" charset="-120"/>
              </a:rPr>
              <a:t>S and H are relevant, measurable, and constant</a:t>
            </a:r>
            <a:endParaRPr lang="en-US" sz="1350" dirty="0"/>
          </a:p>
        </p:txBody>
      </p:sp>
      <p:sp>
        <p:nvSpPr>
          <p:cNvPr id="26" name="Shape 24"/>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27" name="Text 25"/>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28" name="Text 26"/>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EOQ is useful when it is treated as a transparent benchmark whose assumptions can be tested.</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EOQ LOGIC</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The optimum is where the marginal trade-off changes sign</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Illustrative costs using D = 24,000, S = $150, H = $20</a:t>
            </a:r>
            <a:endParaRPr lang="en-US" sz="1350" dirty="0"/>
          </a:p>
        </p:txBody>
      </p:sp>
      <p:sp>
        <p:nvSpPr>
          <p:cNvPr id="5" name="Shape 3"/>
          <p:cNvSpPr/>
          <p:nvPr/>
        </p:nvSpPr>
        <p:spPr>
          <a:xfrm>
            <a:off x="777240" y="5669280"/>
            <a:ext cx="7498080" cy="0"/>
          </a:xfrm>
          <a:prstGeom prst="line">
            <a:avLst/>
          </a:prstGeom>
          <a:noFill/>
          <a:ln w="15240">
            <a:solidFill>
              <a:srgbClr val="6B7785"/>
            </a:solidFill>
            <a:prstDash val="solid"/>
            <a:tailEnd type="triangle"/>
          </a:ln>
        </p:spPr>
      </p:sp>
      <p:sp>
        <p:nvSpPr>
          <p:cNvPr id="6" name="Shape 4"/>
          <p:cNvSpPr/>
          <p:nvPr/>
        </p:nvSpPr>
        <p:spPr>
          <a:xfrm>
            <a:off x="777240" y="5669280"/>
            <a:ext cx="0" cy="-4069080"/>
          </a:xfrm>
          <a:prstGeom prst="line">
            <a:avLst/>
          </a:prstGeom>
          <a:noFill/>
          <a:ln w="15240">
            <a:solidFill>
              <a:srgbClr val="6B7785"/>
            </a:solidFill>
            <a:prstDash val="solid"/>
            <a:tailEnd type="triangle"/>
          </a:ln>
        </p:spPr>
      </p:sp>
      <p:sp>
        <p:nvSpPr>
          <p:cNvPr id="7" name="Text 5"/>
          <p:cNvSpPr txBox="1"/>
          <p:nvPr/>
        </p:nvSpPr>
        <p:spPr>
          <a:xfrm>
            <a:off x="6995160" y="5788152"/>
            <a:ext cx="1280160" cy="201168"/>
          </a:xfrm>
          <a:prstGeom prst="rect">
            <a:avLst/>
          </a:prstGeom>
          <a:noFill/>
          <a:ln/>
        </p:spPr>
        <p:txBody>
          <a:bodyPr wrap="square" lIns="0" tIns="0" rIns="0" bIns="0" rtlCol="0" anchor="ctr">
            <a:normAutofit/>
          </a:bodyPr>
          <a:lstStyle/>
          <a:p>
            <a:pPr algn="r" indent="0" marL="0">
              <a:buNone/>
            </a:pPr>
            <a:r>
              <a:rPr lang="en-US" sz="900" dirty="0">
                <a:solidFill>
                  <a:srgbClr val="6B7785"/>
                </a:solidFill>
                <a:latin typeface="Aptos" pitchFamily="34" charset="0"/>
                <a:ea typeface="Aptos" pitchFamily="34" charset="-122"/>
                <a:cs typeface="Aptos" pitchFamily="34" charset="-120"/>
              </a:rPr>
              <a:t>Order quantity Q (units)</a:t>
            </a:r>
            <a:endParaRPr lang="en-US" sz="900" dirty="0"/>
          </a:p>
        </p:txBody>
      </p:sp>
      <p:sp>
        <p:nvSpPr>
          <p:cNvPr id="8" name="Text 6"/>
          <p:cNvSpPr txBox="1"/>
          <p:nvPr/>
        </p:nvSpPr>
        <p:spPr>
          <a:xfrm>
            <a:off x="502920" y="1325880"/>
            <a:ext cx="1554480" cy="201168"/>
          </a:xfrm>
          <a:prstGeom prst="rect">
            <a:avLst/>
          </a:prstGeom>
          <a:noFill/>
          <a:ln/>
        </p:spPr>
        <p:txBody>
          <a:bodyPr wrap="square" lIns="0" tIns="0" rIns="0" bIns="0" rtlCol="0" anchor="ctr">
            <a:normAutofit/>
          </a:bodyPr>
          <a:lstStyle/>
          <a:p>
            <a:pPr algn="l" indent="0" marL="0">
              <a:buNone/>
            </a:pPr>
            <a:r>
              <a:rPr lang="en-US" sz="900" dirty="0">
                <a:solidFill>
                  <a:srgbClr val="6B7785"/>
                </a:solidFill>
                <a:latin typeface="Aptos" pitchFamily="34" charset="0"/>
                <a:ea typeface="Aptos" pitchFamily="34" charset="-122"/>
                <a:cs typeface="Aptos" pitchFamily="34" charset="-120"/>
              </a:rPr>
              <a:t>Annual relevant cost ($)</a:t>
            </a:r>
            <a:endParaRPr lang="en-US" sz="900" dirty="0"/>
          </a:p>
        </p:txBody>
      </p:sp>
      <p:sp>
        <p:nvSpPr>
          <p:cNvPr id="9" name="Shape 7"/>
          <p:cNvSpPr/>
          <p:nvPr/>
        </p:nvSpPr>
        <p:spPr>
          <a:xfrm>
            <a:off x="777240" y="2585346"/>
            <a:ext cx="468630" cy="513989"/>
          </a:xfrm>
          <a:prstGeom prst="line">
            <a:avLst/>
          </a:prstGeom>
          <a:noFill/>
          <a:ln w="33020">
            <a:solidFill>
              <a:srgbClr val="1D6FA5"/>
            </a:solidFill>
            <a:prstDash val="solid"/>
          </a:ln>
        </p:spPr>
      </p:sp>
      <p:sp>
        <p:nvSpPr>
          <p:cNvPr id="10" name="Shape 8"/>
          <p:cNvSpPr/>
          <p:nvPr/>
        </p:nvSpPr>
        <p:spPr>
          <a:xfrm>
            <a:off x="1245870" y="3099335"/>
            <a:ext cx="468630" cy="367135"/>
          </a:xfrm>
          <a:prstGeom prst="line">
            <a:avLst/>
          </a:prstGeom>
          <a:noFill/>
          <a:ln w="33020">
            <a:solidFill>
              <a:srgbClr val="1D6FA5"/>
            </a:solidFill>
            <a:prstDash val="solid"/>
          </a:ln>
        </p:spPr>
      </p:sp>
      <p:sp>
        <p:nvSpPr>
          <p:cNvPr id="11" name="Shape 9"/>
          <p:cNvSpPr/>
          <p:nvPr/>
        </p:nvSpPr>
        <p:spPr>
          <a:xfrm>
            <a:off x="1714500" y="3466470"/>
            <a:ext cx="468630" cy="275351"/>
          </a:xfrm>
          <a:prstGeom prst="line">
            <a:avLst/>
          </a:prstGeom>
          <a:noFill/>
          <a:ln w="33020">
            <a:solidFill>
              <a:srgbClr val="1D6FA5"/>
            </a:solidFill>
            <a:prstDash val="solid"/>
          </a:ln>
        </p:spPr>
      </p:sp>
      <p:sp>
        <p:nvSpPr>
          <p:cNvPr id="12" name="Shape 10"/>
          <p:cNvSpPr/>
          <p:nvPr/>
        </p:nvSpPr>
        <p:spPr>
          <a:xfrm>
            <a:off x="2183130" y="3741821"/>
            <a:ext cx="468630" cy="214162"/>
          </a:xfrm>
          <a:prstGeom prst="line">
            <a:avLst/>
          </a:prstGeom>
          <a:noFill/>
          <a:ln w="33020">
            <a:solidFill>
              <a:srgbClr val="1D6FA5"/>
            </a:solidFill>
            <a:prstDash val="solid"/>
          </a:ln>
        </p:spPr>
      </p:sp>
      <p:sp>
        <p:nvSpPr>
          <p:cNvPr id="13" name="Shape 11"/>
          <p:cNvSpPr/>
          <p:nvPr/>
        </p:nvSpPr>
        <p:spPr>
          <a:xfrm>
            <a:off x="2651760" y="3955983"/>
            <a:ext cx="468630" cy="171330"/>
          </a:xfrm>
          <a:prstGeom prst="line">
            <a:avLst/>
          </a:prstGeom>
          <a:noFill/>
          <a:ln w="33020">
            <a:solidFill>
              <a:srgbClr val="1D6FA5"/>
            </a:solidFill>
            <a:prstDash val="solid"/>
          </a:ln>
        </p:spPr>
      </p:sp>
      <p:sp>
        <p:nvSpPr>
          <p:cNvPr id="14" name="Shape 12"/>
          <p:cNvSpPr/>
          <p:nvPr/>
        </p:nvSpPr>
        <p:spPr>
          <a:xfrm>
            <a:off x="3120390" y="4127313"/>
            <a:ext cx="468630" cy="140179"/>
          </a:xfrm>
          <a:prstGeom prst="line">
            <a:avLst/>
          </a:prstGeom>
          <a:noFill/>
          <a:ln w="33020">
            <a:solidFill>
              <a:srgbClr val="1D6FA5"/>
            </a:solidFill>
            <a:prstDash val="solid"/>
          </a:ln>
        </p:spPr>
      </p:sp>
      <p:sp>
        <p:nvSpPr>
          <p:cNvPr id="15" name="Shape 13"/>
          <p:cNvSpPr/>
          <p:nvPr/>
        </p:nvSpPr>
        <p:spPr>
          <a:xfrm>
            <a:off x="3589020" y="4267492"/>
            <a:ext cx="468630" cy="116816"/>
          </a:xfrm>
          <a:prstGeom prst="line">
            <a:avLst/>
          </a:prstGeom>
          <a:noFill/>
          <a:ln w="33020">
            <a:solidFill>
              <a:srgbClr val="1D6FA5"/>
            </a:solidFill>
            <a:prstDash val="solid"/>
          </a:ln>
        </p:spPr>
      </p:sp>
      <p:sp>
        <p:nvSpPr>
          <p:cNvPr id="16" name="Shape 14"/>
          <p:cNvSpPr/>
          <p:nvPr/>
        </p:nvSpPr>
        <p:spPr>
          <a:xfrm>
            <a:off x="4057650" y="4384307"/>
            <a:ext cx="468630" cy="98844"/>
          </a:xfrm>
          <a:prstGeom prst="line">
            <a:avLst/>
          </a:prstGeom>
          <a:noFill/>
          <a:ln w="33020">
            <a:solidFill>
              <a:srgbClr val="1D6FA5"/>
            </a:solidFill>
            <a:prstDash val="solid"/>
          </a:ln>
        </p:spPr>
      </p:sp>
      <p:sp>
        <p:nvSpPr>
          <p:cNvPr id="17" name="Shape 15"/>
          <p:cNvSpPr/>
          <p:nvPr/>
        </p:nvSpPr>
        <p:spPr>
          <a:xfrm>
            <a:off x="4526280" y="4483151"/>
            <a:ext cx="468630" cy="84723"/>
          </a:xfrm>
          <a:prstGeom prst="line">
            <a:avLst/>
          </a:prstGeom>
          <a:noFill/>
          <a:ln w="33020">
            <a:solidFill>
              <a:srgbClr val="1D6FA5"/>
            </a:solidFill>
            <a:prstDash val="solid"/>
          </a:ln>
        </p:spPr>
      </p:sp>
      <p:sp>
        <p:nvSpPr>
          <p:cNvPr id="18" name="Shape 16"/>
          <p:cNvSpPr/>
          <p:nvPr/>
        </p:nvSpPr>
        <p:spPr>
          <a:xfrm>
            <a:off x="4994910" y="4567875"/>
            <a:ext cx="468630" cy="73427"/>
          </a:xfrm>
          <a:prstGeom prst="line">
            <a:avLst/>
          </a:prstGeom>
          <a:noFill/>
          <a:ln w="33020">
            <a:solidFill>
              <a:srgbClr val="1D6FA5"/>
            </a:solidFill>
            <a:prstDash val="solid"/>
          </a:ln>
        </p:spPr>
      </p:sp>
      <p:sp>
        <p:nvSpPr>
          <p:cNvPr id="19" name="Shape 17"/>
          <p:cNvSpPr/>
          <p:nvPr/>
        </p:nvSpPr>
        <p:spPr>
          <a:xfrm>
            <a:off x="5463540" y="4641302"/>
            <a:ext cx="468630" cy="64249"/>
          </a:xfrm>
          <a:prstGeom prst="line">
            <a:avLst/>
          </a:prstGeom>
          <a:noFill/>
          <a:ln w="33020">
            <a:solidFill>
              <a:srgbClr val="1D6FA5"/>
            </a:solidFill>
            <a:prstDash val="solid"/>
          </a:ln>
        </p:spPr>
      </p:sp>
      <p:sp>
        <p:nvSpPr>
          <p:cNvPr id="20" name="Shape 18"/>
          <p:cNvSpPr/>
          <p:nvPr/>
        </p:nvSpPr>
        <p:spPr>
          <a:xfrm>
            <a:off x="5932170" y="4705551"/>
            <a:ext cx="468630" cy="56690"/>
          </a:xfrm>
          <a:prstGeom prst="line">
            <a:avLst/>
          </a:prstGeom>
          <a:noFill/>
          <a:ln w="33020">
            <a:solidFill>
              <a:srgbClr val="1D6FA5"/>
            </a:solidFill>
            <a:prstDash val="solid"/>
          </a:ln>
        </p:spPr>
      </p:sp>
      <p:sp>
        <p:nvSpPr>
          <p:cNvPr id="21" name="Shape 19"/>
          <p:cNvSpPr/>
          <p:nvPr/>
        </p:nvSpPr>
        <p:spPr>
          <a:xfrm>
            <a:off x="6400800" y="4762240"/>
            <a:ext cx="468630" cy="50391"/>
          </a:xfrm>
          <a:prstGeom prst="line">
            <a:avLst/>
          </a:prstGeom>
          <a:noFill/>
          <a:ln w="33020">
            <a:solidFill>
              <a:srgbClr val="1D6FA5"/>
            </a:solidFill>
            <a:prstDash val="solid"/>
          </a:ln>
        </p:spPr>
      </p:sp>
      <p:sp>
        <p:nvSpPr>
          <p:cNvPr id="22" name="Shape 20"/>
          <p:cNvSpPr/>
          <p:nvPr/>
        </p:nvSpPr>
        <p:spPr>
          <a:xfrm>
            <a:off x="6869430" y="4812632"/>
            <a:ext cx="468630" cy="45087"/>
          </a:xfrm>
          <a:prstGeom prst="line">
            <a:avLst/>
          </a:prstGeom>
          <a:noFill/>
          <a:ln w="33020">
            <a:solidFill>
              <a:srgbClr val="1D6FA5"/>
            </a:solidFill>
            <a:prstDash val="solid"/>
          </a:ln>
        </p:spPr>
      </p:sp>
      <p:sp>
        <p:nvSpPr>
          <p:cNvPr id="23" name="Shape 21"/>
          <p:cNvSpPr/>
          <p:nvPr/>
        </p:nvSpPr>
        <p:spPr>
          <a:xfrm>
            <a:off x="7338060" y="4857718"/>
            <a:ext cx="468630" cy="40578"/>
          </a:xfrm>
          <a:prstGeom prst="line">
            <a:avLst/>
          </a:prstGeom>
          <a:noFill/>
          <a:ln w="33020">
            <a:solidFill>
              <a:srgbClr val="1D6FA5"/>
            </a:solidFill>
            <a:prstDash val="solid"/>
          </a:ln>
        </p:spPr>
      </p:sp>
      <p:sp>
        <p:nvSpPr>
          <p:cNvPr id="24" name="Shape 22"/>
          <p:cNvSpPr/>
          <p:nvPr/>
        </p:nvSpPr>
        <p:spPr>
          <a:xfrm>
            <a:off x="7806690" y="4898296"/>
            <a:ext cx="468630" cy="36714"/>
          </a:xfrm>
          <a:prstGeom prst="line">
            <a:avLst/>
          </a:prstGeom>
          <a:noFill/>
          <a:ln w="33020">
            <a:solidFill>
              <a:srgbClr val="1D6FA5"/>
            </a:solidFill>
            <a:prstDash val="solid"/>
          </a:ln>
        </p:spPr>
      </p:sp>
      <p:sp>
        <p:nvSpPr>
          <p:cNvPr id="25" name="Shape 23"/>
          <p:cNvSpPr/>
          <p:nvPr/>
        </p:nvSpPr>
        <p:spPr>
          <a:xfrm>
            <a:off x="777240" y="5133875"/>
            <a:ext cx="468630" cy="-107081"/>
          </a:xfrm>
          <a:prstGeom prst="line">
            <a:avLst/>
          </a:prstGeom>
          <a:noFill/>
          <a:ln w="33020">
            <a:solidFill>
              <a:srgbClr val="F28E2B"/>
            </a:solidFill>
            <a:prstDash val="solid"/>
          </a:ln>
        </p:spPr>
      </p:sp>
      <p:sp>
        <p:nvSpPr>
          <p:cNvPr id="26" name="Shape 24"/>
          <p:cNvSpPr/>
          <p:nvPr/>
        </p:nvSpPr>
        <p:spPr>
          <a:xfrm>
            <a:off x="1245870" y="5026794"/>
            <a:ext cx="468630" cy="-107081"/>
          </a:xfrm>
          <a:prstGeom prst="line">
            <a:avLst/>
          </a:prstGeom>
          <a:noFill/>
          <a:ln w="33020">
            <a:solidFill>
              <a:srgbClr val="F28E2B"/>
            </a:solidFill>
            <a:prstDash val="solid"/>
          </a:ln>
        </p:spPr>
      </p:sp>
      <p:sp>
        <p:nvSpPr>
          <p:cNvPr id="27" name="Shape 25"/>
          <p:cNvSpPr/>
          <p:nvPr/>
        </p:nvSpPr>
        <p:spPr>
          <a:xfrm>
            <a:off x="1714500" y="4919713"/>
            <a:ext cx="468630" cy="-107081"/>
          </a:xfrm>
          <a:prstGeom prst="line">
            <a:avLst/>
          </a:prstGeom>
          <a:noFill/>
          <a:ln w="33020">
            <a:solidFill>
              <a:srgbClr val="F28E2B"/>
            </a:solidFill>
            <a:prstDash val="solid"/>
          </a:ln>
        </p:spPr>
      </p:sp>
      <p:sp>
        <p:nvSpPr>
          <p:cNvPr id="28" name="Shape 26"/>
          <p:cNvSpPr/>
          <p:nvPr/>
        </p:nvSpPr>
        <p:spPr>
          <a:xfrm>
            <a:off x="2183130" y="4812632"/>
            <a:ext cx="468630" cy="-107081"/>
          </a:xfrm>
          <a:prstGeom prst="line">
            <a:avLst/>
          </a:prstGeom>
          <a:noFill/>
          <a:ln w="33020">
            <a:solidFill>
              <a:srgbClr val="F28E2B"/>
            </a:solidFill>
            <a:prstDash val="solid"/>
          </a:ln>
        </p:spPr>
      </p:sp>
      <p:sp>
        <p:nvSpPr>
          <p:cNvPr id="29" name="Shape 27"/>
          <p:cNvSpPr/>
          <p:nvPr/>
        </p:nvSpPr>
        <p:spPr>
          <a:xfrm>
            <a:off x="2651760" y="4705551"/>
            <a:ext cx="468630" cy="-107081"/>
          </a:xfrm>
          <a:prstGeom prst="line">
            <a:avLst/>
          </a:prstGeom>
          <a:noFill/>
          <a:ln w="33020">
            <a:solidFill>
              <a:srgbClr val="F28E2B"/>
            </a:solidFill>
            <a:prstDash val="solid"/>
          </a:ln>
        </p:spPr>
      </p:sp>
      <p:sp>
        <p:nvSpPr>
          <p:cNvPr id="30" name="Shape 28"/>
          <p:cNvSpPr/>
          <p:nvPr/>
        </p:nvSpPr>
        <p:spPr>
          <a:xfrm>
            <a:off x="3120390" y="4598469"/>
            <a:ext cx="468630" cy="-107081"/>
          </a:xfrm>
          <a:prstGeom prst="line">
            <a:avLst/>
          </a:prstGeom>
          <a:noFill/>
          <a:ln w="33020">
            <a:solidFill>
              <a:srgbClr val="F28E2B"/>
            </a:solidFill>
            <a:prstDash val="solid"/>
          </a:ln>
        </p:spPr>
      </p:sp>
      <p:sp>
        <p:nvSpPr>
          <p:cNvPr id="31" name="Shape 29"/>
          <p:cNvSpPr/>
          <p:nvPr/>
        </p:nvSpPr>
        <p:spPr>
          <a:xfrm>
            <a:off x="3589020" y="4491388"/>
            <a:ext cx="468630" cy="-107081"/>
          </a:xfrm>
          <a:prstGeom prst="line">
            <a:avLst/>
          </a:prstGeom>
          <a:noFill/>
          <a:ln w="33020">
            <a:solidFill>
              <a:srgbClr val="F28E2B"/>
            </a:solidFill>
            <a:prstDash val="solid"/>
          </a:ln>
        </p:spPr>
      </p:sp>
      <p:sp>
        <p:nvSpPr>
          <p:cNvPr id="32" name="Shape 30"/>
          <p:cNvSpPr/>
          <p:nvPr/>
        </p:nvSpPr>
        <p:spPr>
          <a:xfrm>
            <a:off x="4057650" y="4384307"/>
            <a:ext cx="468630" cy="-107081"/>
          </a:xfrm>
          <a:prstGeom prst="line">
            <a:avLst/>
          </a:prstGeom>
          <a:noFill/>
          <a:ln w="33020">
            <a:solidFill>
              <a:srgbClr val="F28E2B"/>
            </a:solidFill>
            <a:prstDash val="solid"/>
          </a:ln>
        </p:spPr>
      </p:sp>
      <p:sp>
        <p:nvSpPr>
          <p:cNvPr id="33" name="Shape 31"/>
          <p:cNvSpPr/>
          <p:nvPr/>
        </p:nvSpPr>
        <p:spPr>
          <a:xfrm>
            <a:off x="4526280" y="4277226"/>
            <a:ext cx="468630" cy="-107081"/>
          </a:xfrm>
          <a:prstGeom prst="line">
            <a:avLst/>
          </a:prstGeom>
          <a:noFill/>
          <a:ln w="33020">
            <a:solidFill>
              <a:srgbClr val="F28E2B"/>
            </a:solidFill>
            <a:prstDash val="solid"/>
          </a:ln>
        </p:spPr>
      </p:sp>
      <p:sp>
        <p:nvSpPr>
          <p:cNvPr id="34" name="Shape 32"/>
          <p:cNvSpPr/>
          <p:nvPr/>
        </p:nvSpPr>
        <p:spPr>
          <a:xfrm>
            <a:off x="4994910" y="4170145"/>
            <a:ext cx="468630" cy="-107081"/>
          </a:xfrm>
          <a:prstGeom prst="line">
            <a:avLst/>
          </a:prstGeom>
          <a:noFill/>
          <a:ln w="33020">
            <a:solidFill>
              <a:srgbClr val="F28E2B"/>
            </a:solidFill>
            <a:prstDash val="solid"/>
          </a:ln>
        </p:spPr>
      </p:sp>
      <p:sp>
        <p:nvSpPr>
          <p:cNvPr id="35" name="Shape 33"/>
          <p:cNvSpPr/>
          <p:nvPr/>
        </p:nvSpPr>
        <p:spPr>
          <a:xfrm>
            <a:off x="5463540" y="4063064"/>
            <a:ext cx="468630" cy="-107081"/>
          </a:xfrm>
          <a:prstGeom prst="line">
            <a:avLst/>
          </a:prstGeom>
          <a:noFill/>
          <a:ln w="33020">
            <a:solidFill>
              <a:srgbClr val="F28E2B"/>
            </a:solidFill>
            <a:prstDash val="solid"/>
          </a:ln>
        </p:spPr>
      </p:sp>
      <p:sp>
        <p:nvSpPr>
          <p:cNvPr id="36" name="Shape 34"/>
          <p:cNvSpPr/>
          <p:nvPr/>
        </p:nvSpPr>
        <p:spPr>
          <a:xfrm>
            <a:off x="5932170" y="3955983"/>
            <a:ext cx="468630" cy="-107081"/>
          </a:xfrm>
          <a:prstGeom prst="line">
            <a:avLst/>
          </a:prstGeom>
          <a:noFill/>
          <a:ln w="33020">
            <a:solidFill>
              <a:srgbClr val="F28E2B"/>
            </a:solidFill>
            <a:prstDash val="solid"/>
          </a:ln>
        </p:spPr>
      </p:sp>
      <p:sp>
        <p:nvSpPr>
          <p:cNvPr id="37" name="Shape 35"/>
          <p:cNvSpPr/>
          <p:nvPr/>
        </p:nvSpPr>
        <p:spPr>
          <a:xfrm>
            <a:off x="6400800" y="3848902"/>
            <a:ext cx="468630" cy="-107081"/>
          </a:xfrm>
          <a:prstGeom prst="line">
            <a:avLst/>
          </a:prstGeom>
          <a:noFill/>
          <a:ln w="33020">
            <a:solidFill>
              <a:srgbClr val="F28E2B"/>
            </a:solidFill>
            <a:prstDash val="solid"/>
          </a:ln>
        </p:spPr>
      </p:sp>
      <p:sp>
        <p:nvSpPr>
          <p:cNvPr id="38" name="Shape 36"/>
          <p:cNvSpPr/>
          <p:nvPr/>
        </p:nvSpPr>
        <p:spPr>
          <a:xfrm>
            <a:off x="6869430" y="3741821"/>
            <a:ext cx="468630" cy="-107081"/>
          </a:xfrm>
          <a:prstGeom prst="line">
            <a:avLst/>
          </a:prstGeom>
          <a:noFill/>
          <a:ln w="33020">
            <a:solidFill>
              <a:srgbClr val="F28E2B"/>
            </a:solidFill>
            <a:prstDash val="solid"/>
          </a:ln>
        </p:spPr>
      </p:sp>
      <p:sp>
        <p:nvSpPr>
          <p:cNvPr id="39" name="Shape 37"/>
          <p:cNvSpPr/>
          <p:nvPr/>
        </p:nvSpPr>
        <p:spPr>
          <a:xfrm>
            <a:off x="7338060" y="3634740"/>
            <a:ext cx="468630" cy="-107081"/>
          </a:xfrm>
          <a:prstGeom prst="line">
            <a:avLst/>
          </a:prstGeom>
          <a:noFill/>
          <a:ln w="33020">
            <a:solidFill>
              <a:srgbClr val="F28E2B"/>
            </a:solidFill>
            <a:prstDash val="solid"/>
          </a:ln>
        </p:spPr>
      </p:sp>
      <p:sp>
        <p:nvSpPr>
          <p:cNvPr id="40" name="Shape 38"/>
          <p:cNvSpPr/>
          <p:nvPr/>
        </p:nvSpPr>
        <p:spPr>
          <a:xfrm>
            <a:off x="7806690" y="3527659"/>
            <a:ext cx="468630" cy="-107081"/>
          </a:xfrm>
          <a:prstGeom prst="line">
            <a:avLst/>
          </a:prstGeom>
          <a:noFill/>
          <a:ln w="33020">
            <a:solidFill>
              <a:srgbClr val="F28E2B"/>
            </a:solidFill>
            <a:prstDash val="solid"/>
          </a:ln>
        </p:spPr>
      </p:sp>
      <p:sp>
        <p:nvSpPr>
          <p:cNvPr id="41" name="Shape 39"/>
          <p:cNvSpPr/>
          <p:nvPr/>
        </p:nvSpPr>
        <p:spPr>
          <a:xfrm>
            <a:off x="777240" y="2049940"/>
            <a:ext cx="468630" cy="406908"/>
          </a:xfrm>
          <a:prstGeom prst="line">
            <a:avLst/>
          </a:prstGeom>
          <a:noFill/>
          <a:ln w="44450">
            <a:solidFill>
              <a:srgbClr val="0B1F33"/>
            </a:solidFill>
            <a:prstDash val="solid"/>
          </a:ln>
        </p:spPr>
      </p:sp>
      <p:sp>
        <p:nvSpPr>
          <p:cNvPr id="42" name="Shape 40"/>
          <p:cNvSpPr/>
          <p:nvPr/>
        </p:nvSpPr>
        <p:spPr>
          <a:xfrm>
            <a:off x="1245870" y="2456848"/>
            <a:ext cx="468630" cy="260054"/>
          </a:xfrm>
          <a:prstGeom prst="line">
            <a:avLst/>
          </a:prstGeom>
          <a:noFill/>
          <a:ln w="44450">
            <a:solidFill>
              <a:srgbClr val="0B1F33"/>
            </a:solidFill>
            <a:prstDash val="solid"/>
          </a:ln>
        </p:spPr>
      </p:sp>
      <p:sp>
        <p:nvSpPr>
          <p:cNvPr id="43" name="Shape 41"/>
          <p:cNvSpPr/>
          <p:nvPr/>
        </p:nvSpPr>
        <p:spPr>
          <a:xfrm>
            <a:off x="1714500" y="2716902"/>
            <a:ext cx="468630" cy="168270"/>
          </a:xfrm>
          <a:prstGeom prst="line">
            <a:avLst/>
          </a:prstGeom>
          <a:noFill/>
          <a:ln w="44450">
            <a:solidFill>
              <a:srgbClr val="0B1F33"/>
            </a:solidFill>
            <a:prstDash val="solid"/>
          </a:ln>
        </p:spPr>
      </p:sp>
      <p:sp>
        <p:nvSpPr>
          <p:cNvPr id="44" name="Shape 42"/>
          <p:cNvSpPr/>
          <p:nvPr/>
        </p:nvSpPr>
        <p:spPr>
          <a:xfrm>
            <a:off x="2183130" y="2885173"/>
            <a:ext cx="468630" cy="107081"/>
          </a:xfrm>
          <a:prstGeom prst="line">
            <a:avLst/>
          </a:prstGeom>
          <a:noFill/>
          <a:ln w="44450">
            <a:solidFill>
              <a:srgbClr val="0B1F33"/>
            </a:solidFill>
            <a:prstDash val="solid"/>
          </a:ln>
        </p:spPr>
      </p:sp>
      <p:sp>
        <p:nvSpPr>
          <p:cNvPr id="45" name="Shape 43"/>
          <p:cNvSpPr/>
          <p:nvPr/>
        </p:nvSpPr>
        <p:spPr>
          <a:xfrm>
            <a:off x="2651760" y="2992254"/>
            <a:ext cx="468630" cy="64249"/>
          </a:xfrm>
          <a:prstGeom prst="line">
            <a:avLst/>
          </a:prstGeom>
          <a:noFill/>
          <a:ln w="44450">
            <a:solidFill>
              <a:srgbClr val="0B1F33"/>
            </a:solidFill>
            <a:prstDash val="solid"/>
          </a:ln>
        </p:spPr>
      </p:sp>
      <p:sp>
        <p:nvSpPr>
          <p:cNvPr id="46" name="Shape 44"/>
          <p:cNvSpPr/>
          <p:nvPr/>
        </p:nvSpPr>
        <p:spPr>
          <a:xfrm>
            <a:off x="3120390" y="3056502"/>
            <a:ext cx="468630" cy="33098"/>
          </a:xfrm>
          <a:prstGeom prst="line">
            <a:avLst/>
          </a:prstGeom>
          <a:noFill/>
          <a:ln w="44450">
            <a:solidFill>
              <a:srgbClr val="0B1F33"/>
            </a:solidFill>
            <a:prstDash val="solid"/>
          </a:ln>
        </p:spPr>
      </p:sp>
      <p:sp>
        <p:nvSpPr>
          <p:cNvPr id="47" name="Shape 45"/>
          <p:cNvSpPr/>
          <p:nvPr/>
        </p:nvSpPr>
        <p:spPr>
          <a:xfrm>
            <a:off x="3589020" y="3089600"/>
            <a:ext cx="468630" cy="9735"/>
          </a:xfrm>
          <a:prstGeom prst="line">
            <a:avLst/>
          </a:prstGeom>
          <a:noFill/>
          <a:ln w="44450">
            <a:solidFill>
              <a:srgbClr val="0B1F33"/>
            </a:solidFill>
            <a:prstDash val="solid"/>
          </a:ln>
        </p:spPr>
      </p:sp>
      <p:sp>
        <p:nvSpPr>
          <p:cNvPr id="48" name="Shape 46"/>
          <p:cNvSpPr/>
          <p:nvPr/>
        </p:nvSpPr>
        <p:spPr>
          <a:xfrm>
            <a:off x="4057650" y="3099335"/>
            <a:ext cx="468630" cy="-8237"/>
          </a:xfrm>
          <a:prstGeom prst="line">
            <a:avLst/>
          </a:prstGeom>
          <a:noFill/>
          <a:ln w="44450">
            <a:solidFill>
              <a:srgbClr val="0B1F33"/>
            </a:solidFill>
            <a:prstDash val="solid"/>
          </a:ln>
        </p:spPr>
      </p:sp>
      <p:sp>
        <p:nvSpPr>
          <p:cNvPr id="49" name="Shape 47"/>
          <p:cNvSpPr/>
          <p:nvPr/>
        </p:nvSpPr>
        <p:spPr>
          <a:xfrm>
            <a:off x="4526280" y="3091098"/>
            <a:ext cx="468630" cy="-22358"/>
          </a:xfrm>
          <a:prstGeom prst="line">
            <a:avLst/>
          </a:prstGeom>
          <a:noFill/>
          <a:ln w="44450">
            <a:solidFill>
              <a:srgbClr val="0B1F33"/>
            </a:solidFill>
            <a:prstDash val="solid"/>
          </a:ln>
        </p:spPr>
      </p:sp>
      <p:sp>
        <p:nvSpPr>
          <p:cNvPr id="50" name="Shape 48"/>
          <p:cNvSpPr/>
          <p:nvPr/>
        </p:nvSpPr>
        <p:spPr>
          <a:xfrm>
            <a:off x="4994910" y="3068740"/>
            <a:ext cx="468630" cy="-33654"/>
          </a:xfrm>
          <a:prstGeom prst="line">
            <a:avLst/>
          </a:prstGeom>
          <a:noFill/>
          <a:ln w="44450">
            <a:solidFill>
              <a:srgbClr val="0B1F33"/>
            </a:solidFill>
            <a:prstDash val="solid"/>
          </a:ln>
        </p:spPr>
      </p:sp>
      <p:sp>
        <p:nvSpPr>
          <p:cNvPr id="51" name="Shape 49"/>
          <p:cNvSpPr/>
          <p:nvPr/>
        </p:nvSpPr>
        <p:spPr>
          <a:xfrm>
            <a:off x="5463540" y="3035086"/>
            <a:ext cx="468630" cy="-42832"/>
          </a:xfrm>
          <a:prstGeom prst="line">
            <a:avLst/>
          </a:prstGeom>
          <a:noFill/>
          <a:ln w="44450">
            <a:solidFill>
              <a:srgbClr val="0B1F33"/>
            </a:solidFill>
            <a:prstDash val="solid"/>
          </a:ln>
        </p:spPr>
      </p:sp>
      <p:sp>
        <p:nvSpPr>
          <p:cNvPr id="52" name="Shape 50"/>
          <p:cNvSpPr/>
          <p:nvPr/>
        </p:nvSpPr>
        <p:spPr>
          <a:xfrm>
            <a:off x="5932170" y="2992254"/>
            <a:ext cx="468630" cy="-50391"/>
          </a:xfrm>
          <a:prstGeom prst="line">
            <a:avLst/>
          </a:prstGeom>
          <a:noFill/>
          <a:ln w="44450">
            <a:solidFill>
              <a:srgbClr val="0B1F33"/>
            </a:solidFill>
            <a:prstDash val="solid"/>
          </a:ln>
        </p:spPr>
      </p:sp>
      <p:sp>
        <p:nvSpPr>
          <p:cNvPr id="53" name="Shape 51"/>
          <p:cNvSpPr/>
          <p:nvPr/>
        </p:nvSpPr>
        <p:spPr>
          <a:xfrm>
            <a:off x="6400800" y="2941863"/>
            <a:ext cx="468630" cy="-56690"/>
          </a:xfrm>
          <a:prstGeom prst="line">
            <a:avLst/>
          </a:prstGeom>
          <a:noFill/>
          <a:ln w="44450">
            <a:solidFill>
              <a:srgbClr val="0B1F33"/>
            </a:solidFill>
            <a:prstDash val="solid"/>
          </a:ln>
        </p:spPr>
      </p:sp>
      <p:sp>
        <p:nvSpPr>
          <p:cNvPr id="54" name="Shape 52"/>
          <p:cNvSpPr/>
          <p:nvPr/>
        </p:nvSpPr>
        <p:spPr>
          <a:xfrm>
            <a:off x="6869430" y="2885173"/>
            <a:ext cx="468630" cy="-61994"/>
          </a:xfrm>
          <a:prstGeom prst="line">
            <a:avLst/>
          </a:prstGeom>
          <a:noFill/>
          <a:ln w="44450">
            <a:solidFill>
              <a:srgbClr val="0B1F33"/>
            </a:solidFill>
            <a:prstDash val="solid"/>
          </a:ln>
        </p:spPr>
      </p:sp>
      <p:sp>
        <p:nvSpPr>
          <p:cNvPr id="55" name="Shape 53"/>
          <p:cNvSpPr/>
          <p:nvPr/>
        </p:nvSpPr>
        <p:spPr>
          <a:xfrm>
            <a:off x="7338060" y="2823178"/>
            <a:ext cx="468630" cy="-66503"/>
          </a:xfrm>
          <a:prstGeom prst="line">
            <a:avLst/>
          </a:prstGeom>
          <a:noFill/>
          <a:ln w="44450">
            <a:solidFill>
              <a:srgbClr val="0B1F33"/>
            </a:solidFill>
            <a:prstDash val="solid"/>
          </a:ln>
        </p:spPr>
      </p:sp>
      <p:sp>
        <p:nvSpPr>
          <p:cNvPr id="56" name="Shape 54"/>
          <p:cNvSpPr/>
          <p:nvPr/>
        </p:nvSpPr>
        <p:spPr>
          <a:xfrm>
            <a:off x="7806690" y="2756675"/>
            <a:ext cx="468630" cy="-70368"/>
          </a:xfrm>
          <a:prstGeom prst="line">
            <a:avLst/>
          </a:prstGeom>
          <a:noFill/>
          <a:ln w="44450">
            <a:solidFill>
              <a:srgbClr val="0B1F33"/>
            </a:solidFill>
            <a:prstDash val="solid"/>
          </a:ln>
        </p:spPr>
      </p:sp>
      <p:sp>
        <p:nvSpPr>
          <p:cNvPr id="57" name="Shape 55"/>
          <p:cNvSpPr/>
          <p:nvPr/>
        </p:nvSpPr>
        <p:spPr>
          <a:xfrm>
            <a:off x="4057650" y="5669280"/>
            <a:ext cx="0" cy="-3291840"/>
          </a:xfrm>
          <a:prstGeom prst="line">
            <a:avLst/>
          </a:prstGeom>
          <a:noFill/>
          <a:ln w="19050">
            <a:solidFill>
              <a:srgbClr val="D1495B"/>
            </a:solidFill>
            <a:prstDash val="dash"/>
          </a:ln>
        </p:spPr>
      </p:sp>
      <p:sp>
        <p:nvSpPr>
          <p:cNvPr id="58" name="Shape 56"/>
          <p:cNvSpPr/>
          <p:nvPr/>
        </p:nvSpPr>
        <p:spPr>
          <a:xfrm>
            <a:off x="3975354" y="3017039"/>
            <a:ext cx="164592" cy="164592"/>
          </a:xfrm>
          <a:prstGeom prst="ellipse">
            <a:avLst/>
          </a:prstGeom>
          <a:solidFill>
            <a:srgbClr val="D1495B"/>
          </a:solidFill>
          <a:ln w="12700">
            <a:solidFill>
              <a:srgbClr val="D1495B"/>
            </a:solidFill>
            <a:prstDash val="solid"/>
          </a:ln>
        </p:spPr>
      </p:sp>
      <p:sp>
        <p:nvSpPr>
          <p:cNvPr id="59" name="Shape 57"/>
          <p:cNvSpPr/>
          <p:nvPr/>
        </p:nvSpPr>
        <p:spPr>
          <a:xfrm>
            <a:off x="3527298" y="1984248"/>
            <a:ext cx="1097280" cy="274320"/>
          </a:xfrm>
          <a:prstGeom prst="roundRect">
            <a:avLst>
              <a:gd name="adj" fmla="val 50000"/>
            </a:avLst>
          </a:prstGeom>
          <a:solidFill>
            <a:srgbClr val="FBEAEC"/>
          </a:solidFill>
          <a:ln w="12700">
            <a:solidFill>
              <a:srgbClr val="FBEAEC"/>
            </a:solidFill>
            <a:prstDash val="solid"/>
          </a:ln>
        </p:spPr>
      </p:sp>
      <p:sp>
        <p:nvSpPr>
          <p:cNvPr id="60" name="Text 58"/>
          <p:cNvSpPr txBox="1"/>
          <p:nvPr/>
        </p:nvSpPr>
        <p:spPr>
          <a:xfrm>
            <a:off x="3527298" y="1984248"/>
            <a:ext cx="1097280" cy="274320"/>
          </a:xfrm>
          <a:prstGeom prst="rect">
            <a:avLst/>
          </a:prstGeom>
          <a:noFill/>
          <a:ln/>
        </p:spPr>
        <p:txBody>
          <a:bodyPr wrap="square" lIns="0" tIns="0" rIns="0" bIns="0" rtlCol="0" anchor="ctr">
            <a:normAutofit/>
          </a:bodyPr>
          <a:lstStyle/>
          <a:p>
            <a:pPr algn="ctr" indent="0" marL="0">
              <a:buNone/>
            </a:pPr>
            <a:r>
              <a:rPr lang="en-US" sz="1000" b="1" dirty="0">
                <a:solidFill>
                  <a:srgbClr val="D1495B"/>
                </a:solidFill>
                <a:latin typeface="Aptos" pitchFamily="34" charset="0"/>
                <a:ea typeface="Aptos" pitchFamily="34" charset="-122"/>
                <a:cs typeface="Aptos" pitchFamily="34" charset="-120"/>
              </a:rPr>
              <a:t>Q* = 600</a:t>
            </a:r>
            <a:endParaRPr lang="en-US" sz="1000" dirty="0"/>
          </a:p>
        </p:txBody>
      </p:sp>
      <p:sp>
        <p:nvSpPr>
          <p:cNvPr id="61" name="Text 59"/>
          <p:cNvSpPr txBox="1"/>
          <p:nvPr/>
        </p:nvSpPr>
        <p:spPr>
          <a:xfrm>
            <a:off x="8732520" y="1920240"/>
            <a:ext cx="2468880" cy="274320"/>
          </a:xfrm>
          <a:prstGeom prst="rect">
            <a:avLst/>
          </a:prstGeom>
          <a:noFill/>
          <a:ln/>
        </p:spPr>
        <p:txBody>
          <a:bodyPr wrap="square" lIns="0" tIns="0" rIns="0" bIns="0" rtlCol="0" anchor="ctr">
            <a:normAutofit/>
          </a:bodyPr>
          <a:lstStyle/>
          <a:p>
            <a:pPr algn="l" indent="0" marL="0">
              <a:buNone/>
            </a:pPr>
            <a:r>
              <a:rPr lang="en-US" sz="1400" b="1" dirty="0">
                <a:solidFill>
                  <a:srgbClr val="1D6FA5"/>
                </a:solidFill>
                <a:latin typeface="Aptos" pitchFamily="34" charset="0"/>
                <a:ea typeface="Aptos" pitchFamily="34" charset="-122"/>
                <a:cs typeface="Aptos" pitchFamily="34" charset="-120"/>
              </a:rPr>
              <a:t>Ordering  DS/Q</a:t>
            </a:r>
            <a:endParaRPr lang="en-US" sz="1400" dirty="0"/>
          </a:p>
        </p:txBody>
      </p:sp>
      <p:sp>
        <p:nvSpPr>
          <p:cNvPr id="62" name="Text 60"/>
          <p:cNvSpPr txBox="1"/>
          <p:nvPr/>
        </p:nvSpPr>
        <p:spPr>
          <a:xfrm>
            <a:off x="8732520" y="2423160"/>
            <a:ext cx="2468880" cy="274320"/>
          </a:xfrm>
          <a:prstGeom prst="rect">
            <a:avLst/>
          </a:prstGeom>
          <a:noFill/>
          <a:ln/>
        </p:spPr>
        <p:txBody>
          <a:bodyPr wrap="square" lIns="0" tIns="0" rIns="0" bIns="0" rtlCol="0" anchor="ctr">
            <a:normAutofit/>
          </a:bodyPr>
          <a:lstStyle/>
          <a:p>
            <a:pPr algn="l" indent="0" marL="0">
              <a:buNone/>
            </a:pPr>
            <a:r>
              <a:rPr lang="en-US" sz="1400" b="1" dirty="0">
                <a:solidFill>
                  <a:srgbClr val="F28E2B"/>
                </a:solidFill>
                <a:latin typeface="Aptos" pitchFamily="34" charset="0"/>
                <a:ea typeface="Aptos" pitchFamily="34" charset="-122"/>
                <a:cs typeface="Aptos" pitchFamily="34" charset="-120"/>
              </a:rPr>
              <a:t>Holding  HQ/2</a:t>
            </a:r>
            <a:endParaRPr lang="en-US" sz="1400" dirty="0"/>
          </a:p>
        </p:txBody>
      </p:sp>
      <p:sp>
        <p:nvSpPr>
          <p:cNvPr id="63" name="Text 61"/>
          <p:cNvSpPr txBox="1"/>
          <p:nvPr/>
        </p:nvSpPr>
        <p:spPr>
          <a:xfrm>
            <a:off x="8732520" y="2926080"/>
            <a:ext cx="2468880" cy="274320"/>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Total relevant</a:t>
            </a:r>
            <a:endParaRPr lang="en-US" sz="1400" dirty="0"/>
          </a:p>
        </p:txBody>
      </p:sp>
      <p:sp>
        <p:nvSpPr>
          <p:cNvPr id="64" name="Shape 62"/>
          <p:cNvSpPr/>
          <p:nvPr/>
        </p:nvSpPr>
        <p:spPr>
          <a:xfrm>
            <a:off x="8641080" y="3749040"/>
            <a:ext cx="2651760" cy="1234440"/>
          </a:xfrm>
          <a:prstGeom prst="roundRect">
            <a:avLst>
              <a:gd name="adj" fmla="val 7407"/>
            </a:avLst>
          </a:prstGeom>
          <a:solidFill>
            <a:srgbClr val="EAF3F8"/>
          </a:solidFill>
          <a:ln w="12700">
            <a:solidFill>
              <a:srgbClr val="EAF3F8"/>
            </a:solidFill>
            <a:prstDash val="solid"/>
          </a:ln>
        </p:spPr>
      </p:sp>
      <p:sp>
        <p:nvSpPr>
          <p:cNvPr id="65" name="Text 63"/>
          <p:cNvSpPr txBox="1"/>
          <p:nvPr/>
        </p:nvSpPr>
        <p:spPr>
          <a:xfrm>
            <a:off x="8887968" y="3931920"/>
            <a:ext cx="914400" cy="256032"/>
          </a:xfrm>
          <a:prstGeom prst="rect">
            <a:avLst/>
          </a:prstGeom>
          <a:noFill/>
          <a:ln/>
        </p:spPr>
        <p:txBody>
          <a:bodyPr wrap="square" lIns="0" tIns="0" rIns="0" bIns="0" rtlCol="0" anchor="ctr">
            <a:normAutofit/>
          </a:bodyPr>
          <a:lstStyle/>
          <a:p>
            <a:pPr algn="l" indent="0" marL="0">
              <a:buNone/>
            </a:pPr>
            <a:r>
              <a:rPr lang="en-US" sz="1100" b="1" dirty="0">
                <a:solidFill>
                  <a:srgbClr val="1D6FA5"/>
                </a:solidFill>
                <a:latin typeface="Aptos" pitchFamily="34" charset="0"/>
                <a:ea typeface="Aptos" pitchFamily="34" charset="-122"/>
                <a:cs typeface="Aptos" pitchFamily="34" charset="-120"/>
              </a:rPr>
              <a:t>At EOQ</a:t>
            </a:r>
            <a:endParaRPr lang="en-US" sz="1100" dirty="0"/>
          </a:p>
        </p:txBody>
      </p:sp>
      <p:sp>
        <p:nvSpPr>
          <p:cNvPr id="66" name="Text 64"/>
          <p:cNvSpPr txBox="1"/>
          <p:nvPr/>
        </p:nvSpPr>
        <p:spPr>
          <a:xfrm>
            <a:off x="8887968" y="4279392"/>
            <a:ext cx="1920240" cy="502920"/>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Ordering = $6,000</a:t>
            </a:r>
            <a:endParaRPr lang="en-US" sz="1400" dirty="0"/>
          </a:p>
          <a:p>
            <a:pPr algn="l" indent="0" marL="0">
              <a:buNone/>
            </a:pPr>
            <a:r>
              <a:rPr lang="en-US" sz="1400" b="1" dirty="0">
                <a:solidFill>
                  <a:srgbClr val="0B1F33"/>
                </a:solidFill>
                <a:latin typeface="Aptos" pitchFamily="34" charset="0"/>
                <a:ea typeface="Aptos" pitchFamily="34" charset="-122"/>
                <a:cs typeface="Aptos" pitchFamily="34" charset="-120"/>
              </a:rPr>
              <a:t>Holding = $6,000</a:t>
            </a:r>
            <a:endParaRPr lang="en-US" sz="1400" dirty="0"/>
          </a:p>
        </p:txBody>
      </p:sp>
      <p:sp>
        <p:nvSpPr>
          <p:cNvPr id="67" name="Shape 65"/>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68" name="Text 66"/>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69" name="Text 67"/>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The total-cost curve is often flat near EOQ, so operational constraints can justify a nearby practical quantity.</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WORKED EXAMPLE</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EOQ for an illustrative high-volume SKU</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D = 24,000 units/year • S = $150/order • H = $20/unit-year • 300 working days/year</a:t>
            </a:r>
            <a:endParaRPr lang="en-US" sz="1350" dirty="0"/>
          </a:p>
        </p:txBody>
      </p:sp>
      <p:sp>
        <p:nvSpPr>
          <p:cNvPr id="5" name="Shape 3"/>
          <p:cNvSpPr/>
          <p:nvPr/>
        </p:nvSpPr>
        <p:spPr>
          <a:xfrm>
            <a:off x="713232" y="1682496"/>
            <a:ext cx="438912" cy="438912"/>
          </a:xfrm>
          <a:prstGeom prst="ellipse">
            <a:avLst/>
          </a:prstGeom>
          <a:solidFill>
            <a:srgbClr val="1D6FA5"/>
          </a:solidFill>
          <a:ln w="12700">
            <a:solidFill>
              <a:srgbClr val="1D6FA5"/>
            </a:solidFill>
            <a:prstDash val="solid"/>
          </a:ln>
        </p:spPr>
      </p:sp>
      <p:sp>
        <p:nvSpPr>
          <p:cNvPr id="6" name="Text 4"/>
          <p:cNvSpPr txBox="1"/>
          <p:nvPr/>
        </p:nvSpPr>
        <p:spPr>
          <a:xfrm>
            <a:off x="713232" y="1682496"/>
            <a:ext cx="438912" cy="43891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5"/>
          <p:cNvSpPr txBox="1"/>
          <p:nvPr/>
        </p:nvSpPr>
        <p:spPr>
          <a:xfrm>
            <a:off x="1353312" y="1572768"/>
            <a:ext cx="1828800" cy="301752"/>
          </a:xfrm>
          <a:prstGeom prst="rect">
            <a:avLst/>
          </a:prstGeom>
          <a:noFill/>
          <a:ln/>
        </p:spPr>
        <p:txBody>
          <a:bodyPr wrap="square" lIns="0" tIns="0" rIns="0" bIns="0" rtlCol="0" anchor="ctr">
            <a:normAutofit/>
          </a:bodyPr>
          <a:lstStyle/>
          <a:p>
            <a:pPr algn="l" indent="0" marL="0">
              <a:buNone/>
            </a:pPr>
            <a:r>
              <a:rPr lang="en-US" sz="1300" b="1" dirty="0">
                <a:solidFill>
                  <a:srgbClr val="6B7785"/>
                </a:solidFill>
                <a:latin typeface="Aptos" pitchFamily="34" charset="0"/>
                <a:ea typeface="Aptos" pitchFamily="34" charset="-122"/>
                <a:cs typeface="Aptos" pitchFamily="34" charset="-120"/>
              </a:rPr>
              <a:t>Substitute</a:t>
            </a:r>
            <a:endParaRPr lang="en-US" sz="1300" dirty="0"/>
          </a:p>
        </p:txBody>
      </p:sp>
      <p:sp>
        <p:nvSpPr>
          <p:cNvPr id="8" name="Text 6"/>
          <p:cNvSpPr txBox="1"/>
          <p:nvPr/>
        </p:nvSpPr>
        <p:spPr>
          <a:xfrm>
            <a:off x="2880360" y="1545336"/>
            <a:ext cx="7863840" cy="411480"/>
          </a:xfrm>
          <a:prstGeom prst="rect">
            <a:avLst/>
          </a:prstGeom>
          <a:noFill/>
          <a:ln/>
        </p:spPr>
        <p:txBody>
          <a:bodyPr wrap="square" lIns="0" tIns="0" rIns="0" bIns="0" rtlCol="0" anchor="ctr">
            <a:normAutofit/>
          </a:bodyPr>
          <a:lstStyle/>
          <a:p>
            <a:pPr algn="l" indent="0" marL="0">
              <a:buNone/>
            </a:pPr>
            <a:r>
              <a:rPr lang="en-US" sz="1900" dirty="0">
                <a:solidFill>
                  <a:srgbClr val="152433"/>
                </a:solidFill>
                <a:latin typeface="Aptos" pitchFamily="34" charset="0"/>
                <a:ea typeface="Aptos" pitchFamily="34" charset="-122"/>
                <a:cs typeface="Aptos" pitchFamily="34" charset="-120"/>
              </a:rPr>
              <a:t>Q* = √[(2 × 24,000 × 150) / 20]</a:t>
            </a:r>
            <a:endParaRPr lang="en-US" sz="1900" dirty="0"/>
          </a:p>
        </p:txBody>
      </p:sp>
      <p:sp>
        <p:nvSpPr>
          <p:cNvPr id="9" name="Shape 7"/>
          <p:cNvSpPr/>
          <p:nvPr/>
        </p:nvSpPr>
        <p:spPr>
          <a:xfrm>
            <a:off x="713232" y="2532888"/>
            <a:ext cx="438912" cy="438912"/>
          </a:xfrm>
          <a:prstGeom prst="ellipse">
            <a:avLst/>
          </a:prstGeom>
          <a:solidFill>
            <a:srgbClr val="1D6FA5"/>
          </a:solidFill>
          <a:ln w="12700">
            <a:solidFill>
              <a:srgbClr val="1D6FA5"/>
            </a:solidFill>
            <a:prstDash val="solid"/>
          </a:ln>
        </p:spPr>
      </p:sp>
      <p:sp>
        <p:nvSpPr>
          <p:cNvPr id="10" name="Text 8"/>
          <p:cNvSpPr txBox="1"/>
          <p:nvPr/>
        </p:nvSpPr>
        <p:spPr>
          <a:xfrm>
            <a:off x="713232" y="2532888"/>
            <a:ext cx="438912" cy="43891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9"/>
          <p:cNvSpPr txBox="1"/>
          <p:nvPr/>
        </p:nvSpPr>
        <p:spPr>
          <a:xfrm>
            <a:off x="1353312" y="2423160"/>
            <a:ext cx="1828800" cy="301752"/>
          </a:xfrm>
          <a:prstGeom prst="rect">
            <a:avLst/>
          </a:prstGeom>
          <a:noFill/>
          <a:ln/>
        </p:spPr>
        <p:txBody>
          <a:bodyPr wrap="square" lIns="0" tIns="0" rIns="0" bIns="0" rtlCol="0" anchor="ctr">
            <a:normAutofit/>
          </a:bodyPr>
          <a:lstStyle/>
          <a:p>
            <a:pPr algn="l" indent="0" marL="0">
              <a:buNone/>
            </a:pPr>
            <a:r>
              <a:rPr lang="en-US" sz="1300" b="1" dirty="0">
                <a:solidFill>
                  <a:srgbClr val="6B7785"/>
                </a:solidFill>
                <a:latin typeface="Aptos" pitchFamily="34" charset="0"/>
                <a:ea typeface="Aptos" pitchFamily="34" charset="-122"/>
                <a:cs typeface="Aptos" pitchFamily="34" charset="-120"/>
              </a:rPr>
              <a:t>Simplify</a:t>
            </a:r>
            <a:endParaRPr lang="en-US" sz="1300" dirty="0"/>
          </a:p>
        </p:txBody>
      </p:sp>
      <p:sp>
        <p:nvSpPr>
          <p:cNvPr id="12" name="Text 10"/>
          <p:cNvSpPr txBox="1"/>
          <p:nvPr/>
        </p:nvSpPr>
        <p:spPr>
          <a:xfrm>
            <a:off x="2880360" y="2395728"/>
            <a:ext cx="7863840" cy="411480"/>
          </a:xfrm>
          <a:prstGeom prst="rect">
            <a:avLst/>
          </a:prstGeom>
          <a:noFill/>
          <a:ln/>
        </p:spPr>
        <p:txBody>
          <a:bodyPr wrap="square" lIns="0" tIns="0" rIns="0" bIns="0" rtlCol="0" anchor="ctr">
            <a:normAutofit/>
          </a:bodyPr>
          <a:lstStyle/>
          <a:p>
            <a:pPr algn="l" indent="0" marL="0">
              <a:buNone/>
            </a:pPr>
            <a:r>
              <a:rPr lang="en-US" sz="1900" b="1" dirty="0">
                <a:solidFill>
                  <a:srgbClr val="0B1F33"/>
                </a:solidFill>
                <a:latin typeface="Aptos" pitchFamily="34" charset="0"/>
                <a:ea typeface="Aptos" pitchFamily="34" charset="-122"/>
                <a:cs typeface="Aptos" pitchFamily="34" charset="-120"/>
              </a:rPr>
              <a:t>Q* = √360,000 = 600 units</a:t>
            </a:r>
            <a:endParaRPr lang="en-US" sz="1900" dirty="0"/>
          </a:p>
        </p:txBody>
      </p:sp>
      <p:sp>
        <p:nvSpPr>
          <p:cNvPr id="13" name="Shape 11"/>
          <p:cNvSpPr/>
          <p:nvPr/>
        </p:nvSpPr>
        <p:spPr>
          <a:xfrm>
            <a:off x="713232" y="3383280"/>
            <a:ext cx="438912" cy="438912"/>
          </a:xfrm>
          <a:prstGeom prst="ellipse">
            <a:avLst/>
          </a:prstGeom>
          <a:solidFill>
            <a:srgbClr val="F28E2B"/>
          </a:solidFill>
          <a:ln w="12700">
            <a:solidFill>
              <a:srgbClr val="F28E2B"/>
            </a:solidFill>
            <a:prstDash val="solid"/>
          </a:ln>
        </p:spPr>
      </p:sp>
      <p:sp>
        <p:nvSpPr>
          <p:cNvPr id="14" name="Text 12"/>
          <p:cNvSpPr txBox="1"/>
          <p:nvPr/>
        </p:nvSpPr>
        <p:spPr>
          <a:xfrm>
            <a:off x="713232" y="3383280"/>
            <a:ext cx="438912" cy="43891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3"/>
          <p:cNvSpPr txBox="1"/>
          <p:nvPr/>
        </p:nvSpPr>
        <p:spPr>
          <a:xfrm>
            <a:off x="1353312" y="3273552"/>
            <a:ext cx="1828800" cy="301752"/>
          </a:xfrm>
          <a:prstGeom prst="rect">
            <a:avLst/>
          </a:prstGeom>
          <a:noFill/>
          <a:ln/>
        </p:spPr>
        <p:txBody>
          <a:bodyPr wrap="square" lIns="0" tIns="0" rIns="0" bIns="0" rtlCol="0" anchor="ctr">
            <a:normAutofit/>
          </a:bodyPr>
          <a:lstStyle/>
          <a:p>
            <a:pPr algn="l" indent="0" marL="0">
              <a:buNone/>
            </a:pPr>
            <a:r>
              <a:rPr lang="en-US" sz="1300" b="1" dirty="0">
                <a:solidFill>
                  <a:srgbClr val="6B7785"/>
                </a:solidFill>
                <a:latin typeface="Aptos" pitchFamily="34" charset="0"/>
                <a:ea typeface="Aptos" pitchFamily="34" charset="-122"/>
                <a:cs typeface="Aptos" pitchFamily="34" charset="-120"/>
              </a:rPr>
              <a:t>Orders / year</a:t>
            </a:r>
            <a:endParaRPr lang="en-US" sz="1300" dirty="0"/>
          </a:p>
        </p:txBody>
      </p:sp>
      <p:sp>
        <p:nvSpPr>
          <p:cNvPr id="16" name="Text 14"/>
          <p:cNvSpPr txBox="1"/>
          <p:nvPr/>
        </p:nvSpPr>
        <p:spPr>
          <a:xfrm>
            <a:off x="2880360" y="3246120"/>
            <a:ext cx="7863840" cy="411480"/>
          </a:xfrm>
          <a:prstGeom prst="rect">
            <a:avLst/>
          </a:prstGeom>
          <a:noFill/>
          <a:ln/>
        </p:spPr>
        <p:txBody>
          <a:bodyPr wrap="square" lIns="0" tIns="0" rIns="0" bIns="0" rtlCol="0" anchor="ctr">
            <a:normAutofit/>
          </a:bodyPr>
          <a:lstStyle/>
          <a:p>
            <a:pPr algn="l" indent="0" marL="0">
              <a:buNone/>
            </a:pPr>
            <a:r>
              <a:rPr lang="en-US" sz="1900" dirty="0">
                <a:solidFill>
                  <a:srgbClr val="152433"/>
                </a:solidFill>
                <a:latin typeface="Aptos" pitchFamily="34" charset="0"/>
                <a:ea typeface="Aptos" pitchFamily="34" charset="-122"/>
                <a:cs typeface="Aptos" pitchFamily="34" charset="-120"/>
              </a:rPr>
              <a:t>D / Q* = 24,000 / 600 = 40</a:t>
            </a:r>
            <a:endParaRPr lang="en-US" sz="1900" dirty="0"/>
          </a:p>
        </p:txBody>
      </p:sp>
      <p:sp>
        <p:nvSpPr>
          <p:cNvPr id="17" name="Shape 15"/>
          <p:cNvSpPr/>
          <p:nvPr/>
        </p:nvSpPr>
        <p:spPr>
          <a:xfrm>
            <a:off x="713232" y="4233672"/>
            <a:ext cx="438912" cy="438912"/>
          </a:xfrm>
          <a:prstGeom prst="ellipse">
            <a:avLst/>
          </a:prstGeom>
          <a:solidFill>
            <a:srgbClr val="F28E2B"/>
          </a:solidFill>
          <a:ln w="12700">
            <a:solidFill>
              <a:srgbClr val="F28E2B"/>
            </a:solidFill>
            <a:prstDash val="solid"/>
          </a:ln>
        </p:spPr>
      </p:sp>
      <p:sp>
        <p:nvSpPr>
          <p:cNvPr id="18" name="Text 16"/>
          <p:cNvSpPr txBox="1"/>
          <p:nvPr/>
        </p:nvSpPr>
        <p:spPr>
          <a:xfrm>
            <a:off x="713232" y="4233672"/>
            <a:ext cx="438912" cy="43891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7"/>
          <p:cNvSpPr txBox="1"/>
          <p:nvPr/>
        </p:nvSpPr>
        <p:spPr>
          <a:xfrm>
            <a:off x="1353312" y="4123944"/>
            <a:ext cx="1828800" cy="301752"/>
          </a:xfrm>
          <a:prstGeom prst="rect">
            <a:avLst/>
          </a:prstGeom>
          <a:noFill/>
          <a:ln/>
        </p:spPr>
        <p:txBody>
          <a:bodyPr wrap="square" lIns="0" tIns="0" rIns="0" bIns="0" rtlCol="0" anchor="ctr">
            <a:normAutofit/>
          </a:bodyPr>
          <a:lstStyle/>
          <a:p>
            <a:pPr algn="l" indent="0" marL="0">
              <a:buNone/>
            </a:pPr>
            <a:r>
              <a:rPr lang="en-US" sz="1300" b="1" dirty="0">
                <a:solidFill>
                  <a:srgbClr val="6B7785"/>
                </a:solidFill>
                <a:latin typeface="Aptos" pitchFamily="34" charset="0"/>
                <a:ea typeface="Aptos" pitchFamily="34" charset="-122"/>
                <a:cs typeface="Aptos" pitchFamily="34" charset="-120"/>
              </a:rPr>
              <a:t>Time between</a:t>
            </a:r>
            <a:endParaRPr lang="en-US" sz="1300" dirty="0"/>
          </a:p>
        </p:txBody>
      </p:sp>
      <p:sp>
        <p:nvSpPr>
          <p:cNvPr id="20" name="Text 18"/>
          <p:cNvSpPr txBox="1"/>
          <p:nvPr/>
        </p:nvSpPr>
        <p:spPr>
          <a:xfrm>
            <a:off x="2880360" y="4096512"/>
            <a:ext cx="7863840" cy="411480"/>
          </a:xfrm>
          <a:prstGeom prst="rect">
            <a:avLst/>
          </a:prstGeom>
          <a:noFill/>
          <a:ln/>
        </p:spPr>
        <p:txBody>
          <a:bodyPr wrap="square" lIns="0" tIns="0" rIns="0" bIns="0" rtlCol="0" anchor="ctr">
            <a:normAutofit/>
          </a:bodyPr>
          <a:lstStyle/>
          <a:p>
            <a:pPr algn="l" indent="0" marL="0">
              <a:buNone/>
            </a:pPr>
            <a:r>
              <a:rPr lang="en-US" sz="1900" dirty="0">
                <a:solidFill>
                  <a:srgbClr val="152433"/>
                </a:solidFill>
                <a:latin typeface="Aptos" pitchFamily="34" charset="0"/>
                <a:ea typeface="Aptos" pitchFamily="34" charset="-122"/>
                <a:cs typeface="Aptos" pitchFamily="34" charset="-120"/>
              </a:rPr>
              <a:t>300 working days / 40 = 7.5 days</a:t>
            </a:r>
            <a:endParaRPr lang="en-US" sz="1900" dirty="0"/>
          </a:p>
        </p:txBody>
      </p:sp>
      <p:sp>
        <p:nvSpPr>
          <p:cNvPr id="21" name="Shape 19"/>
          <p:cNvSpPr/>
          <p:nvPr/>
        </p:nvSpPr>
        <p:spPr>
          <a:xfrm>
            <a:off x="713232" y="5074920"/>
            <a:ext cx="10744200" cy="621792"/>
          </a:xfrm>
          <a:prstGeom prst="roundRect">
            <a:avLst>
              <a:gd name="adj" fmla="val 14706"/>
            </a:avLst>
          </a:prstGeom>
          <a:solidFill>
            <a:srgbClr val="E7F5F2"/>
          </a:solidFill>
          <a:ln w="12700">
            <a:solidFill>
              <a:srgbClr val="E7F5F2"/>
            </a:solidFill>
            <a:prstDash val="solid"/>
          </a:ln>
        </p:spPr>
      </p:sp>
      <p:sp>
        <p:nvSpPr>
          <p:cNvPr id="22" name="Text 20"/>
          <p:cNvSpPr txBox="1"/>
          <p:nvPr/>
        </p:nvSpPr>
        <p:spPr>
          <a:xfrm>
            <a:off x="941832" y="5257800"/>
            <a:ext cx="1234440" cy="228600"/>
          </a:xfrm>
          <a:prstGeom prst="rect">
            <a:avLst/>
          </a:prstGeom>
          <a:noFill/>
          <a:ln/>
        </p:spPr>
        <p:txBody>
          <a:bodyPr wrap="square" lIns="0" tIns="0" rIns="0" bIns="0" rtlCol="0" anchor="ctr">
            <a:normAutofit/>
          </a:bodyPr>
          <a:lstStyle/>
          <a:p>
            <a:pPr algn="l" indent="0" marL="0">
              <a:buNone/>
            </a:pPr>
            <a:r>
              <a:rPr lang="en-US" sz="1100" b="1" dirty="0">
                <a:solidFill>
                  <a:srgbClr val="2A9D8F"/>
                </a:solidFill>
                <a:latin typeface="Aptos" pitchFamily="34" charset="0"/>
                <a:ea typeface="Aptos" pitchFamily="34" charset="-122"/>
                <a:cs typeface="Aptos" pitchFamily="34" charset="-120"/>
              </a:rPr>
              <a:t>Arithmetic check</a:t>
            </a:r>
            <a:endParaRPr lang="en-US" sz="1100" dirty="0"/>
          </a:p>
        </p:txBody>
      </p:sp>
      <p:sp>
        <p:nvSpPr>
          <p:cNvPr id="23" name="Text 21"/>
          <p:cNvSpPr txBox="1"/>
          <p:nvPr/>
        </p:nvSpPr>
        <p:spPr>
          <a:xfrm>
            <a:off x="2148840" y="5175504"/>
            <a:ext cx="8915400" cy="347472"/>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Ordering = 40 × $150 = $6,000  |  Cycle holding = (600 / 2) × $20 = $6,000  |  Relevant total = $12,000/year</a:t>
            </a:r>
            <a:endParaRPr lang="en-US" sz="1400" dirty="0"/>
          </a:p>
        </p:txBody>
      </p:sp>
      <p:sp>
        <p:nvSpPr>
          <p:cNvPr id="24" name="Shape 22"/>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25" name="Text 23"/>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26" name="Text 24"/>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EOQ = 600 is the cost-balancing batch—not the reorder trigger and not the maximum inventory under uncertainty.</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QUICK CALCULATION</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500, 600, or 800 units?</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Think 45 sec • pair 60 sec • debrief 45 sec</a:t>
            </a:r>
            <a:endParaRPr lang="en-US" sz="1350" dirty="0"/>
          </a:p>
        </p:txBody>
      </p:sp>
      <p:sp>
        <p:nvSpPr>
          <p:cNvPr id="5" name="Shape 3"/>
          <p:cNvSpPr/>
          <p:nvPr/>
        </p:nvSpPr>
        <p:spPr>
          <a:xfrm>
            <a:off x="621792" y="1572768"/>
            <a:ext cx="3429000" cy="3429000"/>
          </a:xfrm>
          <a:prstGeom prst="roundRect">
            <a:avLst>
              <a:gd name="adj" fmla="val 3200"/>
            </a:avLst>
          </a:prstGeom>
          <a:solidFill>
            <a:srgbClr val="FFFFFF"/>
          </a:solidFill>
          <a:ln w="12700">
            <a:solidFill>
              <a:srgbClr val="E8EDF2"/>
            </a:solidFill>
            <a:prstDash val="solid"/>
          </a:ln>
        </p:spPr>
      </p:sp>
      <p:sp>
        <p:nvSpPr>
          <p:cNvPr id="6" name="Text 4"/>
          <p:cNvSpPr txBox="1"/>
          <p:nvPr/>
        </p:nvSpPr>
        <p:spPr>
          <a:xfrm>
            <a:off x="822960" y="1810512"/>
            <a:ext cx="3017520" cy="384048"/>
          </a:xfrm>
          <a:prstGeom prst="rect">
            <a:avLst/>
          </a:prstGeom>
          <a:noFill/>
          <a:ln/>
        </p:spPr>
        <p:txBody>
          <a:bodyPr wrap="square" lIns="0" tIns="0" rIns="0" bIns="0" rtlCol="0" anchor="ctr">
            <a:normAutofit/>
          </a:bodyPr>
          <a:lstStyle/>
          <a:p>
            <a:pPr algn="ctr" indent="0" marL="0">
              <a:buNone/>
            </a:pPr>
            <a:r>
              <a:rPr lang="en-US" sz="2200" b="1" dirty="0">
                <a:solidFill>
                  <a:srgbClr val="4BB3C3"/>
                </a:solidFill>
                <a:latin typeface="Aptos" pitchFamily="34" charset="0"/>
                <a:ea typeface="Aptos" pitchFamily="34" charset="-122"/>
                <a:cs typeface="Aptos" pitchFamily="34" charset="-120"/>
              </a:rPr>
              <a:t>Q = 500</a:t>
            </a:r>
            <a:endParaRPr lang="en-US" sz="2200" dirty="0"/>
          </a:p>
        </p:txBody>
      </p:sp>
      <p:sp>
        <p:nvSpPr>
          <p:cNvPr id="7" name="Text 5"/>
          <p:cNvSpPr txBox="1"/>
          <p:nvPr/>
        </p:nvSpPr>
        <p:spPr>
          <a:xfrm>
            <a:off x="941832" y="2514600"/>
            <a:ext cx="1234440" cy="256032"/>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Ordering</a:t>
            </a:r>
            <a:endParaRPr lang="en-US" sz="1200" dirty="0"/>
          </a:p>
        </p:txBody>
      </p:sp>
      <p:sp>
        <p:nvSpPr>
          <p:cNvPr id="8" name="Text 6"/>
          <p:cNvSpPr txBox="1"/>
          <p:nvPr/>
        </p:nvSpPr>
        <p:spPr>
          <a:xfrm>
            <a:off x="2194560" y="2459736"/>
            <a:ext cx="1417320" cy="329184"/>
          </a:xfrm>
          <a:prstGeom prst="rect">
            <a:avLst/>
          </a:prstGeom>
          <a:noFill/>
          <a:ln/>
        </p:spPr>
        <p:txBody>
          <a:bodyPr wrap="square" lIns="0" tIns="0" rIns="0" bIns="0" rtlCol="0" anchor="ctr">
            <a:normAutofit/>
          </a:bodyPr>
          <a:lstStyle/>
          <a:p>
            <a:pPr algn="r" indent="0" marL="0">
              <a:buNone/>
            </a:pPr>
            <a:r>
              <a:rPr lang="en-US" sz="1700" b="1" dirty="0">
                <a:solidFill>
                  <a:srgbClr val="0B1F33"/>
                </a:solidFill>
                <a:latin typeface="Aptos" pitchFamily="34" charset="0"/>
                <a:ea typeface="Aptos" pitchFamily="34" charset="-122"/>
                <a:cs typeface="Aptos" pitchFamily="34" charset="-120"/>
              </a:rPr>
              <a:t>$7,200</a:t>
            </a:r>
            <a:endParaRPr lang="en-US" sz="1700" dirty="0"/>
          </a:p>
        </p:txBody>
      </p:sp>
      <p:sp>
        <p:nvSpPr>
          <p:cNvPr id="9" name="Text 7"/>
          <p:cNvSpPr txBox="1"/>
          <p:nvPr/>
        </p:nvSpPr>
        <p:spPr>
          <a:xfrm>
            <a:off x="941832" y="3081528"/>
            <a:ext cx="1234440" cy="256032"/>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Holding</a:t>
            </a:r>
            <a:endParaRPr lang="en-US" sz="1200" dirty="0"/>
          </a:p>
        </p:txBody>
      </p:sp>
      <p:sp>
        <p:nvSpPr>
          <p:cNvPr id="10" name="Text 8"/>
          <p:cNvSpPr txBox="1"/>
          <p:nvPr/>
        </p:nvSpPr>
        <p:spPr>
          <a:xfrm>
            <a:off x="2194560" y="3026664"/>
            <a:ext cx="1417320" cy="329184"/>
          </a:xfrm>
          <a:prstGeom prst="rect">
            <a:avLst/>
          </a:prstGeom>
          <a:noFill/>
          <a:ln/>
        </p:spPr>
        <p:txBody>
          <a:bodyPr wrap="square" lIns="0" tIns="0" rIns="0" bIns="0" rtlCol="0" anchor="ctr">
            <a:normAutofit/>
          </a:bodyPr>
          <a:lstStyle/>
          <a:p>
            <a:pPr algn="r" indent="0" marL="0">
              <a:buNone/>
            </a:pPr>
            <a:r>
              <a:rPr lang="en-US" sz="1700" b="1" dirty="0">
                <a:solidFill>
                  <a:srgbClr val="0B1F33"/>
                </a:solidFill>
                <a:latin typeface="Aptos" pitchFamily="34" charset="0"/>
                <a:ea typeface="Aptos" pitchFamily="34" charset="-122"/>
                <a:cs typeface="Aptos" pitchFamily="34" charset="-120"/>
              </a:rPr>
              <a:t>$5,000</a:t>
            </a:r>
            <a:endParaRPr lang="en-US" sz="1700" dirty="0"/>
          </a:p>
        </p:txBody>
      </p:sp>
      <p:sp>
        <p:nvSpPr>
          <p:cNvPr id="11" name="Text 9"/>
          <p:cNvSpPr txBox="1"/>
          <p:nvPr/>
        </p:nvSpPr>
        <p:spPr>
          <a:xfrm>
            <a:off x="941832" y="3648456"/>
            <a:ext cx="1234440" cy="256032"/>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Total</a:t>
            </a:r>
            <a:endParaRPr lang="en-US" sz="1200" dirty="0"/>
          </a:p>
        </p:txBody>
      </p:sp>
      <p:sp>
        <p:nvSpPr>
          <p:cNvPr id="12" name="Text 10"/>
          <p:cNvSpPr txBox="1"/>
          <p:nvPr/>
        </p:nvSpPr>
        <p:spPr>
          <a:xfrm>
            <a:off x="2194560" y="3593592"/>
            <a:ext cx="1417320" cy="329184"/>
          </a:xfrm>
          <a:prstGeom prst="rect">
            <a:avLst/>
          </a:prstGeom>
          <a:noFill/>
          <a:ln/>
        </p:spPr>
        <p:txBody>
          <a:bodyPr wrap="square" lIns="0" tIns="0" rIns="0" bIns="0" rtlCol="0" anchor="ctr">
            <a:normAutofit/>
          </a:bodyPr>
          <a:lstStyle/>
          <a:p>
            <a:pPr algn="r" indent="0" marL="0">
              <a:buNone/>
            </a:pPr>
            <a:r>
              <a:rPr lang="en-US" sz="1700" b="1" dirty="0">
                <a:solidFill>
                  <a:srgbClr val="0B1F33"/>
                </a:solidFill>
                <a:latin typeface="Aptos" pitchFamily="34" charset="0"/>
                <a:ea typeface="Aptos" pitchFamily="34" charset="-122"/>
                <a:cs typeface="Aptos" pitchFamily="34" charset="-120"/>
              </a:rPr>
              <a:t>$12,200</a:t>
            </a:r>
            <a:endParaRPr lang="en-US" sz="1700" dirty="0"/>
          </a:p>
        </p:txBody>
      </p:sp>
      <p:sp>
        <p:nvSpPr>
          <p:cNvPr id="13" name="Shape 11"/>
          <p:cNvSpPr/>
          <p:nvPr/>
        </p:nvSpPr>
        <p:spPr>
          <a:xfrm>
            <a:off x="1490472" y="4389120"/>
            <a:ext cx="1691640" cy="274320"/>
          </a:xfrm>
          <a:prstGeom prst="roundRect">
            <a:avLst>
              <a:gd name="adj" fmla="val 50000"/>
            </a:avLst>
          </a:prstGeom>
          <a:solidFill>
            <a:srgbClr val="E8EDF2"/>
          </a:solidFill>
          <a:ln w="12700">
            <a:solidFill>
              <a:srgbClr val="E8EDF2"/>
            </a:solidFill>
            <a:prstDash val="solid"/>
          </a:ln>
        </p:spPr>
      </p:sp>
      <p:sp>
        <p:nvSpPr>
          <p:cNvPr id="14" name="Text 12"/>
          <p:cNvSpPr txBox="1"/>
          <p:nvPr/>
        </p:nvSpPr>
        <p:spPr>
          <a:xfrm>
            <a:off x="1490472" y="4389120"/>
            <a:ext cx="1691640" cy="274320"/>
          </a:xfrm>
          <a:prstGeom prst="rect">
            <a:avLst/>
          </a:prstGeom>
          <a:noFill/>
          <a:ln/>
        </p:spPr>
        <p:txBody>
          <a:bodyPr wrap="square" lIns="0" tIns="0" rIns="0" bIns="0" rtlCol="0" anchor="ctr">
            <a:normAutofit/>
          </a:bodyPr>
          <a:lstStyle/>
          <a:p>
            <a:pPr algn="ctr" indent="0" marL="0">
              <a:buNone/>
            </a:pPr>
            <a:r>
              <a:rPr lang="en-US" sz="1000" b="1" dirty="0">
                <a:solidFill>
                  <a:srgbClr val="0B1F33"/>
                </a:solidFill>
                <a:latin typeface="Aptos" pitchFamily="34" charset="0"/>
                <a:ea typeface="Aptos" pitchFamily="34" charset="-122"/>
                <a:cs typeface="Aptos" pitchFamily="34" charset="-120"/>
              </a:rPr>
              <a:t>+$200</a:t>
            </a:r>
            <a:endParaRPr lang="en-US" sz="1000" dirty="0"/>
          </a:p>
        </p:txBody>
      </p:sp>
      <p:sp>
        <p:nvSpPr>
          <p:cNvPr id="15" name="Shape 13"/>
          <p:cNvSpPr/>
          <p:nvPr/>
        </p:nvSpPr>
        <p:spPr>
          <a:xfrm>
            <a:off x="4352544" y="1572768"/>
            <a:ext cx="3429000" cy="3429000"/>
          </a:xfrm>
          <a:prstGeom prst="roundRect">
            <a:avLst>
              <a:gd name="adj" fmla="val 3200"/>
            </a:avLst>
          </a:prstGeom>
          <a:solidFill>
            <a:srgbClr val="FFFFFF"/>
          </a:solidFill>
          <a:ln w="12700">
            <a:solidFill>
              <a:srgbClr val="1D6FA5"/>
            </a:solidFill>
            <a:prstDash val="solid"/>
          </a:ln>
        </p:spPr>
      </p:sp>
      <p:sp>
        <p:nvSpPr>
          <p:cNvPr id="16" name="Text 14"/>
          <p:cNvSpPr txBox="1"/>
          <p:nvPr/>
        </p:nvSpPr>
        <p:spPr>
          <a:xfrm>
            <a:off x="4553712" y="1810512"/>
            <a:ext cx="3017520" cy="384048"/>
          </a:xfrm>
          <a:prstGeom prst="rect">
            <a:avLst/>
          </a:prstGeom>
          <a:noFill/>
          <a:ln/>
        </p:spPr>
        <p:txBody>
          <a:bodyPr wrap="square" lIns="0" tIns="0" rIns="0" bIns="0" rtlCol="0" anchor="ctr">
            <a:normAutofit/>
          </a:bodyPr>
          <a:lstStyle/>
          <a:p>
            <a:pPr algn="ctr" indent="0" marL="0">
              <a:buNone/>
            </a:pPr>
            <a:r>
              <a:rPr lang="en-US" sz="2200" b="1" dirty="0">
                <a:solidFill>
                  <a:srgbClr val="1D6FA5"/>
                </a:solidFill>
                <a:latin typeface="Aptos" pitchFamily="34" charset="0"/>
                <a:ea typeface="Aptos" pitchFamily="34" charset="-122"/>
                <a:cs typeface="Aptos" pitchFamily="34" charset="-120"/>
              </a:rPr>
              <a:t>Q = 600</a:t>
            </a:r>
            <a:endParaRPr lang="en-US" sz="2200" dirty="0"/>
          </a:p>
        </p:txBody>
      </p:sp>
      <p:sp>
        <p:nvSpPr>
          <p:cNvPr id="17" name="Text 15"/>
          <p:cNvSpPr txBox="1"/>
          <p:nvPr/>
        </p:nvSpPr>
        <p:spPr>
          <a:xfrm>
            <a:off x="4672584" y="2514600"/>
            <a:ext cx="1234440" cy="256032"/>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Ordering</a:t>
            </a:r>
            <a:endParaRPr lang="en-US" sz="1200" dirty="0"/>
          </a:p>
        </p:txBody>
      </p:sp>
      <p:sp>
        <p:nvSpPr>
          <p:cNvPr id="18" name="Text 16"/>
          <p:cNvSpPr txBox="1"/>
          <p:nvPr/>
        </p:nvSpPr>
        <p:spPr>
          <a:xfrm>
            <a:off x="5925312" y="2459736"/>
            <a:ext cx="1417320" cy="329184"/>
          </a:xfrm>
          <a:prstGeom prst="rect">
            <a:avLst/>
          </a:prstGeom>
          <a:noFill/>
          <a:ln/>
        </p:spPr>
        <p:txBody>
          <a:bodyPr wrap="square" lIns="0" tIns="0" rIns="0" bIns="0" rtlCol="0" anchor="ctr">
            <a:normAutofit/>
          </a:bodyPr>
          <a:lstStyle/>
          <a:p>
            <a:pPr algn="r" indent="0" marL="0">
              <a:buNone/>
            </a:pPr>
            <a:r>
              <a:rPr lang="en-US" sz="1700" b="1" dirty="0">
                <a:solidFill>
                  <a:srgbClr val="0B1F33"/>
                </a:solidFill>
                <a:latin typeface="Aptos" pitchFamily="34" charset="0"/>
                <a:ea typeface="Aptos" pitchFamily="34" charset="-122"/>
                <a:cs typeface="Aptos" pitchFamily="34" charset="-120"/>
              </a:rPr>
              <a:t>$6,000</a:t>
            </a:r>
            <a:endParaRPr lang="en-US" sz="1700" dirty="0"/>
          </a:p>
        </p:txBody>
      </p:sp>
      <p:sp>
        <p:nvSpPr>
          <p:cNvPr id="19" name="Text 17"/>
          <p:cNvSpPr txBox="1"/>
          <p:nvPr/>
        </p:nvSpPr>
        <p:spPr>
          <a:xfrm>
            <a:off x="4672584" y="3081528"/>
            <a:ext cx="1234440" cy="256032"/>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Holding</a:t>
            </a:r>
            <a:endParaRPr lang="en-US" sz="1200" dirty="0"/>
          </a:p>
        </p:txBody>
      </p:sp>
      <p:sp>
        <p:nvSpPr>
          <p:cNvPr id="20" name="Text 18"/>
          <p:cNvSpPr txBox="1"/>
          <p:nvPr/>
        </p:nvSpPr>
        <p:spPr>
          <a:xfrm>
            <a:off x="5925312" y="3026664"/>
            <a:ext cx="1417320" cy="329184"/>
          </a:xfrm>
          <a:prstGeom prst="rect">
            <a:avLst/>
          </a:prstGeom>
          <a:noFill/>
          <a:ln/>
        </p:spPr>
        <p:txBody>
          <a:bodyPr wrap="square" lIns="0" tIns="0" rIns="0" bIns="0" rtlCol="0" anchor="ctr">
            <a:normAutofit/>
          </a:bodyPr>
          <a:lstStyle/>
          <a:p>
            <a:pPr algn="r" indent="0" marL="0">
              <a:buNone/>
            </a:pPr>
            <a:r>
              <a:rPr lang="en-US" sz="1700" b="1" dirty="0">
                <a:solidFill>
                  <a:srgbClr val="0B1F33"/>
                </a:solidFill>
                <a:latin typeface="Aptos" pitchFamily="34" charset="0"/>
                <a:ea typeface="Aptos" pitchFamily="34" charset="-122"/>
                <a:cs typeface="Aptos" pitchFamily="34" charset="-120"/>
              </a:rPr>
              <a:t>$6,000</a:t>
            </a:r>
            <a:endParaRPr lang="en-US" sz="1700" dirty="0"/>
          </a:p>
        </p:txBody>
      </p:sp>
      <p:sp>
        <p:nvSpPr>
          <p:cNvPr id="21" name="Text 19"/>
          <p:cNvSpPr txBox="1"/>
          <p:nvPr/>
        </p:nvSpPr>
        <p:spPr>
          <a:xfrm>
            <a:off x="4672584" y="3648456"/>
            <a:ext cx="1234440" cy="256032"/>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Total</a:t>
            </a:r>
            <a:endParaRPr lang="en-US" sz="1200" dirty="0"/>
          </a:p>
        </p:txBody>
      </p:sp>
      <p:sp>
        <p:nvSpPr>
          <p:cNvPr id="22" name="Text 20"/>
          <p:cNvSpPr txBox="1"/>
          <p:nvPr/>
        </p:nvSpPr>
        <p:spPr>
          <a:xfrm>
            <a:off x="5925312" y="3593592"/>
            <a:ext cx="1417320" cy="329184"/>
          </a:xfrm>
          <a:prstGeom prst="rect">
            <a:avLst/>
          </a:prstGeom>
          <a:noFill/>
          <a:ln/>
        </p:spPr>
        <p:txBody>
          <a:bodyPr wrap="square" lIns="0" tIns="0" rIns="0" bIns="0" rtlCol="0" anchor="ctr">
            <a:normAutofit/>
          </a:bodyPr>
          <a:lstStyle/>
          <a:p>
            <a:pPr algn="r" indent="0" marL="0">
              <a:buNone/>
            </a:pPr>
            <a:r>
              <a:rPr lang="en-US" sz="1700" b="1" dirty="0">
                <a:solidFill>
                  <a:srgbClr val="0B1F33"/>
                </a:solidFill>
                <a:latin typeface="Aptos" pitchFamily="34" charset="0"/>
                <a:ea typeface="Aptos" pitchFamily="34" charset="-122"/>
                <a:cs typeface="Aptos" pitchFamily="34" charset="-120"/>
              </a:rPr>
              <a:t>$12,000</a:t>
            </a:r>
            <a:endParaRPr lang="en-US" sz="1700" dirty="0"/>
          </a:p>
        </p:txBody>
      </p:sp>
      <p:sp>
        <p:nvSpPr>
          <p:cNvPr id="23" name="Shape 21"/>
          <p:cNvSpPr/>
          <p:nvPr/>
        </p:nvSpPr>
        <p:spPr>
          <a:xfrm>
            <a:off x="5221224" y="4389120"/>
            <a:ext cx="1691640" cy="274320"/>
          </a:xfrm>
          <a:prstGeom prst="roundRect">
            <a:avLst>
              <a:gd name="adj" fmla="val 50000"/>
            </a:avLst>
          </a:prstGeom>
          <a:solidFill>
            <a:srgbClr val="1D6FA5"/>
          </a:solidFill>
          <a:ln w="12700">
            <a:solidFill>
              <a:srgbClr val="1D6FA5"/>
            </a:solidFill>
            <a:prstDash val="solid"/>
          </a:ln>
        </p:spPr>
      </p:sp>
      <p:sp>
        <p:nvSpPr>
          <p:cNvPr id="24" name="Text 22"/>
          <p:cNvSpPr txBox="1"/>
          <p:nvPr/>
        </p:nvSpPr>
        <p:spPr>
          <a:xfrm>
            <a:off x="5221224" y="4389120"/>
            <a:ext cx="1691640"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BEST MODEL</a:t>
            </a:r>
            <a:endParaRPr lang="en-US" sz="1000" dirty="0"/>
          </a:p>
        </p:txBody>
      </p:sp>
      <p:sp>
        <p:nvSpPr>
          <p:cNvPr id="25" name="Shape 23"/>
          <p:cNvSpPr/>
          <p:nvPr/>
        </p:nvSpPr>
        <p:spPr>
          <a:xfrm>
            <a:off x="8083296" y="1572768"/>
            <a:ext cx="3429000" cy="3429000"/>
          </a:xfrm>
          <a:prstGeom prst="roundRect">
            <a:avLst>
              <a:gd name="adj" fmla="val 3200"/>
            </a:avLst>
          </a:prstGeom>
          <a:solidFill>
            <a:srgbClr val="FFFFFF"/>
          </a:solidFill>
          <a:ln w="12700">
            <a:solidFill>
              <a:srgbClr val="E8EDF2"/>
            </a:solidFill>
            <a:prstDash val="solid"/>
          </a:ln>
        </p:spPr>
      </p:sp>
      <p:sp>
        <p:nvSpPr>
          <p:cNvPr id="26" name="Text 24"/>
          <p:cNvSpPr txBox="1"/>
          <p:nvPr/>
        </p:nvSpPr>
        <p:spPr>
          <a:xfrm>
            <a:off x="8284464" y="1810512"/>
            <a:ext cx="3017520" cy="384048"/>
          </a:xfrm>
          <a:prstGeom prst="rect">
            <a:avLst/>
          </a:prstGeom>
          <a:noFill/>
          <a:ln/>
        </p:spPr>
        <p:txBody>
          <a:bodyPr wrap="square" lIns="0" tIns="0" rIns="0" bIns="0" rtlCol="0" anchor="ctr">
            <a:normAutofit/>
          </a:bodyPr>
          <a:lstStyle/>
          <a:p>
            <a:pPr algn="ctr" indent="0" marL="0">
              <a:buNone/>
            </a:pPr>
            <a:r>
              <a:rPr lang="en-US" sz="2200" b="1" dirty="0">
                <a:solidFill>
                  <a:srgbClr val="F28E2B"/>
                </a:solidFill>
                <a:latin typeface="Aptos" pitchFamily="34" charset="0"/>
                <a:ea typeface="Aptos" pitchFamily="34" charset="-122"/>
                <a:cs typeface="Aptos" pitchFamily="34" charset="-120"/>
              </a:rPr>
              <a:t>Q = 800</a:t>
            </a:r>
            <a:endParaRPr lang="en-US" sz="2200" dirty="0"/>
          </a:p>
        </p:txBody>
      </p:sp>
      <p:sp>
        <p:nvSpPr>
          <p:cNvPr id="27" name="Text 25"/>
          <p:cNvSpPr txBox="1"/>
          <p:nvPr/>
        </p:nvSpPr>
        <p:spPr>
          <a:xfrm>
            <a:off x="8403336" y="2514600"/>
            <a:ext cx="1234440" cy="256032"/>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Ordering</a:t>
            </a:r>
            <a:endParaRPr lang="en-US" sz="1200" dirty="0"/>
          </a:p>
        </p:txBody>
      </p:sp>
      <p:sp>
        <p:nvSpPr>
          <p:cNvPr id="28" name="Text 26"/>
          <p:cNvSpPr txBox="1"/>
          <p:nvPr/>
        </p:nvSpPr>
        <p:spPr>
          <a:xfrm>
            <a:off x="9656064" y="2459736"/>
            <a:ext cx="1417320" cy="329184"/>
          </a:xfrm>
          <a:prstGeom prst="rect">
            <a:avLst/>
          </a:prstGeom>
          <a:noFill/>
          <a:ln/>
        </p:spPr>
        <p:txBody>
          <a:bodyPr wrap="square" lIns="0" tIns="0" rIns="0" bIns="0" rtlCol="0" anchor="ctr">
            <a:normAutofit/>
          </a:bodyPr>
          <a:lstStyle/>
          <a:p>
            <a:pPr algn="r" indent="0" marL="0">
              <a:buNone/>
            </a:pPr>
            <a:r>
              <a:rPr lang="en-US" sz="1700" b="1" dirty="0">
                <a:solidFill>
                  <a:srgbClr val="0B1F33"/>
                </a:solidFill>
                <a:latin typeface="Aptos" pitchFamily="34" charset="0"/>
                <a:ea typeface="Aptos" pitchFamily="34" charset="-122"/>
                <a:cs typeface="Aptos" pitchFamily="34" charset="-120"/>
              </a:rPr>
              <a:t>$4,500</a:t>
            </a:r>
            <a:endParaRPr lang="en-US" sz="1700" dirty="0"/>
          </a:p>
        </p:txBody>
      </p:sp>
      <p:sp>
        <p:nvSpPr>
          <p:cNvPr id="29" name="Text 27"/>
          <p:cNvSpPr txBox="1"/>
          <p:nvPr/>
        </p:nvSpPr>
        <p:spPr>
          <a:xfrm>
            <a:off x="8403336" y="3081528"/>
            <a:ext cx="1234440" cy="256032"/>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Holding</a:t>
            </a:r>
            <a:endParaRPr lang="en-US" sz="1200" dirty="0"/>
          </a:p>
        </p:txBody>
      </p:sp>
      <p:sp>
        <p:nvSpPr>
          <p:cNvPr id="30" name="Text 28"/>
          <p:cNvSpPr txBox="1"/>
          <p:nvPr/>
        </p:nvSpPr>
        <p:spPr>
          <a:xfrm>
            <a:off x="9656064" y="3026664"/>
            <a:ext cx="1417320" cy="329184"/>
          </a:xfrm>
          <a:prstGeom prst="rect">
            <a:avLst/>
          </a:prstGeom>
          <a:noFill/>
          <a:ln/>
        </p:spPr>
        <p:txBody>
          <a:bodyPr wrap="square" lIns="0" tIns="0" rIns="0" bIns="0" rtlCol="0" anchor="ctr">
            <a:normAutofit/>
          </a:bodyPr>
          <a:lstStyle/>
          <a:p>
            <a:pPr algn="r" indent="0" marL="0">
              <a:buNone/>
            </a:pPr>
            <a:r>
              <a:rPr lang="en-US" sz="1700" b="1" dirty="0">
                <a:solidFill>
                  <a:srgbClr val="0B1F33"/>
                </a:solidFill>
                <a:latin typeface="Aptos" pitchFamily="34" charset="0"/>
                <a:ea typeface="Aptos" pitchFamily="34" charset="-122"/>
                <a:cs typeface="Aptos" pitchFamily="34" charset="-120"/>
              </a:rPr>
              <a:t>$8,000</a:t>
            </a:r>
            <a:endParaRPr lang="en-US" sz="1700" dirty="0"/>
          </a:p>
        </p:txBody>
      </p:sp>
      <p:sp>
        <p:nvSpPr>
          <p:cNvPr id="31" name="Text 29"/>
          <p:cNvSpPr txBox="1"/>
          <p:nvPr/>
        </p:nvSpPr>
        <p:spPr>
          <a:xfrm>
            <a:off x="8403336" y="3648456"/>
            <a:ext cx="1234440" cy="256032"/>
          </a:xfrm>
          <a:prstGeom prst="rect">
            <a:avLst/>
          </a:prstGeom>
          <a:noFill/>
          <a:ln/>
        </p:spPr>
        <p:txBody>
          <a:bodyPr wrap="square" lIns="0" tIns="0" rIns="0" bIns="0" rtlCol="0" anchor="ctr">
            <a:normAutofit/>
          </a:bodyPr>
          <a:lstStyle/>
          <a:p>
            <a:pPr algn="l" indent="0" marL="0">
              <a:buNone/>
            </a:pPr>
            <a:r>
              <a:rPr lang="en-US" sz="1200" dirty="0">
                <a:solidFill>
                  <a:srgbClr val="6B7785"/>
                </a:solidFill>
                <a:latin typeface="Aptos" pitchFamily="34" charset="0"/>
                <a:ea typeface="Aptos" pitchFamily="34" charset="-122"/>
                <a:cs typeface="Aptos" pitchFamily="34" charset="-120"/>
              </a:rPr>
              <a:t>Total</a:t>
            </a:r>
            <a:endParaRPr lang="en-US" sz="1200" dirty="0"/>
          </a:p>
        </p:txBody>
      </p:sp>
      <p:sp>
        <p:nvSpPr>
          <p:cNvPr id="32" name="Text 30"/>
          <p:cNvSpPr txBox="1"/>
          <p:nvPr/>
        </p:nvSpPr>
        <p:spPr>
          <a:xfrm>
            <a:off x="9656064" y="3593592"/>
            <a:ext cx="1417320" cy="329184"/>
          </a:xfrm>
          <a:prstGeom prst="rect">
            <a:avLst/>
          </a:prstGeom>
          <a:noFill/>
          <a:ln/>
        </p:spPr>
        <p:txBody>
          <a:bodyPr wrap="square" lIns="0" tIns="0" rIns="0" bIns="0" rtlCol="0" anchor="ctr">
            <a:normAutofit/>
          </a:bodyPr>
          <a:lstStyle/>
          <a:p>
            <a:pPr algn="r" indent="0" marL="0">
              <a:buNone/>
            </a:pPr>
            <a:r>
              <a:rPr lang="en-US" sz="1700" b="1" dirty="0">
                <a:solidFill>
                  <a:srgbClr val="0B1F33"/>
                </a:solidFill>
                <a:latin typeface="Aptos" pitchFamily="34" charset="0"/>
                <a:ea typeface="Aptos" pitchFamily="34" charset="-122"/>
                <a:cs typeface="Aptos" pitchFamily="34" charset="-120"/>
              </a:rPr>
              <a:t>$12,500</a:t>
            </a:r>
            <a:endParaRPr lang="en-US" sz="1700" dirty="0"/>
          </a:p>
        </p:txBody>
      </p:sp>
      <p:sp>
        <p:nvSpPr>
          <p:cNvPr id="33" name="Shape 31"/>
          <p:cNvSpPr/>
          <p:nvPr/>
        </p:nvSpPr>
        <p:spPr>
          <a:xfrm>
            <a:off x="8951976" y="4389120"/>
            <a:ext cx="1691640" cy="274320"/>
          </a:xfrm>
          <a:prstGeom prst="roundRect">
            <a:avLst>
              <a:gd name="adj" fmla="val 50000"/>
            </a:avLst>
          </a:prstGeom>
          <a:solidFill>
            <a:srgbClr val="E8EDF2"/>
          </a:solidFill>
          <a:ln w="12700">
            <a:solidFill>
              <a:srgbClr val="E8EDF2"/>
            </a:solidFill>
            <a:prstDash val="solid"/>
          </a:ln>
        </p:spPr>
      </p:sp>
      <p:sp>
        <p:nvSpPr>
          <p:cNvPr id="34" name="Text 32"/>
          <p:cNvSpPr txBox="1"/>
          <p:nvPr/>
        </p:nvSpPr>
        <p:spPr>
          <a:xfrm>
            <a:off x="8951976" y="4389120"/>
            <a:ext cx="1691640" cy="274320"/>
          </a:xfrm>
          <a:prstGeom prst="rect">
            <a:avLst/>
          </a:prstGeom>
          <a:noFill/>
          <a:ln/>
        </p:spPr>
        <p:txBody>
          <a:bodyPr wrap="square" lIns="0" tIns="0" rIns="0" bIns="0" rtlCol="0" anchor="ctr">
            <a:normAutofit/>
          </a:bodyPr>
          <a:lstStyle/>
          <a:p>
            <a:pPr algn="ctr" indent="0" marL="0">
              <a:buNone/>
            </a:pPr>
            <a:r>
              <a:rPr lang="en-US" sz="1000" b="1" dirty="0">
                <a:solidFill>
                  <a:srgbClr val="0B1F33"/>
                </a:solidFill>
                <a:latin typeface="Aptos" pitchFamily="34" charset="0"/>
                <a:ea typeface="Aptos" pitchFamily="34" charset="-122"/>
                <a:cs typeface="Aptos" pitchFamily="34" charset="-120"/>
              </a:rPr>
              <a:t>+$500</a:t>
            </a:r>
            <a:endParaRPr lang="en-US" sz="1000" dirty="0"/>
          </a:p>
        </p:txBody>
      </p:sp>
      <p:sp>
        <p:nvSpPr>
          <p:cNvPr id="35" name="Text 33"/>
          <p:cNvSpPr txBox="1"/>
          <p:nvPr/>
        </p:nvSpPr>
        <p:spPr>
          <a:xfrm>
            <a:off x="658368" y="5330952"/>
            <a:ext cx="10789920" cy="384048"/>
          </a:xfrm>
          <a:prstGeom prst="rect">
            <a:avLst/>
          </a:prstGeom>
          <a:noFill/>
          <a:ln/>
        </p:spPr>
        <p:txBody>
          <a:bodyPr wrap="square" lIns="0" tIns="0" rIns="0" bIns="0" rtlCol="0" anchor="ctr">
            <a:normAutofit/>
          </a:bodyPr>
          <a:lstStyle/>
          <a:p>
            <a:pPr algn="ctr" indent="0" marL="0">
              <a:buNone/>
            </a:pPr>
            <a:r>
              <a:rPr lang="en-US" sz="2100" b="1" dirty="0">
                <a:solidFill>
                  <a:srgbClr val="0B1F33"/>
                </a:solidFill>
                <a:latin typeface="Aptos" pitchFamily="34" charset="0"/>
                <a:ea typeface="Aptos" pitchFamily="34" charset="-122"/>
                <a:cs typeface="Aptos" pitchFamily="34" charset="-120"/>
              </a:rPr>
              <a:t>If cartons contain 500 units, would you reject Q = 500?</a:t>
            </a:r>
            <a:endParaRPr lang="en-US" sz="2100" dirty="0"/>
          </a:p>
        </p:txBody>
      </p:sp>
      <p:sp>
        <p:nvSpPr>
          <p:cNvPr id="36" name="Shape 34"/>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37" name="Text 35"/>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38" name="Text 36"/>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A $200 modeled penalty may be worth paying for pack-size, handling, space, or supplier simplicity.</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LOT SIZING BEYOND EOQ</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Choose the model that matches the operating constraint</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Decision table • “best” means best fit to the decision, not most mathematical</a:t>
            </a:r>
            <a:endParaRPr lang="en-US" sz="1350" dirty="0"/>
          </a:p>
        </p:txBody>
      </p:sp>
      <p:sp>
        <p:nvSpPr>
          <p:cNvPr id="5" name="Shape 3"/>
          <p:cNvSpPr/>
          <p:nvPr/>
        </p:nvSpPr>
        <p:spPr>
          <a:xfrm>
            <a:off x="548640" y="1600200"/>
            <a:ext cx="1874520" cy="475488"/>
          </a:xfrm>
          <a:prstGeom prst="rect">
            <a:avLst/>
          </a:prstGeom>
          <a:solidFill>
            <a:srgbClr val="0B1F33"/>
          </a:solidFill>
          <a:ln w="12700">
            <a:solidFill>
              <a:srgbClr val="0B1F33"/>
            </a:solidFill>
            <a:prstDash val="solid"/>
          </a:ln>
        </p:spPr>
      </p:sp>
      <p:sp>
        <p:nvSpPr>
          <p:cNvPr id="6" name="Text 4"/>
          <p:cNvSpPr txBox="1"/>
          <p:nvPr/>
        </p:nvSpPr>
        <p:spPr>
          <a:xfrm>
            <a:off x="658368" y="1709928"/>
            <a:ext cx="1655064" cy="22860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APPROACH</a:t>
            </a:r>
            <a:endParaRPr lang="en-US" sz="1000" dirty="0"/>
          </a:p>
        </p:txBody>
      </p:sp>
      <p:sp>
        <p:nvSpPr>
          <p:cNvPr id="7" name="Shape 5"/>
          <p:cNvSpPr/>
          <p:nvPr/>
        </p:nvSpPr>
        <p:spPr>
          <a:xfrm>
            <a:off x="2423160" y="1600200"/>
            <a:ext cx="2788920" cy="475488"/>
          </a:xfrm>
          <a:prstGeom prst="rect">
            <a:avLst/>
          </a:prstGeom>
          <a:solidFill>
            <a:srgbClr val="0B1F33"/>
          </a:solidFill>
          <a:ln w="12700">
            <a:solidFill>
              <a:srgbClr val="0B1F33"/>
            </a:solidFill>
            <a:prstDash val="solid"/>
          </a:ln>
        </p:spPr>
      </p:sp>
      <p:sp>
        <p:nvSpPr>
          <p:cNvPr id="8" name="Text 6"/>
          <p:cNvSpPr txBox="1"/>
          <p:nvPr/>
        </p:nvSpPr>
        <p:spPr>
          <a:xfrm>
            <a:off x="2532888" y="1709928"/>
            <a:ext cx="2569464" cy="22860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FITS WHEN</a:t>
            </a:r>
            <a:endParaRPr lang="en-US" sz="1000" dirty="0"/>
          </a:p>
        </p:txBody>
      </p:sp>
      <p:sp>
        <p:nvSpPr>
          <p:cNvPr id="9" name="Shape 7"/>
          <p:cNvSpPr/>
          <p:nvPr/>
        </p:nvSpPr>
        <p:spPr>
          <a:xfrm>
            <a:off x="5212080" y="1600200"/>
            <a:ext cx="3063240" cy="475488"/>
          </a:xfrm>
          <a:prstGeom prst="rect">
            <a:avLst/>
          </a:prstGeom>
          <a:solidFill>
            <a:srgbClr val="0B1F33"/>
          </a:solidFill>
          <a:ln w="12700">
            <a:solidFill>
              <a:srgbClr val="0B1F33"/>
            </a:solidFill>
            <a:prstDash val="solid"/>
          </a:ln>
        </p:spPr>
      </p:sp>
      <p:sp>
        <p:nvSpPr>
          <p:cNvPr id="10" name="Text 8"/>
          <p:cNvSpPr txBox="1"/>
          <p:nvPr/>
        </p:nvSpPr>
        <p:spPr>
          <a:xfrm>
            <a:off x="5321808" y="1709928"/>
            <a:ext cx="2843784" cy="22860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OPTIMIZES / EMPHASIZES</a:t>
            </a:r>
            <a:endParaRPr lang="en-US" sz="1000" dirty="0"/>
          </a:p>
        </p:txBody>
      </p:sp>
      <p:sp>
        <p:nvSpPr>
          <p:cNvPr id="11" name="Shape 9"/>
          <p:cNvSpPr/>
          <p:nvPr/>
        </p:nvSpPr>
        <p:spPr>
          <a:xfrm>
            <a:off x="8275320" y="1600200"/>
            <a:ext cx="3246120" cy="475488"/>
          </a:xfrm>
          <a:prstGeom prst="rect">
            <a:avLst/>
          </a:prstGeom>
          <a:solidFill>
            <a:srgbClr val="0B1F33"/>
          </a:solidFill>
          <a:ln w="12700">
            <a:solidFill>
              <a:srgbClr val="0B1F33"/>
            </a:solidFill>
            <a:prstDash val="solid"/>
          </a:ln>
        </p:spPr>
      </p:sp>
      <p:sp>
        <p:nvSpPr>
          <p:cNvPr id="12" name="Text 10"/>
          <p:cNvSpPr txBox="1"/>
          <p:nvPr/>
        </p:nvSpPr>
        <p:spPr>
          <a:xfrm>
            <a:off x="8385048" y="1709928"/>
            <a:ext cx="3026664" cy="22860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LIMITATION</a:t>
            </a:r>
            <a:endParaRPr lang="en-US" sz="1000" dirty="0"/>
          </a:p>
        </p:txBody>
      </p:sp>
      <p:sp>
        <p:nvSpPr>
          <p:cNvPr id="13" name="Shape 11"/>
          <p:cNvSpPr/>
          <p:nvPr/>
        </p:nvSpPr>
        <p:spPr>
          <a:xfrm>
            <a:off x="548640" y="2075688"/>
            <a:ext cx="1874520" cy="713232"/>
          </a:xfrm>
          <a:prstGeom prst="rect">
            <a:avLst/>
          </a:prstGeom>
          <a:solidFill>
            <a:srgbClr val="FFFFFF"/>
          </a:solidFill>
          <a:ln w="12700">
            <a:solidFill>
              <a:srgbClr val="E8EDF2"/>
            </a:solidFill>
            <a:prstDash val="solid"/>
          </a:ln>
        </p:spPr>
      </p:sp>
      <p:sp>
        <p:nvSpPr>
          <p:cNvPr id="14" name="Text 12"/>
          <p:cNvSpPr txBox="1"/>
          <p:nvPr/>
        </p:nvSpPr>
        <p:spPr>
          <a:xfrm>
            <a:off x="658368" y="2167128"/>
            <a:ext cx="1655064" cy="530352"/>
          </a:xfrm>
          <a:prstGeom prst="rect">
            <a:avLst/>
          </a:prstGeom>
          <a:noFill/>
          <a:ln/>
        </p:spPr>
        <p:txBody>
          <a:bodyPr wrap="square" lIns="0" tIns="0" rIns="0" bIns="0" rtlCol="0" anchor="t">
            <a:normAutofit/>
          </a:bodyPr>
          <a:lstStyle/>
          <a:p>
            <a:pPr algn="l" indent="0" marL="0">
              <a:buNone/>
            </a:pPr>
            <a:r>
              <a:rPr lang="en-US" sz="1250" b="1" dirty="0">
                <a:solidFill>
                  <a:srgbClr val="1D6FA5"/>
                </a:solidFill>
                <a:latin typeface="Aptos" pitchFamily="34" charset="0"/>
                <a:ea typeface="Aptos" pitchFamily="34" charset="-122"/>
                <a:cs typeface="Aptos" pitchFamily="34" charset="-120"/>
              </a:rPr>
              <a:t>Basic EOQ</a:t>
            </a:r>
            <a:endParaRPr lang="en-US" sz="1250" dirty="0"/>
          </a:p>
        </p:txBody>
      </p:sp>
      <p:sp>
        <p:nvSpPr>
          <p:cNvPr id="15" name="Shape 13"/>
          <p:cNvSpPr/>
          <p:nvPr/>
        </p:nvSpPr>
        <p:spPr>
          <a:xfrm>
            <a:off x="2423160" y="2075688"/>
            <a:ext cx="2788920" cy="713232"/>
          </a:xfrm>
          <a:prstGeom prst="rect">
            <a:avLst/>
          </a:prstGeom>
          <a:solidFill>
            <a:srgbClr val="FFFFFF"/>
          </a:solidFill>
          <a:ln w="12700">
            <a:solidFill>
              <a:srgbClr val="E8EDF2"/>
            </a:solidFill>
            <a:prstDash val="solid"/>
          </a:ln>
        </p:spPr>
      </p:sp>
      <p:sp>
        <p:nvSpPr>
          <p:cNvPr id="16" name="Text 14"/>
          <p:cNvSpPr txBox="1"/>
          <p:nvPr/>
        </p:nvSpPr>
        <p:spPr>
          <a:xfrm>
            <a:off x="2532888" y="2167128"/>
            <a:ext cx="256946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Stable annual demand; no price break</a:t>
            </a:r>
            <a:endParaRPr lang="en-US" sz="1150" dirty="0"/>
          </a:p>
        </p:txBody>
      </p:sp>
      <p:sp>
        <p:nvSpPr>
          <p:cNvPr id="17" name="Shape 15"/>
          <p:cNvSpPr/>
          <p:nvPr/>
        </p:nvSpPr>
        <p:spPr>
          <a:xfrm>
            <a:off x="5212080" y="2075688"/>
            <a:ext cx="3063240" cy="713232"/>
          </a:xfrm>
          <a:prstGeom prst="rect">
            <a:avLst/>
          </a:prstGeom>
          <a:solidFill>
            <a:srgbClr val="FFFFFF"/>
          </a:solidFill>
          <a:ln w="12700">
            <a:solidFill>
              <a:srgbClr val="E8EDF2"/>
            </a:solidFill>
            <a:prstDash val="solid"/>
          </a:ln>
        </p:spPr>
      </p:sp>
      <p:sp>
        <p:nvSpPr>
          <p:cNvPr id="18" name="Text 16"/>
          <p:cNvSpPr txBox="1"/>
          <p:nvPr/>
        </p:nvSpPr>
        <p:spPr>
          <a:xfrm>
            <a:off x="5321808" y="2167128"/>
            <a:ext cx="284378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Ordering + cycle holding</a:t>
            </a:r>
            <a:endParaRPr lang="en-US" sz="1150" dirty="0"/>
          </a:p>
        </p:txBody>
      </p:sp>
      <p:sp>
        <p:nvSpPr>
          <p:cNvPr id="19" name="Shape 17"/>
          <p:cNvSpPr/>
          <p:nvPr/>
        </p:nvSpPr>
        <p:spPr>
          <a:xfrm>
            <a:off x="8275320" y="2075688"/>
            <a:ext cx="3246120" cy="713232"/>
          </a:xfrm>
          <a:prstGeom prst="rect">
            <a:avLst/>
          </a:prstGeom>
          <a:solidFill>
            <a:srgbClr val="FFFFFF"/>
          </a:solidFill>
          <a:ln w="12700">
            <a:solidFill>
              <a:srgbClr val="E8EDF2"/>
            </a:solidFill>
            <a:prstDash val="solid"/>
          </a:ln>
        </p:spPr>
      </p:sp>
      <p:sp>
        <p:nvSpPr>
          <p:cNvPr id="20" name="Text 18"/>
          <p:cNvSpPr txBox="1"/>
          <p:nvPr/>
        </p:nvSpPr>
        <p:spPr>
          <a:xfrm>
            <a:off x="8385048" y="2167128"/>
            <a:ext cx="302666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Ignores lumpy demand and constraints</a:t>
            </a:r>
            <a:endParaRPr lang="en-US" sz="1150" dirty="0"/>
          </a:p>
        </p:txBody>
      </p:sp>
      <p:sp>
        <p:nvSpPr>
          <p:cNvPr id="21" name="Shape 19"/>
          <p:cNvSpPr/>
          <p:nvPr/>
        </p:nvSpPr>
        <p:spPr>
          <a:xfrm>
            <a:off x="548640" y="2788920"/>
            <a:ext cx="1874520" cy="713232"/>
          </a:xfrm>
          <a:prstGeom prst="rect">
            <a:avLst/>
          </a:prstGeom>
          <a:solidFill>
            <a:srgbClr val="F7F8FA"/>
          </a:solidFill>
          <a:ln w="12700">
            <a:solidFill>
              <a:srgbClr val="E8EDF2"/>
            </a:solidFill>
            <a:prstDash val="solid"/>
          </a:ln>
        </p:spPr>
      </p:sp>
      <p:sp>
        <p:nvSpPr>
          <p:cNvPr id="22" name="Text 20"/>
          <p:cNvSpPr txBox="1"/>
          <p:nvPr/>
        </p:nvSpPr>
        <p:spPr>
          <a:xfrm>
            <a:off x="658368" y="2880360"/>
            <a:ext cx="1655064" cy="530352"/>
          </a:xfrm>
          <a:prstGeom prst="rect">
            <a:avLst/>
          </a:prstGeom>
          <a:noFill/>
          <a:ln/>
        </p:spPr>
        <p:txBody>
          <a:bodyPr wrap="square" lIns="0" tIns="0" rIns="0" bIns="0" rtlCol="0" anchor="t">
            <a:normAutofit/>
          </a:bodyPr>
          <a:lstStyle/>
          <a:p>
            <a:pPr algn="l" indent="0" marL="0">
              <a:buNone/>
            </a:pPr>
            <a:r>
              <a:rPr lang="en-US" sz="1250" b="1" dirty="0">
                <a:solidFill>
                  <a:srgbClr val="1D6FA5"/>
                </a:solidFill>
                <a:latin typeface="Aptos" pitchFamily="34" charset="0"/>
                <a:ea typeface="Aptos" pitchFamily="34" charset="-122"/>
                <a:cs typeface="Aptos" pitchFamily="34" charset="-120"/>
              </a:rPr>
              <a:t>Quantity discount</a:t>
            </a:r>
            <a:endParaRPr lang="en-US" sz="1250" dirty="0"/>
          </a:p>
        </p:txBody>
      </p:sp>
      <p:sp>
        <p:nvSpPr>
          <p:cNvPr id="23" name="Shape 21"/>
          <p:cNvSpPr/>
          <p:nvPr/>
        </p:nvSpPr>
        <p:spPr>
          <a:xfrm>
            <a:off x="2423160" y="2788920"/>
            <a:ext cx="2788920" cy="713232"/>
          </a:xfrm>
          <a:prstGeom prst="rect">
            <a:avLst/>
          </a:prstGeom>
          <a:solidFill>
            <a:srgbClr val="F7F8FA"/>
          </a:solidFill>
          <a:ln w="12700">
            <a:solidFill>
              <a:srgbClr val="E8EDF2"/>
            </a:solidFill>
            <a:prstDash val="solid"/>
          </a:ln>
        </p:spPr>
      </p:sp>
      <p:sp>
        <p:nvSpPr>
          <p:cNvPr id="24" name="Text 22"/>
          <p:cNvSpPr txBox="1"/>
          <p:nvPr/>
        </p:nvSpPr>
        <p:spPr>
          <a:xfrm>
            <a:off x="2532888" y="2880360"/>
            <a:ext cx="256946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Supplier price breaks by quantity</a:t>
            </a:r>
            <a:endParaRPr lang="en-US" sz="1150" dirty="0"/>
          </a:p>
        </p:txBody>
      </p:sp>
      <p:sp>
        <p:nvSpPr>
          <p:cNvPr id="25" name="Shape 23"/>
          <p:cNvSpPr/>
          <p:nvPr/>
        </p:nvSpPr>
        <p:spPr>
          <a:xfrm>
            <a:off x="5212080" y="2788920"/>
            <a:ext cx="3063240" cy="713232"/>
          </a:xfrm>
          <a:prstGeom prst="rect">
            <a:avLst/>
          </a:prstGeom>
          <a:solidFill>
            <a:srgbClr val="F7F8FA"/>
          </a:solidFill>
          <a:ln w="12700">
            <a:solidFill>
              <a:srgbClr val="E8EDF2"/>
            </a:solidFill>
            <a:prstDash val="solid"/>
          </a:ln>
        </p:spPr>
      </p:sp>
      <p:sp>
        <p:nvSpPr>
          <p:cNvPr id="26" name="Text 24"/>
          <p:cNvSpPr txBox="1"/>
          <p:nvPr/>
        </p:nvSpPr>
        <p:spPr>
          <a:xfrm>
            <a:off x="5321808" y="2880360"/>
            <a:ext cx="284378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Purchase + ordering + holding</a:t>
            </a:r>
            <a:endParaRPr lang="en-US" sz="1150" dirty="0"/>
          </a:p>
        </p:txBody>
      </p:sp>
      <p:sp>
        <p:nvSpPr>
          <p:cNvPr id="27" name="Shape 25"/>
          <p:cNvSpPr/>
          <p:nvPr/>
        </p:nvSpPr>
        <p:spPr>
          <a:xfrm>
            <a:off x="8275320" y="2788920"/>
            <a:ext cx="3246120" cy="713232"/>
          </a:xfrm>
          <a:prstGeom prst="rect">
            <a:avLst/>
          </a:prstGeom>
          <a:solidFill>
            <a:srgbClr val="F7F8FA"/>
          </a:solidFill>
          <a:ln w="12700">
            <a:solidFill>
              <a:srgbClr val="E8EDF2"/>
            </a:solidFill>
            <a:prstDash val="solid"/>
          </a:ln>
        </p:spPr>
      </p:sp>
      <p:sp>
        <p:nvSpPr>
          <p:cNvPr id="28" name="Text 26"/>
          <p:cNvSpPr txBox="1"/>
          <p:nvPr/>
        </p:nvSpPr>
        <p:spPr>
          <a:xfrm>
            <a:off x="8385048" y="2880360"/>
            <a:ext cx="302666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Must test feasible break quantities</a:t>
            </a:r>
            <a:endParaRPr lang="en-US" sz="1150" dirty="0"/>
          </a:p>
        </p:txBody>
      </p:sp>
      <p:sp>
        <p:nvSpPr>
          <p:cNvPr id="29" name="Shape 27"/>
          <p:cNvSpPr/>
          <p:nvPr/>
        </p:nvSpPr>
        <p:spPr>
          <a:xfrm>
            <a:off x="548640" y="3502152"/>
            <a:ext cx="1874520" cy="713232"/>
          </a:xfrm>
          <a:prstGeom prst="rect">
            <a:avLst/>
          </a:prstGeom>
          <a:solidFill>
            <a:srgbClr val="FFFFFF"/>
          </a:solidFill>
          <a:ln w="12700">
            <a:solidFill>
              <a:srgbClr val="E8EDF2"/>
            </a:solidFill>
            <a:prstDash val="solid"/>
          </a:ln>
        </p:spPr>
      </p:sp>
      <p:sp>
        <p:nvSpPr>
          <p:cNvPr id="30" name="Text 28"/>
          <p:cNvSpPr txBox="1"/>
          <p:nvPr/>
        </p:nvSpPr>
        <p:spPr>
          <a:xfrm>
            <a:off x="658368" y="3593592"/>
            <a:ext cx="1655064" cy="530352"/>
          </a:xfrm>
          <a:prstGeom prst="rect">
            <a:avLst/>
          </a:prstGeom>
          <a:noFill/>
          <a:ln/>
        </p:spPr>
        <p:txBody>
          <a:bodyPr wrap="square" lIns="0" tIns="0" rIns="0" bIns="0" rtlCol="0" anchor="t">
            <a:normAutofit/>
          </a:bodyPr>
          <a:lstStyle/>
          <a:p>
            <a:pPr algn="l" indent="0" marL="0">
              <a:buNone/>
            </a:pPr>
            <a:r>
              <a:rPr lang="en-US" sz="1250" b="1" dirty="0">
                <a:solidFill>
                  <a:srgbClr val="1D6FA5"/>
                </a:solidFill>
                <a:latin typeface="Aptos" pitchFamily="34" charset="0"/>
                <a:ea typeface="Aptos" pitchFamily="34" charset="-122"/>
                <a:cs typeface="Aptos" pitchFamily="34" charset="-120"/>
              </a:rPr>
              <a:t>Periodic order quantity</a:t>
            </a:r>
            <a:endParaRPr lang="en-US" sz="1250" dirty="0"/>
          </a:p>
        </p:txBody>
      </p:sp>
      <p:sp>
        <p:nvSpPr>
          <p:cNvPr id="31" name="Shape 29"/>
          <p:cNvSpPr/>
          <p:nvPr/>
        </p:nvSpPr>
        <p:spPr>
          <a:xfrm>
            <a:off x="2423160" y="3502152"/>
            <a:ext cx="2788920" cy="713232"/>
          </a:xfrm>
          <a:prstGeom prst="rect">
            <a:avLst/>
          </a:prstGeom>
          <a:solidFill>
            <a:srgbClr val="FFFFFF"/>
          </a:solidFill>
          <a:ln w="12700">
            <a:solidFill>
              <a:srgbClr val="E8EDF2"/>
            </a:solidFill>
            <a:prstDash val="solid"/>
          </a:ln>
        </p:spPr>
      </p:sp>
      <p:sp>
        <p:nvSpPr>
          <p:cNvPr id="32" name="Text 30"/>
          <p:cNvSpPr txBox="1"/>
          <p:nvPr/>
        </p:nvSpPr>
        <p:spPr>
          <a:xfrm>
            <a:off x="2532888" y="3593592"/>
            <a:ext cx="256946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Review/order cadence matters</a:t>
            </a:r>
            <a:endParaRPr lang="en-US" sz="1150" dirty="0"/>
          </a:p>
        </p:txBody>
      </p:sp>
      <p:sp>
        <p:nvSpPr>
          <p:cNvPr id="33" name="Shape 31"/>
          <p:cNvSpPr/>
          <p:nvPr/>
        </p:nvSpPr>
        <p:spPr>
          <a:xfrm>
            <a:off x="5212080" y="3502152"/>
            <a:ext cx="3063240" cy="713232"/>
          </a:xfrm>
          <a:prstGeom prst="rect">
            <a:avLst/>
          </a:prstGeom>
          <a:solidFill>
            <a:srgbClr val="FFFFFF"/>
          </a:solidFill>
          <a:ln w="12700">
            <a:solidFill>
              <a:srgbClr val="E8EDF2"/>
            </a:solidFill>
            <a:prstDash val="solid"/>
          </a:ln>
        </p:spPr>
      </p:sp>
      <p:sp>
        <p:nvSpPr>
          <p:cNvPr id="34" name="Text 32"/>
          <p:cNvSpPr txBox="1"/>
          <p:nvPr/>
        </p:nvSpPr>
        <p:spPr>
          <a:xfrm>
            <a:off x="5321808" y="3593592"/>
            <a:ext cx="284378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EOQ translated into periods</a:t>
            </a:r>
            <a:endParaRPr lang="en-US" sz="1150" dirty="0"/>
          </a:p>
        </p:txBody>
      </p:sp>
      <p:sp>
        <p:nvSpPr>
          <p:cNvPr id="35" name="Shape 33"/>
          <p:cNvSpPr/>
          <p:nvPr/>
        </p:nvSpPr>
        <p:spPr>
          <a:xfrm>
            <a:off x="8275320" y="3502152"/>
            <a:ext cx="3246120" cy="713232"/>
          </a:xfrm>
          <a:prstGeom prst="rect">
            <a:avLst/>
          </a:prstGeom>
          <a:solidFill>
            <a:srgbClr val="FFFFFF"/>
          </a:solidFill>
          <a:ln w="12700">
            <a:solidFill>
              <a:srgbClr val="E8EDF2"/>
            </a:solidFill>
            <a:prstDash val="solid"/>
          </a:ln>
        </p:spPr>
      </p:sp>
      <p:sp>
        <p:nvSpPr>
          <p:cNvPr id="36" name="Text 34"/>
          <p:cNvSpPr txBox="1"/>
          <p:nvPr/>
        </p:nvSpPr>
        <p:spPr>
          <a:xfrm>
            <a:off x="8385048" y="3593592"/>
            <a:ext cx="302666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Can create variable quantities</a:t>
            </a:r>
            <a:endParaRPr lang="en-US" sz="1150" dirty="0"/>
          </a:p>
        </p:txBody>
      </p:sp>
      <p:sp>
        <p:nvSpPr>
          <p:cNvPr id="37" name="Shape 35"/>
          <p:cNvSpPr/>
          <p:nvPr/>
        </p:nvSpPr>
        <p:spPr>
          <a:xfrm>
            <a:off x="548640" y="4215384"/>
            <a:ext cx="1874520" cy="713232"/>
          </a:xfrm>
          <a:prstGeom prst="rect">
            <a:avLst/>
          </a:prstGeom>
          <a:solidFill>
            <a:srgbClr val="F7F8FA"/>
          </a:solidFill>
          <a:ln w="12700">
            <a:solidFill>
              <a:srgbClr val="E8EDF2"/>
            </a:solidFill>
            <a:prstDash val="solid"/>
          </a:ln>
        </p:spPr>
      </p:sp>
      <p:sp>
        <p:nvSpPr>
          <p:cNvPr id="38" name="Text 36"/>
          <p:cNvSpPr txBox="1"/>
          <p:nvPr/>
        </p:nvSpPr>
        <p:spPr>
          <a:xfrm>
            <a:off x="658368" y="4306824"/>
            <a:ext cx="1655064" cy="530352"/>
          </a:xfrm>
          <a:prstGeom prst="rect">
            <a:avLst/>
          </a:prstGeom>
          <a:noFill/>
          <a:ln/>
        </p:spPr>
        <p:txBody>
          <a:bodyPr wrap="square" lIns="0" tIns="0" rIns="0" bIns="0" rtlCol="0" anchor="t">
            <a:normAutofit/>
          </a:bodyPr>
          <a:lstStyle/>
          <a:p>
            <a:pPr algn="l" indent="0" marL="0">
              <a:buNone/>
            </a:pPr>
            <a:r>
              <a:rPr lang="en-US" sz="1250" b="1" dirty="0">
                <a:solidFill>
                  <a:srgbClr val="1D6FA5"/>
                </a:solidFill>
                <a:latin typeface="Aptos" pitchFamily="34" charset="0"/>
                <a:ea typeface="Aptos" pitchFamily="34" charset="-122"/>
                <a:cs typeface="Aptos" pitchFamily="34" charset="-120"/>
              </a:rPr>
              <a:t>Lot-for-lot</a:t>
            </a:r>
            <a:endParaRPr lang="en-US" sz="1250" dirty="0"/>
          </a:p>
        </p:txBody>
      </p:sp>
      <p:sp>
        <p:nvSpPr>
          <p:cNvPr id="39" name="Shape 37"/>
          <p:cNvSpPr/>
          <p:nvPr/>
        </p:nvSpPr>
        <p:spPr>
          <a:xfrm>
            <a:off x="2423160" y="4215384"/>
            <a:ext cx="2788920" cy="713232"/>
          </a:xfrm>
          <a:prstGeom prst="rect">
            <a:avLst/>
          </a:prstGeom>
          <a:solidFill>
            <a:srgbClr val="F7F8FA"/>
          </a:solidFill>
          <a:ln w="12700">
            <a:solidFill>
              <a:srgbClr val="E8EDF2"/>
            </a:solidFill>
            <a:prstDash val="solid"/>
          </a:ln>
        </p:spPr>
      </p:sp>
      <p:sp>
        <p:nvSpPr>
          <p:cNvPr id="40" name="Text 38"/>
          <p:cNvSpPr txBox="1"/>
          <p:nvPr/>
        </p:nvSpPr>
        <p:spPr>
          <a:xfrm>
            <a:off x="2532888" y="4306824"/>
            <a:ext cx="256946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Time-phased dependent demand</a:t>
            </a:r>
            <a:endParaRPr lang="en-US" sz="1150" dirty="0"/>
          </a:p>
        </p:txBody>
      </p:sp>
      <p:sp>
        <p:nvSpPr>
          <p:cNvPr id="41" name="Shape 39"/>
          <p:cNvSpPr/>
          <p:nvPr/>
        </p:nvSpPr>
        <p:spPr>
          <a:xfrm>
            <a:off x="5212080" y="4215384"/>
            <a:ext cx="3063240" cy="713232"/>
          </a:xfrm>
          <a:prstGeom prst="rect">
            <a:avLst/>
          </a:prstGeom>
          <a:solidFill>
            <a:srgbClr val="F7F8FA"/>
          </a:solidFill>
          <a:ln w="12700">
            <a:solidFill>
              <a:srgbClr val="E8EDF2"/>
            </a:solidFill>
            <a:prstDash val="solid"/>
          </a:ln>
        </p:spPr>
      </p:sp>
      <p:sp>
        <p:nvSpPr>
          <p:cNvPr id="42" name="Text 40"/>
          <p:cNvSpPr txBox="1"/>
          <p:nvPr/>
        </p:nvSpPr>
        <p:spPr>
          <a:xfrm>
            <a:off x="5321808" y="4306824"/>
            <a:ext cx="284378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Minimizes cycle inventory</a:t>
            </a:r>
            <a:endParaRPr lang="en-US" sz="1150" dirty="0"/>
          </a:p>
        </p:txBody>
      </p:sp>
      <p:sp>
        <p:nvSpPr>
          <p:cNvPr id="43" name="Shape 41"/>
          <p:cNvSpPr/>
          <p:nvPr/>
        </p:nvSpPr>
        <p:spPr>
          <a:xfrm>
            <a:off x="8275320" y="4215384"/>
            <a:ext cx="3246120" cy="713232"/>
          </a:xfrm>
          <a:prstGeom prst="rect">
            <a:avLst/>
          </a:prstGeom>
          <a:solidFill>
            <a:srgbClr val="F7F8FA"/>
          </a:solidFill>
          <a:ln w="12700">
            <a:solidFill>
              <a:srgbClr val="E8EDF2"/>
            </a:solidFill>
            <a:prstDash val="solid"/>
          </a:ln>
        </p:spPr>
      </p:sp>
      <p:sp>
        <p:nvSpPr>
          <p:cNvPr id="44" name="Text 42"/>
          <p:cNvSpPr txBox="1"/>
          <p:nvPr/>
        </p:nvSpPr>
        <p:spPr>
          <a:xfrm>
            <a:off x="8385048" y="4306824"/>
            <a:ext cx="302666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Many setups/orders</a:t>
            </a:r>
            <a:endParaRPr lang="en-US" sz="1150" dirty="0"/>
          </a:p>
        </p:txBody>
      </p:sp>
      <p:sp>
        <p:nvSpPr>
          <p:cNvPr id="45" name="Shape 43"/>
          <p:cNvSpPr/>
          <p:nvPr/>
        </p:nvSpPr>
        <p:spPr>
          <a:xfrm>
            <a:off x="548640" y="4928616"/>
            <a:ext cx="1874520" cy="713232"/>
          </a:xfrm>
          <a:prstGeom prst="rect">
            <a:avLst/>
          </a:prstGeom>
          <a:solidFill>
            <a:srgbClr val="FFFFFF"/>
          </a:solidFill>
          <a:ln w="12700">
            <a:solidFill>
              <a:srgbClr val="E8EDF2"/>
            </a:solidFill>
            <a:prstDash val="solid"/>
          </a:ln>
        </p:spPr>
      </p:sp>
      <p:sp>
        <p:nvSpPr>
          <p:cNvPr id="46" name="Text 44"/>
          <p:cNvSpPr txBox="1"/>
          <p:nvPr/>
        </p:nvSpPr>
        <p:spPr>
          <a:xfrm>
            <a:off x="658368" y="5020056"/>
            <a:ext cx="1655064" cy="530352"/>
          </a:xfrm>
          <a:prstGeom prst="rect">
            <a:avLst/>
          </a:prstGeom>
          <a:noFill/>
          <a:ln/>
        </p:spPr>
        <p:txBody>
          <a:bodyPr wrap="square" lIns="0" tIns="0" rIns="0" bIns="0" rtlCol="0" anchor="t">
            <a:normAutofit/>
          </a:bodyPr>
          <a:lstStyle/>
          <a:p>
            <a:pPr algn="l" indent="0" marL="0">
              <a:buNone/>
            </a:pPr>
            <a:r>
              <a:rPr lang="en-US" sz="1250" b="1" dirty="0">
                <a:solidFill>
                  <a:srgbClr val="1D6FA5"/>
                </a:solidFill>
                <a:latin typeface="Aptos" pitchFamily="34" charset="0"/>
                <a:ea typeface="Aptos" pitchFamily="34" charset="-122"/>
                <a:cs typeface="Aptos" pitchFamily="34" charset="-120"/>
              </a:rPr>
              <a:t>Capacity-constrained</a:t>
            </a:r>
            <a:endParaRPr lang="en-US" sz="1250" dirty="0"/>
          </a:p>
        </p:txBody>
      </p:sp>
      <p:sp>
        <p:nvSpPr>
          <p:cNvPr id="47" name="Shape 45"/>
          <p:cNvSpPr/>
          <p:nvPr/>
        </p:nvSpPr>
        <p:spPr>
          <a:xfrm>
            <a:off x="2423160" y="4928616"/>
            <a:ext cx="2788920" cy="713232"/>
          </a:xfrm>
          <a:prstGeom prst="rect">
            <a:avLst/>
          </a:prstGeom>
          <a:solidFill>
            <a:srgbClr val="FFFFFF"/>
          </a:solidFill>
          <a:ln w="12700">
            <a:solidFill>
              <a:srgbClr val="E8EDF2"/>
            </a:solidFill>
            <a:prstDash val="solid"/>
          </a:ln>
        </p:spPr>
      </p:sp>
      <p:sp>
        <p:nvSpPr>
          <p:cNvPr id="48" name="Text 46"/>
          <p:cNvSpPr txBox="1"/>
          <p:nvPr/>
        </p:nvSpPr>
        <p:spPr>
          <a:xfrm>
            <a:off x="2532888" y="5020056"/>
            <a:ext cx="256946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MOQ, storage, line, truck limits</a:t>
            </a:r>
            <a:endParaRPr lang="en-US" sz="1150" dirty="0"/>
          </a:p>
        </p:txBody>
      </p:sp>
      <p:sp>
        <p:nvSpPr>
          <p:cNvPr id="49" name="Shape 47"/>
          <p:cNvSpPr/>
          <p:nvPr/>
        </p:nvSpPr>
        <p:spPr>
          <a:xfrm>
            <a:off x="5212080" y="4928616"/>
            <a:ext cx="3063240" cy="713232"/>
          </a:xfrm>
          <a:prstGeom prst="rect">
            <a:avLst/>
          </a:prstGeom>
          <a:solidFill>
            <a:srgbClr val="FFFFFF"/>
          </a:solidFill>
          <a:ln w="12700">
            <a:solidFill>
              <a:srgbClr val="E8EDF2"/>
            </a:solidFill>
            <a:prstDash val="solid"/>
          </a:ln>
        </p:spPr>
      </p:sp>
      <p:sp>
        <p:nvSpPr>
          <p:cNvPr id="50" name="Text 48"/>
          <p:cNvSpPr txBox="1"/>
          <p:nvPr/>
        </p:nvSpPr>
        <p:spPr>
          <a:xfrm>
            <a:off x="5321808" y="5020056"/>
            <a:ext cx="284378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Feasible total system cost</a:t>
            </a:r>
            <a:endParaRPr lang="en-US" sz="1150" dirty="0"/>
          </a:p>
        </p:txBody>
      </p:sp>
      <p:sp>
        <p:nvSpPr>
          <p:cNvPr id="51" name="Shape 49"/>
          <p:cNvSpPr/>
          <p:nvPr/>
        </p:nvSpPr>
        <p:spPr>
          <a:xfrm>
            <a:off x="8275320" y="4928616"/>
            <a:ext cx="3246120" cy="713232"/>
          </a:xfrm>
          <a:prstGeom prst="rect">
            <a:avLst/>
          </a:prstGeom>
          <a:solidFill>
            <a:srgbClr val="FFFFFF"/>
          </a:solidFill>
          <a:ln w="12700">
            <a:solidFill>
              <a:srgbClr val="E8EDF2"/>
            </a:solidFill>
            <a:prstDash val="solid"/>
          </a:ln>
        </p:spPr>
      </p:sp>
      <p:sp>
        <p:nvSpPr>
          <p:cNvPr id="52" name="Text 50"/>
          <p:cNvSpPr txBox="1"/>
          <p:nvPr/>
        </p:nvSpPr>
        <p:spPr>
          <a:xfrm>
            <a:off x="8385048" y="5020056"/>
            <a:ext cx="3026664" cy="53035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Constraint can dominate formula</a:t>
            </a:r>
            <a:endParaRPr lang="en-US" sz="1150" dirty="0"/>
          </a:p>
        </p:txBody>
      </p:sp>
      <p:sp>
        <p:nvSpPr>
          <p:cNvPr id="53" name="Shape 51"/>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54" name="Text 52"/>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55" name="Text 53"/>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Start with the decision structure: price breaks, timing, dependency, perishability, and capacity can dominate EOQ.</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SUPPLIER PRICE BREAKS</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A lower unit price can overwhelm—or fail to offset—extra inventory</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Judgment prompt • no calculation required</a:t>
            </a:r>
            <a:endParaRPr lang="en-US" sz="1350" dirty="0"/>
          </a:p>
        </p:txBody>
      </p:sp>
      <p:sp>
        <p:nvSpPr>
          <p:cNvPr id="5" name="Shape 3"/>
          <p:cNvSpPr/>
          <p:nvPr/>
        </p:nvSpPr>
        <p:spPr>
          <a:xfrm>
            <a:off x="685800" y="1664208"/>
            <a:ext cx="5074920" cy="3611880"/>
          </a:xfrm>
          <a:prstGeom prst="roundRect">
            <a:avLst>
              <a:gd name="adj" fmla="val 3038"/>
            </a:avLst>
          </a:prstGeom>
          <a:solidFill>
            <a:srgbClr val="FFFFFF"/>
          </a:solidFill>
          <a:ln w="12700">
            <a:solidFill>
              <a:srgbClr val="E8EDF2"/>
            </a:solidFill>
            <a:prstDash val="solid"/>
          </a:ln>
        </p:spPr>
      </p:sp>
      <p:sp>
        <p:nvSpPr>
          <p:cNvPr id="6" name="Text 4"/>
          <p:cNvSpPr txBox="1"/>
          <p:nvPr/>
        </p:nvSpPr>
        <p:spPr>
          <a:xfrm>
            <a:off x="960120" y="1920240"/>
            <a:ext cx="914400" cy="274320"/>
          </a:xfrm>
          <a:prstGeom prst="rect">
            <a:avLst/>
          </a:prstGeom>
          <a:noFill/>
          <a:ln/>
        </p:spPr>
        <p:txBody>
          <a:bodyPr wrap="square" lIns="0" tIns="0" rIns="0" bIns="0" rtlCol="0" anchor="ctr">
            <a:normAutofit/>
          </a:bodyPr>
          <a:lstStyle/>
          <a:p>
            <a:pPr algn="l" indent="0" marL="0">
              <a:buNone/>
            </a:pPr>
            <a:r>
              <a:rPr lang="en-US" sz="1100" b="1" dirty="0">
                <a:solidFill>
                  <a:srgbClr val="F28E2B"/>
                </a:solidFill>
                <a:latin typeface="Aptos" pitchFamily="34" charset="0"/>
                <a:ea typeface="Aptos" pitchFamily="34" charset="-122"/>
                <a:cs typeface="Aptos" pitchFamily="34" charset="-120"/>
              </a:rPr>
              <a:t>Offer</a:t>
            </a:r>
            <a:endParaRPr lang="en-US" sz="1100" dirty="0"/>
          </a:p>
        </p:txBody>
      </p:sp>
      <p:sp>
        <p:nvSpPr>
          <p:cNvPr id="7" name="Text 5"/>
          <p:cNvSpPr txBox="1"/>
          <p:nvPr/>
        </p:nvSpPr>
        <p:spPr>
          <a:xfrm>
            <a:off x="960120" y="2331720"/>
            <a:ext cx="4480560" cy="502920"/>
          </a:xfrm>
          <a:prstGeom prst="rect">
            <a:avLst/>
          </a:prstGeom>
          <a:noFill/>
          <a:ln/>
        </p:spPr>
        <p:txBody>
          <a:bodyPr wrap="square" lIns="0" tIns="0" rIns="0" bIns="0" rtlCol="0" anchor="ctr">
            <a:normAutofit/>
          </a:bodyPr>
          <a:lstStyle/>
          <a:p>
            <a:pPr algn="l" indent="0" marL="0">
              <a:buNone/>
            </a:pPr>
            <a:r>
              <a:rPr lang="en-US" sz="2800" b="1" dirty="0">
                <a:solidFill>
                  <a:srgbClr val="0B1F33"/>
                </a:solidFill>
                <a:latin typeface="Aptos" pitchFamily="34" charset="0"/>
                <a:ea typeface="Aptos" pitchFamily="34" charset="-122"/>
                <a:cs typeface="Aptos" pitchFamily="34" charset="-120"/>
              </a:rPr>
              <a:t>2% price reduction</a:t>
            </a:r>
            <a:endParaRPr lang="en-US" sz="2800" dirty="0"/>
          </a:p>
        </p:txBody>
      </p:sp>
      <p:sp>
        <p:nvSpPr>
          <p:cNvPr id="8" name="Text 6"/>
          <p:cNvSpPr txBox="1"/>
          <p:nvPr/>
        </p:nvSpPr>
        <p:spPr>
          <a:xfrm>
            <a:off x="960120" y="2852928"/>
            <a:ext cx="4480560" cy="365760"/>
          </a:xfrm>
          <a:prstGeom prst="rect">
            <a:avLst/>
          </a:prstGeom>
          <a:noFill/>
          <a:ln/>
        </p:spPr>
        <p:txBody>
          <a:bodyPr wrap="square" lIns="0" tIns="0" rIns="0" bIns="0" rtlCol="0" anchor="ctr">
            <a:normAutofit/>
          </a:bodyPr>
          <a:lstStyle/>
          <a:p>
            <a:pPr algn="l" indent="0" marL="0">
              <a:buNone/>
            </a:pPr>
            <a:r>
              <a:rPr lang="en-US" sz="1600" dirty="0">
                <a:solidFill>
                  <a:srgbClr val="6B7785"/>
                </a:solidFill>
                <a:latin typeface="Aptos" pitchFamily="34" charset="0"/>
                <a:ea typeface="Aptos" pitchFamily="34" charset="-122"/>
                <a:cs typeface="Aptos" pitchFamily="34" charset="-120"/>
              </a:rPr>
              <a:t>if Q rises from 600 to 2,000 units</a:t>
            </a:r>
            <a:endParaRPr lang="en-US" sz="1600" dirty="0"/>
          </a:p>
        </p:txBody>
      </p:sp>
      <p:sp>
        <p:nvSpPr>
          <p:cNvPr id="9" name="Text 7"/>
          <p:cNvSpPr txBox="1"/>
          <p:nvPr/>
        </p:nvSpPr>
        <p:spPr>
          <a:xfrm>
            <a:off x="960120" y="3703320"/>
            <a:ext cx="2011680" cy="274320"/>
          </a:xfrm>
          <a:prstGeom prst="rect">
            <a:avLst/>
          </a:prstGeom>
          <a:noFill/>
          <a:ln/>
        </p:spPr>
        <p:txBody>
          <a:bodyPr wrap="square" lIns="0" tIns="0" rIns="0" bIns="0" rtlCol="0" anchor="ctr">
            <a:normAutofit/>
          </a:bodyPr>
          <a:lstStyle/>
          <a:p>
            <a:pPr algn="l" indent="0" marL="0">
              <a:buNone/>
            </a:pPr>
            <a:r>
              <a:rPr lang="en-US" sz="1400" b="1" dirty="0">
                <a:solidFill>
                  <a:srgbClr val="1D6FA5"/>
                </a:solidFill>
                <a:latin typeface="Aptos" pitchFamily="34" charset="0"/>
                <a:ea typeface="Aptos" pitchFamily="34" charset="-122"/>
                <a:cs typeface="Aptos" pitchFamily="34" charset="-120"/>
              </a:rPr>
              <a:t>What else changes?</a:t>
            </a:r>
            <a:endParaRPr lang="en-US" sz="1400" dirty="0"/>
          </a:p>
        </p:txBody>
      </p:sp>
      <p:sp>
        <p:nvSpPr>
          <p:cNvPr id="10" name="Text 8"/>
          <p:cNvSpPr/>
          <p:nvPr/>
        </p:nvSpPr>
        <p:spPr>
          <a:xfrm>
            <a:off x="1097280" y="4069080"/>
            <a:ext cx="4251960" cy="960120"/>
          </a:xfrm>
          <a:prstGeom prst="rect">
            <a:avLst/>
          </a:prstGeom>
          <a:noFill/>
          <a:ln/>
        </p:spPr>
        <p:txBody>
          <a:bodyPr wrap="square" lIns="762" tIns="762" rIns="762" bIns="762" rtlCol="0" anchor="t">
            <a:normAutofit/>
          </a:bodyPr>
          <a:lstStyle/>
          <a:p>
            <a:pPr marL="203200" indent="-203200">
              <a:buSzPct val="100000"/>
              <a:buChar char="•"/>
            </a:pPr>
            <a:r>
              <a:rPr lang="en-US" sz="1200" dirty="0">
                <a:solidFill>
                  <a:srgbClr val="152433"/>
                </a:solidFill>
                <a:latin typeface="Aptos" pitchFamily="34" charset="0"/>
                <a:ea typeface="Aptos" pitchFamily="34" charset="-122"/>
                <a:cs typeface="Aptos" pitchFamily="34" charset="-120"/>
              </a:rPr>
              <a:t>Average cycle inventory</a:t>
            </a:r>
            <a:endParaRPr lang="en-US" sz="1200" dirty="0"/>
          </a:p>
          <a:p>
            <a:pPr marL="203200" indent="-203200">
              <a:buSzPct val="100000"/>
              <a:buChar char="•"/>
            </a:pPr>
            <a:r>
              <a:rPr lang="en-US" sz="1200" dirty="0">
                <a:solidFill>
                  <a:srgbClr val="152433"/>
                </a:solidFill>
                <a:latin typeface="Aptos" pitchFamily="34" charset="0"/>
                <a:ea typeface="Aptos" pitchFamily="34" charset="-122"/>
                <a:cs typeface="Aptos" pitchFamily="34" charset="-120"/>
              </a:rPr>
              <a:t>Obsolescence and markdown exposure</a:t>
            </a:r>
            <a:endParaRPr lang="en-US" sz="1200" dirty="0"/>
          </a:p>
          <a:p>
            <a:pPr marL="203200" indent="-203200">
              <a:buSzPct val="100000"/>
              <a:buChar char="•"/>
            </a:pPr>
            <a:r>
              <a:rPr lang="en-US" sz="1200" dirty="0">
                <a:solidFill>
                  <a:srgbClr val="152433"/>
                </a:solidFill>
                <a:latin typeface="Aptos" pitchFamily="34" charset="0"/>
                <a:ea typeface="Aptos" pitchFamily="34" charset="-122"/>
                <a:cs typeface="Aptos" pitchFamily="34" charset="-120"/>
              </a:rPr>
              <a:t>Storage and cash requirements</a:t>
            </a:r>
            <a:endParaRPr lang="en-US" sz="1200" dirty="0"/>
          </a:p>
          <a:p>
            <a:pPr marL="203200" indent="-203200">
              <a:buSzPct val="100000"/>
              <a:buChar char="•"/>
            </a:pPr>
            <a:r>
              <a:rPr lang="en-US" sz="1200" dirty="0">
                <a:solidFill>
                  <a:srgbClr val="152433"/>
                </a:solidFill>
                <a:latin typeface="Aptos" pitchFamily="34" charset="0"/>
                <a:ea typeface="Aptos" pitchFamily="34" charset="-122"/>
                <a:cs typeface="Aptos" pitchFamily="34" charset="-120"/>
              </a:rPr>
              <a:t>Freight or handling economics</a:t>
            </a:r>
            <a:endParaRPr lang="en-US" sz="1200" dirty="0"/>
          </a:p>
        </p:txBody>
      </p:sp>
      <p:sp>
        <p:nvSpPr>
          <p:cNvPr id="11" name="Shape 9"/>
          <p:cNvSpPr/>
          <p:nvPr/>
        </p:nvSpPr>
        <p:spPr>
          <a:xfrm>
            <a:off x="6080760" y="1664208"/>
            <a:ext cx="5394960" cy="3611880"/>
          </a:xfrm>
          <a:prstGeom prst="roundRect">
            <a:avLst>
              <a:gd name="adj" fmla="val 3038"/>
            </a:avLst>
          </a:prstGeom>
          <a:solidFill>
            <a:srgbClr val="EAF3F8"/>
          </a:solidFill>
          <a:ln w="12700">
            <a:solidFill>
              <a:srgbClr val="EAF3F8"/>
            </a:solidFill>
            <a:prstDash val="solid"/>
          </a:ln>
        </p:spPr>
      </p:sp>
      <p:sp>
        <p:nvSpPr>
          <p:cNvPr id="12" name="Text 10"/>
          <p:cNvSpPr txBox="1"/>
          <p:nvPr/>
        </p:nvSpPr>
        <p:spPr>
          <a:xfrm>
            <a:off x="6382512" y="1920240"/>
            <a:ext cx="3474720" cy="320040"/>
          </a:xfrm>
          <a:prstGeom prst="rect">
            <a:avLst/>
          </a:prstGeom>
          <a:noFill/>
          <a:ln/>
        </p:spPr>
        <p:txBody>
          <a:bodyPr wrap="square" lIns="0" tIns="0" rIns="0" bIns="0" rtlCol="0" anchor="ctr">
            <a:normAutofit/>
          </a:bodyPr>
          <a:lstStyle/>
          <a:p>
            <a:pPr algn="l" indent="0" marL="0">
              <a:buNone/>
            </a:pPr>
            <a:r>
              <a:rPr lang="en-US" sz="1800" b="1" dirty="0">
                <a:solidFill>
                  <a:srgbClr val="0B1F33"/>
                </a:solidFill>
                <a:latin typeface="Aptos" pitchFamily="34" charset="0"/>
                <a:ea typeface="Aptos" pitchFamily="34" charset="-122"/>
                <a:cs typeface="Aptos" pitchFamily="34" charset="-120"/>
              </a:rPr>
              <a:t>Correct evaluation sequence</a:t>
            </a:r>
            <a:endParaRPr lang="en-US" sz="1800" dirty="0"/>
          </a:p>
        </p:txBody>
      </p:sp>
      <p:sp>
        <p:nvSpPr>
          <p:cNvPr id="13" name="Shape 11"/>
          <p:cNvSpPr/>
          <p:nvPr/>
        </p:nvSpPr>
        <p:spPr>
          <a:xfrm>
            <a:off x="6400800" y="2542032"/>
            <a:ext cx="384048" cy="384048"/>
          </a:xfrm>
          <a:prstGeom prst="ellipse">
            <a:avLst/>
          </a:prstGeom>
          <a:solidFill>
            <a:srgbClr val="1D6FA5"/>
          </a:solidFill>
          <a:ln w="12700">
            <a:solidFill>
              <a:srgbClr val="1D6FA5"/>
            </a:solidFill>
            <a:prstDash val="solid"/>
          </a:ln>
        </p:spPr>
      </p:sp>
      <p:sp>
        <p:nvSpPr>
          <p:cNvPr id="14" name="Text 12"/>
          <p:cNvSpPr txBox="1"/>
          <p:nvPr/>
        </p:nvSpPr>
        <p:spPr>
          <a:xfrm>
            <a:off x="6400800" y="2542032"/>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5" name="Text 13"/>
          <p:cNvSpPr txBox="1"/>
          <p:nvPr/>
        </p:nvSpPr>
        <p:spPr>
          <a:xfrm>
            <a:off x="6903720" y="2514600"/>
            <a:ext cx="3886200" cy="292608"/>
          </a:xfrm>
          <a:prstGeom prst="rect">
            <a:avLst/>
          </a:prstGeom>
          <a:noFill/>
          <a:ln/>
        </p:spPr>
        <p:txBody>
          <a:bodyPr wrap="square" lIns="0" tIns="0" rIns="0" bIns="0" rtlCol="0" anchor="ctr">
            <a:normAutofit/>
          </a:bodyPr>
          <a:lstStyle/>
          <a:p>
            <a:pPr algn="l" indent="0" marL="0">
              <a:buNone/>
            </a:pPr>
            <a:r>
              <a:rPr lang="en-US" sz="1350" dirty="0">
                <a:solidFill>
                  <a:srgbClr val="152433"/>
                </a:solidFill>
                <a:latin typeface="Aptos" pitchFamily="34" charset="0"/>
                <a:ea typeface="Aptos" pitchFamily="34" charset="-122"/>
                <a:cs typeface="Aptos" pitchFamily="34" charset="-120"/>
              </a:rPr>
              <a:t>Find EOQ in each price tier</a:t>
            </a:r>
            <a:endParaRPr lang="en-US" sz="1350" dirty="0"/>
          </a:p>
        </p:txBody>
      </p:sp>
      <p:sp>
        <p:nvSpPr>
          <p:cNvPr id="16" name="Shape 14"/>
          <p:cNvSpPr/>
          <p:nvPr/>
        </p:nvSpPr>
        <p:spPr>
          <a:xfrm>
            <a:off x="6400800" y="3136392"/>
            <a:ext cx="384048" cy="384048"/>
          </a:xfrm>
          <a:prstGeom prst="ellipse">
            <a:avLst/>
          </a:prstGeom>
          <a:solidFill>
            <a:srgbClr val="1D6FA5"/>
          </a:solidFill>
          <a:ln w="12700">
            <a:solidFill>
              <a:srgbClr val="1D6FA5"/>
            </a:solidFill>
            <a:prstDash val="solid"/>
          </a:ln>
        </p:spPr>
      </p:sp>
      <p:sp>
        <p:nvSpPr>
          <p:cNvPr id="17" name="Text 15"/>
          <p:cNvSpPr txBox="1"/>
          <p:nvPr/>
        </p:nvSpPr>
        <p:spPr>
          <a:xfrm>
            <a:off x="6400800" y="3136392"/>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8" name="Text 16"/>
          <p:cNvSpPr txBox="1"/>
          <p:nvPr/>
        </p:nvSpPr>
        <p:spPr>
          <a:xfrm>
            <a:off x="6903720" y="3108960"/>
            <a:ext cx="3886200" cy="292608"/>
          </a:xfrm>
          <a:prstGeom prst="rect">
            <a:avLst/>
          </a:prstGeom>
          <a:noFill/>
          <a:ln/>
        </p:spPr>
        <p:txBody>
          <a:bodyPr wrap="square" lIns="0" tIns="0" rIns="0" bIns="0" rtlCol="0" anchor="ctr">
            <a:normAutofit/>
          </a:bodyPr>
          <a:lstStyle/>
          <a:p>
            <a:pPr algn="l" indent="0" marL="0">
              <a:buNone/>
            </a:pPr>
            <a:r>
              <a:rPr lang="en-US" sz="1350" dirty="0">
                <a:solidFill>
                  <a:srgbClr val="152433"/>
                </a:solidFill>
                <a:latin typeface="Aptos" pitchFamily="34" charset="0"/>
                <a:ea typeface="Aptos" pitchFamily="34" charset="-122"/>
                <a:cs typeface="Aptos" pitchFamily="34" charset="-120"/>
              </a:rPr>
              <a:t>Check feasibility at tier threshold</a:t>
            </a:r>
            <a:endParaRPr lang="en-US" sz="1350" dirty="0"/>
          </a:p>
        </p:txBody>
      </p:sp>
      <p:sp>
        <p:nvSpPr>
          <p:cNvPr id="19" name="Shape 17"/>
          <p:cNvSpPr/>
          <p:nvPr/>
        </p:nvSpPr>
        <p:spPr>
          <a:xfrm>
            <a:off x="6400800" y="3730752"/>
            <a:ext cx="384048" cy="384048"/>
          </a:xfrm>
          <a:prstGeom prst="ellipse">
            <a:avLst/>
          </a:prstGeom>
          <a:solidFill>
            <a:srgbClr val="1D6FA5"/>
          </a:solidFill>
          <a:ln w="12700">
            <a:solidFill>
              <a:srgbClr val="1D6FA5"/>
            </a:solidFill>
            <a:prstDash val="solid"/>
          </a:ln>
        </p:spPr>
      </p:sp>
      <p:sp>
        <p:nvSpPr>
          <p:cNvPr id="20" name="Text 18"/>
          <p:cNvSpPr txBox="1"/>
          <p:nvPr/>
        </p:nvSpPr>
        <p:spPr>
          <a:xfrm>
            <a:off x="6400800" y="3730752"/>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21" name="Text 19"/>
          <p:cNvSpPr txBox="1"/>
          <p:nvPr/>
        </p:nvSpPr>
        <p:spPr>
          <a:xfrm>
            <a:off x="6903720" y="3703320"/>
            <a:ext cx="3886200" cy="292608"/>
          </a:xfrm>
          <a:prstGeom prst="rect">
            <a:avLst/>
          </a:prstGeom>
          <a:noFill/>
          <a:ln/>
        </p:spPr>
        <p:txBody>
          <a:bodyPr wrap="square" lIns="0" tIns="0" rIns="0" bIns="0" rtlCol="0" anchor="ctr">
            <a:normAutofit/>
          </a:bodyPr>
          <a:lstStyle/>
          <a:p>
            <a:pPr algn="l" indent="0" marL="0">
              <a:buNone/>
            </a:pPr>
            <a:r>
              <a:rPr lang="en-US" sz="1350" dirty="0">
                <a:solidFill>
                  <a:srgbClr val="152433"/>
                </a:solidFill>
                <a:latin typeface="Aptos" pitchFamily="34" charset="0"/>
                <a:ea typeface="Aptos" pitchFamily="34" charset="-122"/>
                <a:cs typeface="Aptos" pitchFamily="34" charset="-120"/>
              </a:rPr>
              <a:t>Add purchase + ordering + holding</a:t>
            </a:r>
            <a:endParaRPr lang="en-US" sz="1350" dirty="0"/>
          </a:p>
        </p:txBody>
      </p:sp>
      <p:sp>
        <p:nvSpPr>
          <p:cNvPr id="22" name="Shape 20"/>
          <p:cNvSpPr/>
          <p:nvPr/>
        </p:nvSpPr>
        <p:spPr>
          <a:xfrm>
            <a:off x="6400800" y="4325112"/>
            <a:ext cx="384048" cy="384048"/>
          </a:xfrm>
          <a:prstGeom prst="ellipse">
            <a:avLst/>
          </a:prstGeom>
          <a:solidFill>
            <a:srgbClr val="1D6FA5"/>
          </a:solidFill>
          <a:ln w="12700">
            <a:solidFill>
              <a:srgbClr val="1D6FA5"/>
            </a:solidFill>
            <a:prstDash val="solid"/>
          </a:ln>
        </p:spPr>
      </p:sp>
      <p:sp>
        <p:nvSpPr>
          <p:cNvPr id="23" name="Text 21"/>
          <p:cNvSpPr txBox="1"/>
          <p:nvPr/>
        </p:nvSpPr>
        <p:spPr>
          <a:xfrm>
            <a:off x="6400800" y="4325112"/>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24" name="Text 22"/>
          <p:cNvSpPr txBox="1"/>
          <p:nvPr/>
        </p:nvSpPr>
        <p:spPr>
          <a:xfrm>
            <a:off x="6903720" y="4297680"/>
            <a:ext cx="3886200" cy="292608"/>
          </a:xfrm>
          <a:prstGeom prst="rect">
            <a:avLst/>
          </a:prstGeom>
          <a:noFill/>
          <a:ln/>
        </p:spPr>
        <p:txBody>
          <a:bodyPr wrap="square" lIns="0" tIns="0" rIns="0" bIns="0" rtlCol="0" anchor="ctr">
            <a:normAutofit/>
          </a:bodyPr>
          <a:lstStyle/>
          <a:p>
            <a:pPr algn="l" indent="0" marL="0">
              <a:buNone/>
            </a:pPr>
            <a:r>
              <a:rPr lang="en-US" sz="1350" b="1" dirty="0">
                <a:solidFill>
                  <a:srgbClr val="152433"/>
                </a:solidFill>
                <a:latin typeface="Aptos" pitchFamily="34" charset="0"/>
                <a:ea typeface="Aptos" pitchFamily="34" charset="-122"/>
                <a:cs typeface="Aptos" pitchFamily="34" charset="-120"/>
              </a:rPr>
              <a:t>Compare total cost and risk</a:t>
            </a:r>
            <a:endParaRPr lang="en-US" sz="1350" dirty="0"/>
          </a:p>
        </p:txBody>
      </p:sp>
      <p:sp>
        <p:nvSpPr>
          <p:cNvPr id="25" name="Shape 23"/>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26" name="Text 24"/>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27" name="Text 25"/>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Never compare discounts using purchase price alone; include the inventory and risk consequences of the qualifying quantity.</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94360" y="502920"/>
            <a:ext cx="1097280" cy="502920"/>
          </a:xfrm>
          <a:prstGeom prst="rect">
            <a:avLst/>
          </a:prstGeom>
          <a:noFill/>
          <a:ln/>
        </p:spPr>
        <p:txBody>
          <a:bodyPr wrap="square" lIns="0" tIns="0" rIns="0" bIns="0" rtlCol="0" anchor="ctr">
            <a:normAutofit/>
          </a:bodyPr>
          <a:lstStyle/>
          <a:p>
            <a:pPr algn="l" indent="0" marL="0">
              <a:buNone/>
            </a:pPr>
            <a:r>
              <a:rPr lang="en-US" sz="4200" b="1" dirty="0">
                <a:solidFill>
                  <a:srgbClr val="F28E2B"/>
                </a:solidFill>
                <a:latin typeface="Aptos" pitchFamily="34" charset="0"/>
                <a:ea typeface="Aptos" pitchFamily="34" charset="-122"/>
                <a:cs typeface="Aptos" pitchFamily="34" charset="-120"/>
              </a:rPr>
              <a:t>04</a:t>
            </a:r>
            <a:endParaRPr lang="en-US" sz="4200" dirty="0"/>
          </a:p>
        </p:txBody>
      </p:sp>
      <p:sp>
        <p:nvSpPr>
          <p:cNvPr id="3" name="Text 1"/>
          <p:cNvSpPr txBox="1"/>
          <p:nvPr/>
        </p:nvSpPr>
        <p:spPr>
          <a:xfrm>
            <a:off x="594360" y="1371600"/>
            <a:ext cx="7863840" cy="1143000"/>
          </a:xfrm>
          <a:prstGeom prst="rect">
            <a:avLst/>
          </a:prstGeom>
          <a:noFill/>
          <a:ln/>
        </p:spPr>
        <p:txBody>
          <a:bodyPr wrap="square" lIns="0" tIns="0" rIns="0" bIns="0" rtlCol="0" anchor="ctr">
            <a:normAutofit/>
          </a:bodyPr>
          <a:lstStyle/>
          <a:p>
            <a:pPr algn="l" indent="0" marL="0">
              <a:buNone/>
            </a:pPr>
            <a:r>
              <a:rPr lang="en-US" sz="3600" b="1" dirty="0">
                <a:solidFill>
                  <a:srgbClr val="FFFFFF"/>
                </a:solidFill>
                <a:latin typeface="Aptos" pitchFamily="34" charset="0"/>
                <a:ea typeface="Aptos" pitchFamily="34" charset="-122"/>
                <a:cs typeface="Aptos" pitchFamily="34" charset="-120"/>
              </a:rPr>
              <a:t>When to order—and how safe</a:t>
            </a:r>
            <a:endParaRPr lang="en-US" sz="3600" dirty="0"/>
          </a:p>
        </p:txBody>
      </p:sp>
      <p:sp>
        <p:nvSpPr>
          <p:cNvPr id="4" name="Text 2"/>
          <p:cNvSpPr txBox="1"/>
          <p:nvPr/>
        </p:nvSpPr>
        <p:spPr>
          <a:xfrm>
            <a:off x="612648" y="2697480"/>
            <a:ext cx="6766560" cy="685800"/>
          </a:xfrm>
          <a:prstGeom prst="rect">
            <a:avLst/>
          </a:prstGeom>
          <a:noFill/>
          <a:ln/>
        </p:spPr>
        <p:txBody>
          <a:bodyPr wrap="square" lIns="0" tIns="0" rIns="0" bIns="0" rtlCol="0" anchor="ctr">
            <a:normAutofit/>
          </a:bodyPr>
          <a:lstStyle/>
          <a:p>
            <a:pPr algn="l" indent="0" marL="0">
              <a:buNone/>
            </a:pPr>
            <a:r>
              <a:rPr lang="en-US" sz="1700" dirty="0">
                <a:solidFill>
                  <a:srgbClr val="C9D6E1"/>
                </a:solidFill>
                <a:latin typeface="Aptos" pitchFamily="34" charset="0"/>
                <a:ea typeface="Aptos" pitchFamily="34" charset="-122"/>
                <a:cs typeface="Aptos" pitchFamily="34" charset="-120"/>
              </a:rPr>
              <a:t>Reorder points, inventory position, uncertainty, and service</a:t>
            </a:r>
            <a:endParaRPr lang="en-US" sz="1700" dirty="0"/>
          </a:p>
        </p:txBody>
      </p:sp>
      <p:sp>
        <p:nvSpPr>
          <p:cNvPr id="5" name="Shape 3"/>
          <p:cNvSpPr/>
          <p:nvPr/>
        </p:nvSpPr>
        <p:spPr>
          <a:xfrm>
            <a:off x="612648" y="3749040"/>
            <a:ext cx="1371600" cy="274320"/>
          </a:xfrm>
          <a:prstGeom prst="roundRect">
            <a:avLst>
              <a:gd name="adj" fmla="val 50000"/>
            </a:avLst>
          </a:prstGeom>
          <a:solidFill>
            <a:srgbClr val="F28E2B"/>
          </a:solidFill>
          <a:ln w="12700">
            <a:solidFill>
              <a:srgbClr val="F28E2B"/>
            </a:solidFill>
            <a:prstDash val="solid"/>
          </a:ln>
        </p:spPr>
      </p:sp>
      <p:sp>
        <p:nvSpPr>
          <p:cNvPr id="6" name="Text 4"/>
          <p:cNvSpPr txBox="1"/>
          <p:nvPr/>
        </p:nvSpPr>
        <p:spPr>
          <a:xfrm>
            <a:off x="612648" y="3749040"/>
            <a:ext cx="1371600"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19 MINUTES</a:t>
            </a:r>
            <a:endParaRPr lang="en-US" sz="1000" dirty="0"/>
          </a:p>
        </p:txBody>
      </p:sp>
      <p:sp>
        <p:nvSpPr>
          <p:cNvPr id="7" name="Shape 5"/>
          <p:cNvSpPr/>
          <p:nvPr/>
        </p:nvSpPr>
        <p:spPr>
          <a:xfrm>
            <a:off x="8229600" y="4297680"/>
            <a:ext cx="402336" cy="402336"/>
          </a:xfrm>
          <a:prstGeom prst="roundRect">
            <a:avLst>
              <a:gd name="adj" fmla="val 9091"/>
            </a:avLst>
          </a:prstGeom>
          <a:solidFill>
            <a:srgbClr val="1D6FA5"/>
          </a:solidFill>
          <a:ln w="12700">
            <a:solidFill>
              <a:srgbClr val="1D6FA5"/>
            </a:solidFill>
            <a:prstDash val="solid"/>
          </a:ln>
        </p:spPr>
      </p:sp>
      <p:sp>
        <p:nvSpPr>
          <p:cNvPr id="8" name="Shape 6"/>
          <p:cNvSpPr/>
          <p:nvPr/>
        </p:nvSpPr>
        <p:spPr>
          <a:xfrm>
            <a:off x="8732520" y="3840480"/>
            <a:ext cx="402336" cy="402336"/>
          </a:xfrm>
          <a:prstGeom prst="roundRect">
            <a:avLst>
              <a:gd name="adj" fmla="val 9091"/>
            </a:avLst>
          </a:prstGeom>
          <a:solidFill>
            <a:srgbClr val="1D6FA5"/>
          </a:solidFill>
          <a:ln w="12700">
            <a:solidFill>
              <a:srgbClr val="1D6FA5"/>
            </a:solidFill>
            <a:prstDash val="solid"/>
          </a:ln>
        </p:spPr>
      </p:sp>
      <p:sp>
        <p:nvSpPr>
          <p:cNvPr id="9" name="Shape 7"/>
          <p:cNvSpPr/>
          <p:nvPr/>
        </p:nvSpPr>
        <p:spPr>
          <a:xfrm>
            <a:off x="9235440" y="3383280"/>
            <a:ext cx="402336" cy="402336"/>
          </a:xfrm>
          <a:prstGeom prst="roundRect">
            <a:avLst>
              <a:gd name="adj" fmla="val 9091"/>
            </a:avLst>
          </a:prstGeom>
          <a:solidFill>
            <a:srgbClr val="1D6FA5"/>
          </a:solidFill>
          <a:ln w="12700">
            <a:solidFill>
              <a:srgbClr val="1D6FA5"/>
            </a:solidFill>
            <a:prstDash val="solid"/>
          </a:ln>
        </p:spPr>
      </p:sp>
      <p:sp>
        <p:nvSpPr>
          <p:cNvPr id="10" name="Shape 8"/>
          <p:cNvSpPr/>
          <p:nvPr/>
        </p:nvSpPr>
        <p:spPr>
          <a:xfrm>
            <a:off x="9738360" y="2926080"/>
            <a:ext cx="402336" cy="402336"/>
          </a:xfrm>
          <a:prstGeom prst="roundRect">
            <a:avLst>
              <a:gd name="adj" fmla="val 9091"/>
            </a:avLst>
          </a:prstGeom>
          <a:solidFill>
            <a:srgbClr val="F28E2B"/>
          </a:solidFill>
          <a:ln w="12700">
            <a:solidFill>
              <a:srgbClr val="F28E2B"/>
            </a:solidFill>
            <a:prstDash val="solid"/>
          </a:ln>
        </p:spPr>
      </p:sp>
      <p:sp>
        <p:nvSpPr>
          <p:cNvPr id="11" name="Shape 9"/>
          <p:cNvSpPr/>
          <p:nvPr/>
        </p:nvSpPr>
        <p:spPr>
          <a:xfrm>
            <a:off x="10241280" y="2468880"/>
            <a:ext cx="402336" cy="402336"/>
          </a:xfrm>
          <a:prstGeom prst="roundRect">
            <a:avLst>
              <a:gd name="adj" fmla="val 9091"/>
            </a:avLst>
          </a:prstGeom>
          <a:solidFill>
            <a:srgbClr val="F28E2B"/>
          </a:solidFill>
          <a:ln w="12700">
            <a:solidFill>
              <a:srgbClr val="F28E2B"/>
            </a:solidFill>
            <a:prstDash val="solid"/>
          </a:ln>
        </p:spPr>
      </p:sp>
      <p:sp>
        <p:nvSpPr>
          <p:cNvPr id="12" name="Shape 10"/>
          <p:cNvSpPr/>
          <p:nvPr/>
        </p:nvSpPr>
        <p:spPr>
          <a:xfrm>
            <a:off x="7955280" y="4937760"/>
            <a:ext cx="3108960" cy="-3108960"/>
          </a:xfrm>
          <a:prstGeom prst="line">
            <a:avLst/>
          </a:prstGeom>
          <a:noFill/>
          <a:ln w="38100">
            <a:solidFill>
              <a:srgbClr val="4BB3C3"/>
            </a:solidFill>
            <a:prstDash val="solid"/>
            <a:tailEnd type="triangle"/>
          </a:ln>
        </p:spPr>
      </p:sp>
      <p:sp>
        <p:nvSpPr>
          <p:cNvPr id="13" name="Text 11"/>
          <p:cNvSpPr txBox="1"/>
          <p:nvPr/>
        </p:nvSpPr>
        <p:spPr>
          <a:xfrm>
            <a:off x="8275320" y="1078992"/>
            <a:ext cx="2971800" cy="502920"/>
          </a:xfrm>
          <a:prstGeom prst="rect">
            <a:avLst/>
          </a:prstGeom>
          <a:noFill/>
          <a:ln/>
        </p:spPr>
        <p:txBody>
          <a:bodyPr wrap="square" lIns="0" tIns="0" rIns="0" bIns="0" rtlCol="0" anchor="ctr">
            <a:normAutofit/>
          </a:bodyPr>
          <a:lstStyle/>
          <a:p>
            <a:pPr algn="ctr" indent="0" marL="0">
              <a:buNone/>
            </a:pPr>
            <a:r>
              <a:rPr lang="en-US" sz="1200" b="1" dirty="0">
                <a:solidFill>
                  <a:srgbClr val="4BB3C3"/>
                </a:solidFill>
                <a:latin typeface="Aptos" pitchFamily="34" charset="0"/>
                <a:ea typeface="Aptos" pitchFamily="34" charset="-122"/>
                <a:cs typeface="Aptos" pitchFamily="34" charset="-120"/>
              </a:rPr>
              <a:t>TIMING × UNCERTAINTY × SERVICE DEFINITION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CONTINUOUS REVIEW</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Order against inventory position—not only what is on the shelf</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Illustrative (Q, R) policy with constant demand between events</a:t>
            </a:r>
            <a:endParaRPr lang="en-US" sz="1350" dirty="0"/>
          </a:p>
        </p:txBody>
      </p:sp>
      <p:sp>
        <p:nvSpPr>
          <p:cNvPr id="5" name="Shape 3"/>
          <p:cNvSpPr/>
          <p:nvPr/>
        </p:nvSpPr>
        <p:spPr>
          <a:xfrm>
            <a:off x="777240" y="5623560"/>
            <a:ext cx="7315200" cy="0"/>
          </a:xfrm>
          <a:prstGeom prst="line">
            <a:avLst/>
          </a:prstGeom>
          <a:noFill/>
          <a:ln w="15240">
            <a:solidFill>
              <a:srgbClr val="6B7785"/>
            </a:solidFill>
            <a:prstDash val="solid"/>
            <a:tailEnd type="triangle"/>
          </a:ln>
        </p:spPr>
      </p:sp>
      <p:sp>
        <p:nvSpPr>
          <p:cNvPr id="6" name="Shape 4"/>
          <p:cNvSpPr/>
          <p:nvPr/>
        </p:nvSpPr>
        <p:spPr>
          <a:xfrm>
            <a:off x="777240" y="5623560"/>
            <a:ext cx="0" cy="-4023360"/>
          </a:xfrm>
          <a:prstGeom prst="line">
            <a:avLst/>
          </a:prstGeom>
          <a:noFill/>
          <a:ln w="15240">
            <a:solidFill>
              <a:srgbClr val="6B7785"/>
            </a:solidFill>
            <a:prstDash val="solid"/>
            <a:tailEnd type="triangle"/>
          </a:ln>
        </p:spPr>
      </p:sp>
      <p:sp>
        <p:nvSpPr>
          <p:cNvPr id="7" name="Text 5"/>
          <p:cNvSpPr txBox="1"/>
          <p:nvPr/>
        </p:nvSpPr>
        <p:spPr>
          <a:xfrm>
            <a:off x="6812280" y="5742432"/>
            <a:ext cx="1280160" cy="201168"/>
          </a:xfrm>
          <a:prstGeom prst="rect">
            <a:avLst/>
          </a:prstGeom>
          <a:noFill/>
          <a:ln/>
        </p:spPr>
        <p:txBody>
          <a:bodyPr wrap="square" lIns="0" tIns="0" rIns="0" bIns="0" rtlCol="0" anchor="ctr">
            <a:normAutofit/>
          </a:bodyPr>
          <a:lstStyle/>
          <a:p>
            <a:pPr algn="r" indent="0" marL="0">
              <a:buNone/>
            </a:pPr>
            <a:r>
              <a:rPr lang="en-US" sz="900" dirty="0">
                <a:solidFill>
                  <a:srgbClr val="6B7785"/>
                </a:solidFill>
                <a:latin typeface="Aptos" pitchFamily="34" charset="0"/>
                <a:ea typeface="Aptos" pitchFamily="34" charset="-122"/>
                <a:cs typeface="Aptos" pitchFamily="34" charset="-120"/>
              </a:rPr>
              <a:t>Time</a:t>
            </a:r>
            <a:endParaRPr lang="en-US" sz="900" dirty="0"/>
          </a:p>
        </p:txBody>
      </p:sp>
      <p:sp>
        <p:nvSpPr>
          <p:cNvPr id="8" name="Text 6"/>
          <p:cNvSpPr txBox="1"/>
          <p:nvPr/>
        </p:nvSpPr>
        <p:spPr>
          <a:xfrm>
            <a:off x="502920" y="1325880"/>
            <a:ext cx="1554480" cy="201168"/>
          </a:xfrm>
          <a:prstGeom prst="rect">
            <a:avLst/>
          </a:prstGeom>
          <a:noFill/>
          <a:ln/>
        </p:spPr>
        <p:txBody>
          <a:bodyPr wrap="square" lIns="0" tIns="0" rIns="0" bIns="0" rtlCol="0" anchor="ctr">
            <a:normAutofit/>
          </a:bodyPr>
          <a:lstStyle/>
          <a:p>
            <a:pPr algn="l" indent="0" marL="0">
              <a:buNone/>
            </a:pPr>
            <a:r>
              <a:rPr lang="en-US" sz="900" dirty="0">
                <a:solidFill>
                  <a:srgbClr val="6B7785"/>
                </a:solidFill>
                <a:latin typeface="Aptos" pitchFamily="34" charset="0"/>
                <a:ea typeface="Aptos" pitchFamily="34" charset="-122"/>
                <a:cs typeface="Aptos" pitchFamily="34" charset="-120"/>
              </a:rPr>
              <a:t>Inventory (units)</a:t>
            </a:r>
            <a:endParaRPr lang="en-US" sz="900" dirty="0"/>
          </a:p>
        </p:txBody>
      </p:sp>
      <p:sp>
        <p:nvSpPr>
          <p:cNvPr id="9" name="Shape 7"/>
          <p:cNvSpPr/>
          <p:nvPr/>
        </p:nvSpPr>
        <p:spPr>
          <a:xfrm>
            <a:off x="777240" y="4754880"/>
            <a:ext cx="7315200" cy="0"/>
          </a:xfrm>
          <a:prstGeom prst="line">
            <a:avLst/>
          </a:prstGeom>
          <a:noFill/>
          <a:ln w="25400">
            <a:solidFill>
              <a:srgbClr val="F28E2B"/>
            </a:solidFill>
            <a:prstDash val="dash"/>
          </a:ln>
        </p:spPr>
      </p:sp>
      <p:sp>
        <p:nvSpPr>
          <p:cNvPr id="10" name="Text 8"/>
          <p:cNvSpPr txBox="1"/>
          <p:nvPr/>
        </p:nvSpPr>
        <p:spPr>
          <a:xfrm>
            <a:off x="868680" y="4480560"/>
            <a:ext cx="1051560" cy="201168"/>
          </a:xfrm>
          <a:prstGeom prst="rect">
            <a:avLst/>
          </a:prstGeom>
          <a:noFill/>
          <a:ln/>
        </p:spPr>
        <p:txBody>
          <a:bodyPr wrap="square" lIns="0" tIns="0" rIns="0" bIns="0" rtlCol="0" anchor="ctr">
            <a:normAutofit/>
          </a:bodyPr>
          <a:lstStyle/>
          <a:p>
            <a:pPr algn="l" indent="0" marL="0">
              <a:buNone/>
            </a:pPr>
            <a:r>
              <a:rPr lang="en-US" sz="1000" b="1" dirty="0">
                <a:solidFill>
                  <a:srgbClr val="F28E2B"/>
                </a:solidFill>
                <a:latin typeface="Aptos" pitchFamily="34" charset="0"/>
                <a:ea typeface="Aptos" pitchFamily="34" charset="-122"/>
                <a:cs typeface="Aptos" pitchFamily="34" charset="-120"/>
              </a:rPr>
              <a:t>Safety stock</a:t>
            </a:r>
            <a:endParaRPr lang="en-US" sz="1000" dirty="0"/>
          </a:p>
        </p:txBody>
      </p:sp>
      <p:sp>
        <p:nvSpPr>
          <p:cNvPr id="11" name="Shape 9"/>
          <p:cNvSpPr/>
          <p:nvPr/>
        </p:nvSpPr>
        <p:spPr>
          <a:xfrm>
            <a:off x="777240" y="3611880"/>
            <a:ext cx="7315200" cy="0"/>
          </a:xfrm>
          <a:prstGeom prst="line">
            <a:avLst/>
          </a:prstGeom>
          <a:noFill/>
          <a:ln w="20320">
            <a:solidFill>
              <a:srgbClr val="D1495B"/>
            </a:solidFill>
            <a:prstDash val="dash"/>
          </a:ln>
        </p:spPr>
      </p:sp>
      <p:sp>
        <p:nvSpPr>
          <p:cNvPr id="12" name="Text 10"/>
          <p:cNvSpPr txBox="1"/>
          <p:nvPr/>
        </p:nvSpPr>
        <p:spPr>
          <a:xfrm>
            <a:off x="886968" y="3337560"/>
            <a:ext cx="548640" cy="201168"/>
          </a:xfrm>
          <a:prstGeom prst="rect">
            <a:avLst/>
          </a:prstGeom>
          <a:noFill/>
          <a:ln/>
        </p:spPr>
        <p:txBody>
          <a:bodyPr wrap="square" lIns="0" tIns="0" rIns="0" bIns="0" rtlCol="0" anchor="ctr">
            <a:normAutofit/>
          </a:bodyPr>
          <a:lstStyle/>
          <a:p>
            <a:pPr algn="l" indent="0" marL="0">
              <a:buNone/>
            </a:pPr>
            <a:r>
              <a:rPr lang="en-US" sz="1000" b="1" dirty="0">
                <a:solidFill>
                  <a:srgbClr val="D1495B"/>
                </a:solidFill>
                <a:latin typeface="Aptos" pitchFamily="34" charset="0"/>
                <a:ea typeface="Aptos" pitchFamily="34" charset="-122"/>
                <a:cs typeface="Aptos" pitchFamily="34" charset="-120"/>
              </a:rPr>
              <a:t>ROP</a:t>
            </a:r>
            <a:endParaRPr lang="en-US" sz="1000" dirty="0"/>
          </a:p>
        </p:txBody>
      </p:sp>
      <p:sp>
        <p:nvSpPr>
          <p:cNvPr id="13" name="Shape 11"/>
          <p:cNvSpPr/>
          <p:nvPr/>
        </p:nvSpPr>
        <p:spPr>
          <a:xfrm>
            <a:off x="777240" y="2103120"/>
            <a:ext cx="2194560" cy="1508760"/>
          </a:xfrm>
          <a:prstGeom prst="line">
            <a:avLst/>
          </a:prstGeom>
          <a:noFill/>
          <a:ln w="38100">
            <a:solidFill>
              <a:srgbClr val="1D6FA5"/>
            </a:solidFill>
            <a:prstDash val="solid"/>
          </a:ln>
        </p:spPr>
      </p:sp>
      <p:sp>
        <p:nvSpPr>
          <p:cNvPr id="14" name="Shape 12"/>
          <p:cNvSpPr/>
          <p:nvPr/>
        </p:nvSpPr>
        <p:spPr>
          <a:xfrm>
            <a:off x="2971800" y="3611880"/>
            <a:ext cx="868680" cy="1143000"/>
          </a:xfrm>
          <a:prstGeom prst="line">
            <a:avLst/>
          </a:prstGeom>
          <a:noFill/>
          <a:ln w="38100">
            <a:solidFill>
              <a:srgbClr val="1D6FA5"/>
            </a:solidFill>
            <a:prstDash val="solid"/>
          </a:ln>
        </p:spPr>
      </p:sp>
      <p:sp>
        <p:nvSpPr>
          <p:cNvPr id="15" name="Shape 13"/>
          <p:cNvSpPr/>
          <p:nvPr/>
        </p:nvSpPr>
        <p:spPr>
          <a:xfrm>
            <a:off x="3840480" y="4754880"/>
            <a:ext cx="0" cy="-2651760"/>
          </a:xfrm>
          <a:prstGeom prst="line">
            <a:avLst/>
          </a:prstGeom>
          <a:noFill/>
          <a:ln w="38100">
            <a:solidFill>
              <a:srgbClr val="1D6FA5"/>
            </a:solidFill>
            <a:prstDash val="solid"/>
          </a:ln>
        </p:spPr>
      </p:sp>
      <p:sp>
        <p:nvSpPr>
          <p:cNvPr id="16" name="Shape 14"/>
          <p:cNvSpPr/>
          <p:nvPr/>
        </p:nvSpPr>
        <p:spPr>
          <a:xfrm>
            <a:off x="3840480" y="2103120"/>
            <a:ext cx="2194560" cy="1508760"/>
          </a:xfrm>
          <a:prstGeom prst="line">
            <a:avLst/>
          </a:prstGeom>
          <a:noFill/>
          <a:ln w="38100">
            <a:solidFill>
              <a:srgbClr val="1D6FA5"/>
            </a:solidFill>
            <a:prstDash val="solid"/>
          </a:ln>
        </p:spPr>
      </p:sp>
      <p:sp>
        <p:nvSpPr>
          <p:cNvPr id="17" name="Shape 15"/>
          <p:cNvSpPr/>
          <p:nvPr/>
        </p:nvSpPr>
        <p:spPr>
          <a:xfrm>
            <a:off x="6035040" y="3611880"/>
            <a:ext cx="868680" cy="1143000"/>
          </a:xfrm>
          <a:prstGeom prst="line">
            <a:avLst/>
          </a:prstGeom>
          <a:noFill/>
          <a:ln w="38100">
            <a:solidFill>
              <a:srgbClr val="1D6FA5"/>
            </a:solidFill>
            <a:prstDash val="solid"/>
          </a:ln>
        </p:spPr>
      </p:sp>
      <p:sp>
        <p:nvSpPr>
          <p:cNvPr id="18" name="Shape 16"/>
          <p:cNvSpPr/>
          <p:nvPr/>
        </p:nvSpPr>
        <p:spPr>
          <a:xfrm>
            <a:off x="6903720" y="4754880"/>
            <a:ext cx="0" cy="-2651760"/>
          </a:xfrm>
          <a:prstGeom prst="line">
            <a:avLst/>
          </a:prstGeom>
          <a:noFill/>
          <a:ln w="38100">
            <a:solidFill>
              <a:srgbClr val="1D6FA5"/>
            </a:solidFill>
            <a:prstDash val="solid"/>
          </a:ln>
        </p:spPr>
      </p:sp>
      <p:sp>
        <p:nvSpPr>
          <p:cNvPr id="19" name="Shape 17"/>
          <p:cNvSpPr/>
          <p:nvPr/>
        </p:nvSpPr>
        <p:spPr>
          <a:xfrm>
            <a:off x="6903720" y="2103120"/>
            <a:ext cx="1188720" cy="1417320"/>
          </a:xfrm>
          <a:prstGeom prst="line">
            <a:avLst/>
          </a:prstGeom>
          <a:noFill/>
          <a:ln w="38100">
            <a:solidFill>
              <a:srgbClr val="1D6FA5"/>
            </a:solidFill>
            <a:prstDash val="solid"/>
          </a:ln>
        </p:spPr>
      </p:sp>
      <p:sp>
        <p:nvSpPr>
          <p:cNvPr id="20" name="Shape 18"/>
          <p:cNvSpPr/>
          <p:nvPr/>
        </p:nvSpPr>
        <p:spPr>
          <a:xfrm>
            <a:off x="2971800" y="3611880"/>
            <a:ext cx="868680" cy="0"/>
          </a:xfrm>
          <a:prstGeom prst="line">
            <a:avLst/>
          </a:prstGeom>
          <a:noFill/>
          <a:ln w="38100">
            <a:solidFill>
              <a:srgbClr val="2A9D8F"/>
            </a:solidFill>
            <a:prstDash val="solid"/>
            <a:tailEnd type="triangle"/>
          </a:ln>
        </p:spPr>
      </p:sp>
      <p:sp>
        <p:nvSpPr>
          <p:cNvPr id="21" name="Text 19"/>
          <p:cNvSpPr txBox="1"/>
          <p:nvPr/>
        </p:nvSpPr>
        <p:spPr>
          <a:xfrm>
            <a:off x="3017520" y="3749040"/>
            <a:ext cx="822960" cy="201168"/>
          </a:xfrm>
          <a:prstGeom prst="rect">
            <a:avLst/>
          </a:prstGeom>
          <a:noFill/>
          <a:ln/>
        </p:spPr>
        <p:txBody>
          <a:bodyPr wrap="square" lIns="0" tIns="0" rIns="0" bIns="0" rtlCol="0" anchor="ctr">
            <a:normAutofit/>
          </a:bodyPr>
          <a:lstStyle/>
          <a:p>
            <a:pPr algn="ctr" indent="0" marL="0">
              <a:buNone/>
            </a:pPr>
            <a:r>
              <a:rPr lang="en-US" sz="900" b="1" dirty="0">
                <a:solidFill>
                  <a:srgbClr val="2A9D8F"/>
                </a:solidFill>
                <a:latin typeface="Aptos" pitchFamily="34" charset="0"/>
                <a:ea typeface="Aptos" pitchFamily="34" charset="-122"/>
                <a:cs typeface="Aptos" pitchFamily="34" charset="-120"/>
              </a:rPr>
              <a:t>Lead time L</a:t>
            </a:r>
            <a:endParaRPr lang="en-US" sz="900" dirty="0"/>
          </a:p>
        </p:txBody>
      </p:sp>
      <p:sp>
        <p:nvSpPr>
          <p:cNvPr id="22" name="Shape 20"/>
          <p:cNvSpPr/>
          <p:nvPr/>
        </p:nvSpPr>
        <p:spPr>
          <a:xfrm>
            <a:off x="2862072" y="3520440"/>
            <a:ext cx="182880" cy="182880"/>
          </a:xfrm>
          <a:prstGeom prst="ellipse">
            <a:avLst/>
          </a:prstGeom>
          <a:solidFill>
            <a:srgbClr val="D1495B"/>
          </a:solidFill>
          <a:ln w="12700">
            <a:solidFill>
              <a:srgbClr val="D1495B"/>
            </a:solidFill>
            <a:prstDash val="solid"/>
          </a:ln>
        </p:spPr>
      </p:sp>
      <p:sp>
        <p:nvSpPr>
          <p:cNvPr id="23" name="Text 21"/>
          <p:cNvSpPr txBox="1"/>
          <p:nvPr/>
        </p:nvSpPr>
        <p:spPr>
          <a:xfrm>
            <a:off x="2350008" y="3063240"/>
            <a:ext cx="1143000" cy="228600"/>
          </a:xfrm>
          <a:prstGeom prst="rect">
            <a:avLst/>
          </a:prstGeom>
          <a:noFill/>
          <a:ln/>
        </p:spPr>
        <p:txBody>
          <a:bodyPr wrap="square" lIns="0" tIns="0" rIns="0" bIns="0" rtlCol="0" anchor="ctr">
            <a:normAutofit/>
          </a:bodyPr>
          <a:lstStyle/>
          <a:p>
            <a:pPr algn="ctr" indent="0" marL="0">
              <a:buNone/>
            </a:pPr>
            <a:r>
              <a:rPr lang="en-US" sz="1000" b="1" dirty="0">
                <a:solidFill>
                  <a:srgbClr val="D1495B"/>
                </a:solidFill>
                <a:latin typeface="Aptos" pitchFamily="34" charset="0"/>
                <a:ea typeface="Aptos" pitchFamily="34" charset="-122"/>
                <a:cs typeface="Aptos" pitchFamily="34" charset="-120"/>
              </a:rPr>
              <a:t>Place order</a:t>
            </a:r>
            <a:endParaRPr lang="en-US" sz="1000" dirty="0"/>
          </a:p>
        </p:txBody>
      </p:sp>
      <p:sp>
        <p:nvSpPr>
          <p:cNvPr id="24" name="Shape 22"/>
          <p:cNvSpPr/>
          <p:nvPr/>
        </p:nvSpPr>
        <p:spPr>
          <a:xfrm>
            <a:off x="3840480" y="2039112"/>
            <a:ext cx="0" cy="2715768"/>
          </a:xfrm>
          <a:prstGeom prst="line">
            <a:avLst/>
          </a:prstGeom>
          <a:noFill/>
          <a:ln w="25400">
            <a:solidFill>
              <a:srgbClr val="4BB3C3"/>
            </a:solidFill>
            <a:prstDash val="dash"/>
          </a:ln>
        </p:spPr>
      </p:sp>
      <p:sp>
        <p:nvSpPr>
          <p:cNvPr id="25" name="Text 23"/>
          <p:cNvSpPr txBox="1"/>
          <p:nvPr/>
        </p:nvSpPr>
        <p:spPr>
          <a:xfrm>
            <a:off x="3959352" y="2194560"/>
            <a:ext cx="960120" cy="438912"/>
          </a:xfrm>
          <a:prstGeom prst="rect">
            <a:avLst/>
          </a:prstGeom>
          <a:noFill/>
          <a:ln/>
        </p:spPr>
        <p:txBody>
          <a:bodyPr wrap="square" lIns="0" tIns="0" rIns="0" bIns="0" rtlCol="0" anchor="ctr">
            <a:normAutofit/>
          </a:bodyPr>
          <a:lstStyle/>
          <a:p>
            <a:pPr algn="l" indent="0" marL="0">
              <a:buNone/>
            </a:pPr>
            <a:r>
              <a:rPr lang="en-US" sz="1000" b="1" dirty="0">
                <a:solidFill>
                  <a:srgbClr val="4BB3C3"/>
                </a:solidFill>
                <a:latin typeface="Aptos" pitchFamily="34" charset="0"/>
                <a:ea typeface="Aptos" pitchFamily="34" charset="-122"/>
                <a:cs typeface="Aptos" pitchFamily="34" charset="-120"/>
              </a:rPr>
              <a:t>Replenishment</a:t>
            </a:r>
            <a:endParaRPr lang="en-US" sz="1000" dirty="0"/>
          </a:p>
          <a:p>
            <a:pPr algn="l" indent="0" marL="0">
              <a:buNone/>
            </a:pPr>
            <a:r>
              <a:rPr lang="en-US" sz="1000" b="1" dirty="0">
                <a:solidFill>
                  <a:srgbClr val="4BB3C3"/>
                </a:solidFill>
                <a:latin typeface="Aptos" pitchFamily="34" charset="0"/>
                <a:ea typeface="Aptos" pitchFamily="34" charset="-122"/>
                <a:cs typeface="Aptos" pitchFamily="34" charset="-120"/>
              </a:rPr>
              <a:t>arrives</a:t>
            </a:r>
            <a:endParaRPr lang="en-US" sz="1000" dirty="0"/>
          </a:p>
        </p:txBody>
      </p:sp>
      <p:sp>
        <p:nvSpPr>
          <p:cNvPr id="26" name="Shape 24"/>
          <p:cNvSpPr/>
          <p:nvPr/>
        </p:nvSpPr>
        <p:spPr>
          <a:xfrm>
            <a:off x="8458200" y="1664208"/>
            <a:ext cx="2926080" cy="1920240"/>
          </a:xfrm>
          <a:prstGeom prst="roundRect">
            <a:avLst>
              <a:gd name="adj" fmla="val 5714"/>
            </a:avLst>
          </a:prstGeom>
          <a:solidFill>
            <a:srgbClr val="0B1F33"/>
          </a:solidFill>
          <a:ln w="12700">
            <a:solidFill>
              <a:srgbClr val="0B1F33"/>
            </a:solidFill>
            <a:prstDash val="solid"/>
          </a:ln>
        </p:spPr>
      </p:sp>
      <p:sp>
        <p:nvSpPr>
          <p:cNvPr id="27" name="Text 25"/>
          <p:cNvSpPr txBox="1"/>
          <p:nvPr/>
        </p:nvSpPr>
        <p:spPr>
          <a:xfrm>
            <a:off x="8759952" y="1920240"/>
            <a:ext cx="2331720" cy="329184"/>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Aptos" pitchFamily="34" charset="0"/>
                <a:ea typeface="Aptos" pitchFamily="34" charset="-122"/>
                <a:cs typeface="Aptos" pitchFamily="34" charset="-120"/>
              </a:rPr>
              <a:t>Inventory position</a:t>
            </a:r>
            <a:endParaRPr lang="en-US" sz="1800" dirty="0"/>
          </a:p>
        </p:txBody>
      </p:sp>
      <p:sp>
        <p:nvSpPr>
          <p:cNvPr id="28" name="Text 26"/>
          <p:cNvSpPr txBox="1"/>
          <p:nvPr/>
        </p:nvSpPr>
        <p:spPr>
          <a:xfrm>
            <a:off x="8759952" y="2423160"/>
            <a:ext cx="1965960" cy="841248"/>
          </a:xfrm>
          <a:prstGeom prst="rect">
            <a:avLst/>
          </a:prstGeom>
          <a:noFill/>
          <a:ln/>
        </p:spPr>
        <p:txBody>
          <a:bodyPr wrap="square" lIns="0" tIns="0" rIns="0" bIns="0" rtlCol="0" anchor="ctr">
            <a:normAutofit/>
          </a:bodyPr>
          <a:lstStyle/>
          <a:p>
            <a:pPr algn="ctr" indent="0" marL="0">
              <a:buNone/>
            </a:pPr>
            <a:r>
              <a:rPr lang="en-US" sz="1800" dirty="0">
                <a:solidFill>
                  <a:srgbClr val="F4C95D"/>
                </a:solidFill>
                <a:latin typeface="Aptos" pitchFamily="34" charset="0"/>
                <a:ea typeface="Aptos" pitchFamily="34" charset="-122"/>
                <a:cs typeface="Aptos" pitchFamily="34" charset="-120"/>
              </a:rPr>
              <a:t>on-hand</a:t>
            </a:r>
            <a:endParaRPr lang="en-US" sz="1800" dirty="0"/>
          </a:p>
          <a:p>
            <a:pPr algn="ctr" indent="0" marL="0">
              <a:buNone/>
            </a:pPr>
            <a:r>
              <a:rPr lang="en-US" sz="1800" dirty="0">
                <a:solidFill>
                  <a:srgbClr val="F4C95D"/>
                </a:solidFill>
                <a:latin typeface="Aptos" pitchFamily="34" charset="0"/>
                <a:ea typeface="Aptos" pitchFamily="34" charset="-122"/>
                <a:cs typeface="Aptos" pitchFamily="34" charset="-120"/>
              </a:rPr>
              <a:t>+ on-order</a:t>
            </a:r>
            <a:endParaRPr lang="en-US" sz="1800" dirty="0"/>
          </a:p>
          <a:p>
            <a:pPr algn="ctr" indent="0" marL="0">
              <a:buNone/>
            </a:pPr>
            <a:r>
              <a:rPr lang="en-US" sz="1800" dirty="0">
                <a:solidFill>
                  <a:srgbClr val="F4C95D"/>
                </a:solidFill>
                <a:latin typeface="Aptos" pitchFamily="34" charset="0"/>
                <a:ea typeface="Aptos" pitchFamily="34" charset="-122"/>
                <a:cs typeface="Aptos" pitchFamily="34" charset="-120"/>
              </a:rPr>
              <a:t>− backorders</a:t>
            </a:r>
            <a:endParaRPr lang="en-US" sz="1800" dirty="0"/>
          </a:p>
        </p:txBody>
      </p:sp>
      <p:sp>
        <p:nvSpPr>
          <p:cNvPr id="29" name="Shape 27"/>
          <p:cNvSpPr/>
          <p:nvPr/>
        </p:nvSpPr>
        <p:spPr>
          <a:xfrm>
            <a:off x="8458200" y="3840480"/>
            <a:ext cx="2926080" cy="1325880"/>
          </a:xfrm>
          <a:prstGeom prst="roundRect">
            <a:avLst>
              <a:gd name="adj" fmla="val 8276"/>
            </a:avLst>
          </a:prstGeom>
          <a:solidFill>
            <a:srgbClr val="FFFFFF"/>
          </a:solidFill>
          <a:ln w="12700">
            <a:solidFill>
              <a:srgbClr val="E8EDF2"/>
            </a:solidFill>
            <a:prstDash val="solid"/>
          </a:ln>
        </p:spPr>
      </p:sp>
      <p:sp>
        <p:nvSpPr>
          <p:cNvPr id="30" name="Text 28"/>
          <p:cNvSpPr txBox="1"/>
          <p:nvPr/>
        </p:nvSpPr>
        <p:spPr>
          <a:xfrm>
            <a:off x="8732520" y="4069080"/>
            <a:ext cx="1463040" cy="256032"/>
          </a:xfrm>
          <a:prstGeom prst="rect">
            <a:avLst/>
          </a:prstGeom>
          <a:noFill/>
          <a:ln/>
        </p:spPr>
        <p:txBody>
          <a:bodyPr wrap="square" lIns="0" tIns="0" rIns="0" bIns="0" rtlCol="0" anchor="ctr">
            <a:normAutofit/>
          </a:bodyPr>
          <a:lstStyle/>
          <a:p>
            <a:pPr algn="l" indent="0" marL="0">
              <a:buNone/>
            </a:pPr>
            <a:r>
              <a:rPr lang="en-US" sz="1100" b="1" dirty="0">
                <a:solidFill>
                  <a:srgbClr val="1D6FA5"/>
                </a:solidFill>
                <a:latin typeface="Aptos" pitchFamily="34" charset="0"/>
                <a:ea typeface="Aptos" pitchFamily="34" charset="-122"/>
                <a:cs typeface="Aptos" pitchFamily="34" charset="-120"/>
              </a:rPr>
              <a:t>Decision rule</a:t>
            </a:r>
            <a:endParaRPr lang="en-US" sz="1100" dirty="0"/>
          </a:p>
        </p:txBody>
      </p:sp>
      <p:sp>
        <p:nvSpPr>
          <p:cNvPr id="31" name="Text 29"/>
          <p:cNvSpPr txBox="1"/>
          <p:nvPr/>
        </p:nvSpPr>
        <p:spPr>
          <a:xfrm>
            <a:off x="8732520" y="4434840"/>
            <a:ext cx="2194560" cy="365760"/>
          </a:xfrm>
          <a:prstGeom prst="rect">
            <a:avLst/>
          </a:prstGeom>
          <a:noFill/>
          <a:ln/>
        </p:spPr>
        <p:txBody>
          <a:bodyPr wrap="square" lIns="0" tIns="0" rIns="0" bIns="0"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If IP ≤ R, order Q.</a:t>
            </a:r>
            <a:endParaRPr lang="en-US" sz="2000" dirty="0"/>
          </a:p>
        </p:txBody>
      </p:sp>
      <p:sp>
        <p:nvSpPr>
          <p:cNvPr id="32" name="Shape 30"/>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33" name="Text 31"/>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34" name="Text 32"/>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A low on-hand balance does not always mean “order”: existing on-order units and backorders change the trigger.</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DETERMINISTIC REORDER POINT</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Cover expected demand during a known lead time</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Illustrative data • same 300-working-day clock as the EOQ example</a:t>
            </a:r>
            <a:endParaRPr lang="en-US" sz="1350" dirty="0"/>
          </a:p>
        </p:txBody>
      </p:sp>
      <p:sp>
        <p:nvSpPr>
          <p:cNvPr id="5" name="Shape 3"/>
          <p:cNvSpPr/>
          <p:nvPr/>
        </p:nvSpPr>
        <p:spPr>
          <a:xfrm>
            <a:off x="658368" y="1618488"/>
            <a:ext cx="3931920" cy="2971800"/>
          </a:xfrm>
          <a:prstGeom prst="roundRect">
            <a:avLst>
              <a:gd name="adj" fmla="val 4000"/>
            </a:avLst>
          </a:prstGeom>
          <a:solidFill>
            <a:srgbClr val="0B1F33"/>
          </a:solidFill>
          <a:ln w="12700">
            <a:solidFill>
              <a:srgbClr val="0B1F33"/>
            </a:solidFill>
            <a:prstDash val="solid"/>
          </a:ln>
        </p:spPr>
      </p:sp>
      <p:sp>
        <p:nvSpPr>
          <p:cNvPr id="6" name="Text 4"/>
          <p:cNvSpPr txBox="1"/>
          <p:nvPr/>
        </p:nvSpPr>
        <p:spPr>
          <a:xfrm>
            <a:off x="960120" y="1965960"/>
            <a:ext cx="3337560" cy="594360"/>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Aptos" pitchFamily="34" charset="0"/>
                <a:ea typeface="Aptos" pitchFamily="34" charset="-122"/>
                <a:cs typeface="Aptos" pitchFamily="34" charset="-120"/>
              </a:rPr>
              <a:t>ROP = d × L</a:t>
            </a:r>
            <a:endParaRPr lang="en-US" sz="3400" dirty="0"/>
          </a:p>
        </p:txBody>
      </p:sp>
      <p:sp>
        <p:nvSpPr>
          <p:cNvPr id="7" name="Text 5"/>
          <p:cNvSpPr txBox="1"/>
          <p:nvPr/>
        </p:nvSpPr>
        <p:spPr>
          <a:xfrm>
            <a:off x="1005840" y="2770632"/>
            <a:ext cx="3246120" cy="658368"/>
          </a:xfrm>
          <a:prstGeom prst="rect">
            <a:avLst/>
          </a:prstGeom>
          <a:noFill/>
          <a:ln/>
        </p:spPr>
        <p:txBody>
          <a:bodyPr wrap="square" lIns="0" tIns="0" rIns="0" bIns="0" rtlCol="0" anchor="ctr">
            <a:normAutofit/>
          </a:bodyPr>
          <a:lstStyle/>
          <a:p>
            <a:pPr algn="ctr" indent="0" marL="0">
              <a:buNone/>
            </a:pPr>
            <a:r>
              <a:rPr lang="en-US" sz="1500" dirty="0">
                <a:solidFill>
                  <a:srgbClr val="C9D6E1"/>
                </a:solidFill>
                <a:latin typeface="Aptos" pitchFamily="34" charset="0"/>
                <a:ea typeface="Aptos" pitchFamily="34" charset="-122"/>
                <a:cs typeface="Aptos" pitchFamily="34" charset="-120"/>
              </a:rPr>
              <a:t>d = demand per period</a:t>
            </a:r>
            <a:endParaRPr lang="en-US" sz="1500" dirty="0"/>
          </a:p>
          <a:p>
            <a:pPr algn="ctr" indent="0" marL="0">
              <a:buNone/>
            </a:pPr>
            <a:r>
              <a:rPr lang="en-US" sz="1500" dirty="0">
                <a:solidFill>
                  <a:srgbClr val="C9D6E1"/>
                </a:solidFill>
                <a:latin typeface="Aptos" pitchFamily="34" charset="0"/>
                <a:ea typeface="Aptos" pitchFamily="34" charset="-122"/>
                <a:cs typeface="Aptos" pitchFamily="34" charset="-120"/>
              </a:rPr>
              <a:t>L = lead time in the same period</a:t>
            </a:r>
            <a:endParaRPr lang="en-US" sz="1500" dirty="0"/>
          </a:p>
        </p:txBody>
      </p:sp>
      <p:sp>
        <p:nvSpPr>
          <p:cNvPr id="8" name="Shape 6"/>
          <p:cNvSpPr/>
          <p:nvPr/>
        </p:nvSpPr>
        <p:spPr>
          <a:xfrm>
            <a:off x="1481328" y="3840480"/>
            <a:ext cx="2286000" cy="274320"/>
          </a:xfrm>
          <a:prstGeom prst="roundRect">
            <a:avLst>
              <a:gd name="adj" fmla="val 50000"/>
            </a:avLst>
          </a:prstGeom>
          <a:solidFill>
            <a:srgbClr val="F28E2B"/>
          </a:solidFill>
          <a:ln w="12700">
            <a:solidFill>
              <a:srgbClr val="F28E2B"/>
            </a:solidFill>
            <a:prstDash val="solid"/>
          </a:ln>
        </p:spPr>
      </p:sp>
      <p:sp>
        <p:nvSpPr>
          <p:cNvPr id="9" name="Text 7"/>
          <p:cNvSpPr txBox="1"/>
          <p:nvPr/>
        </p:nvSpPr>
        <p:spPr>
          <a:xfrm>
            <a:off x="1481328" y="3840480"/>
            <a:ext cx="2286000"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NO SAFETY STOCK</a:t>
            </a:r>
            <a:endParaRPr lang="en-US" sz="1000" dirty="0"/>
          </a:p>
        </p:txBody>
      </p:sp>
      <p:sp>
        <p:nvSpPr>
          <p:cNvPr id="10" name="Shape 8"/>
          <p:cNvSpPr/>
          <p:nvPr/>
        </p:nvSpPr>
        <p:spPr>
          <a:xfrm>
            <a:off x="5120640" y="1773936"/>
            <a:ext cx="420624" cy="420624"/>
          </a:xfrm>
          <a:prstGeom prst="ellipse">
            <a:avLst/>
          </a:prstGeom>
          <a:solidFill>
            <a:srgbClr val="1D6FA5"/>
          </a:solidFill>
          <a:ln w="12700">
            <a:solidFill>
              <a:srgbClr val="1D6FA5"/>
            </a:solidFill>
            <a:prstDash val="solid"/>
          </a:ln>
        </p:spPr>
      </p:sp>
      <p:sp>
        <p:nvSpPr>
          <p:cNvPr id="11" name="Text 9"/>
          <p:cNvSpPr txBox="1"/>
          <p:nvPr/>
        </p:nvSpPr>
        <p:spPr>
          <a:xfrm>
            <a:off x="5120640" y="1773936"/>
            <a:ext cx="420624" cy="42062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2" name="Text 10"/>
          <p:cNvSpPr txBox="1"/>
          <p:nvPr/>
        </p:nvSpPr>
        <p:spPr>
          <a:xfrm>
            <a:off x="5715000" y="1691640"/>
            <a:ext cx="1554480" cy="274320"/>
          </a:xfrm>
          <a:prstGeom prst="rect">
            <a:avLst/>
          </a:prstGeom>
          <a:noFill/>
          <a:ln/>
        </p:spPr>
        <p:txBody>
          <a:bodyPr wrap="square" lIns="0" tIns="0" rIns="0" bIns="0" rtlCol="0" anchor="ctr">
            <a:normAutofit/>
          </a:bodyPr>
          <a:lstStyle/>
          <a:p>
            <a:pPr algn="l" indent="0" marL="0">
              <a:buNone/>
            </a:pPr>
            <a:r>
              <a:rPr lang="en-US" sz="1200" b="1" dirty="0">
                <a:solidFill>
                  <a:srgbClr val="6B7785"/>
                </a:solidFill>
                <a:latin typeface="Aptos" pitchFamily="34" charset="0"/>
                <a:ea typeface="Aptos" pitchFamily="34" charset="-122"/>
                <a:cs typeface="Aptos" pitchFamily="34" charset="-120"/>
              </a:rPr>
              <a:t>Daily demand</a:t>
            </a:r>
            <a:endParaRPr lang="en-US" sz="1200" dirty="0"/>
          </a:p>
        </p:txBody>
      </p:sp>
      <p:sp>
        <p:nvSpPr>
          <p:cNvPr id="13" name="Text 11"/>
          <p:cNvSpPr txBox="1"/>
          <p:nvPr/>
        </p:nvSpPr>
        <p:spPr>
          <a:xfrm>
            <a:off x="7269480" y="1655064"/>
            <a:ext cx="3794760" cy="384048"/>
          </a:xfrm>
          <a:prstGeom prst="rect">
            <a:avLst/>
          </a:prstGeom>
          <a:noFill/>
          <a:ln/>
        </p:spPr>
        <p:txBody>
          <a:bodyPr wrap="square" lIns="0" tIns="0" rIns="0" bIns="0" rtlCol="0" anchor="ctr">
            <a:normAutofit/>
          </a:bodyPr>
          <a:lstStyle/>
          <a:p>
            <a:pPr algn="l" indent="0" marL="0">
              <a:buNone/>
            </a:pPr>
            <a:r>
              <a:rPr lang="en-US" sz="1800" dirty="0">
                <a:solidFill>
                  <a:srgbClr val="152433"/>
                </a:solidFill>
                <a:latin typeface="Aptos" pitchFamily="34" charset="0"/>
                <a:ea typeface="Aptos" pitchFamily="34" charset="-122"/>
                <a:cs typeface="Aptos" pitchFamily="34" charset="-120"/>
              </a:rPr>
              <a:t>d = 24,000 / 300 = 80 units/day</a:t>
            </a:r>
            <a:endParaRPr lang="en-US" sz="1800" dirty="0"/>
          </a:p>
        </p:txBody>
      </p:sp>
      <p:sp>
        <p:nvSpPr>
          <p:cNvPr id="14" name="Shape 12"/>
          <p:cNvSpPr/>
          <p:nvPr/>
        </p:nvSpPr>
        <p:spPr>
          <a:xfrm>
            <a:off x="5120640" y="2752344"/>
            <a:ext cx="420624" cy="420624"/>
          </a:xfrm>
          <a:prstGeom prst="ellipse">
            <a:avLst/>
          </a:prstGeom>
          <a:solidFill>
            <a:srgbClr val="1D6FA5"/>
          </a:solidFill>
          <a:ln w="12700">
            <a:solidFill>
              <a:srgbClr val="1D6FA5"/>
            </a:solidFill>
            <a:prstDash val="solid"/>
          </a:ln>
        </p:spPr>
      </p:sp>
      <p:sp>
        <p:nvSpPr>
          <p:cNvPr id="15" name="Text 13"/>
          <p:cNvSpPr txBox="1"/>
          <p:nvPr/>
        </p:nvSpPr>
        <p:spPr>
          <a:xfrm>
            <a:off x="5120640" y="2752344"/>
            <a:ext cx="420624" cy="42062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6" name="Text 14"/>
          <p:cNvSpPr txBox="1"/>
          <p:nvPr/>
        </p:nvSpPr>
        <p:spPr>
          <a:xfrm>
            <a:off x="5715000" y="2670048"/>
            <a:ext cx="1554480" cy="274320"/>
          </a:xfrm>
          <a:prstGeom prst="rect">
            <a:avLst/>
          </a:prstGeom>
          <a:noFill/>
          <a:ln/>
        </p:spPr>
        <p:txBody>
          <a:bodyPr wrap="square" lIns="0" tIns="0" rIns="0" bIns="0" rtlCol="0" anchor="ctr">
            <a:normAutofit/>
          </a:bodyPr>
          <a:lstStyle/>
          <a:p>
            <a:pPr algn="l" indent="0" marL="0">
              <a:buNone/>
            </a:pPr>
            <a:r>
              <a:rPr lang="en-US" sz="1200" b="1" dirty="0">
                <a:solidFill>
                  <a:srgbClr val="6B7785"/>
                </a:solidFill>
                <a:latin typeface="Aptos" pitchFamily="34" charset="0"/>
                <a:ea typeface="Aptos" pitchFamily="34" charset="-122"/>
                <a:cs typeface="Aptos" pitchFamily="34" charset="-120"/>
              </a:rPr>
              <a:t>Lead time</a:t>
            </a:r>
            <a:endParaRPr lang="en-US" sz="1200" dirty="0"/>
          </a:p>
        </p:txBody>
      </p:sp>
      <p:sp>
        <p:nvSpPr>
          <p:cNvPr id="17" name="Text 15"/>
          <p:cNvSpPr txBox="1"/>
          <p:nvPr/>
        </p:nvSpPr>
        <p:spPr>
          <a:xfrm>
            <a:off x="7269480" y="2633472"/>
            <a:ext cx="3794760" cy="384048"/>
          </a:xfrm>
          <a:prstGeom prst="rect">
            <a:avLst/>
          </a:prstGeom>
          <a:noFill/>
          <a:ln/>
        </p:spPr>
        <p:txBody>
          <a:bodyPr wrap="square" lIns="0" tIns="0" rIns="0" bIns="0" rtlCol="0" anchor="ctr">
            <a:normAutofit/>
          </a:bodyPr>
          <a:lstStyle/>
          <a:p>
            <a:pPr algn="l" indent="0" marL="0">
              <a:buNone/>
            </a:pPr>
            <a:r>
              <a:rPr lang="en-US" sz="1800" dirty="0">
                <a:solidFill>
                  <a:srgbClr val="152433"/>
                </a:solidFill>
                <a:latin typeface="Aptos" pitchFamily="34" charset="0"/>
                <a:ea typeface="Aptos" pitchFamily="34" charset="-122"/>
                <a:cs typeface="Aptos" pitchFamily="34" charset="-120"/>
              </a:rPr>
              <a:t>L = 5 working days</a:t>
            </a:r>
            <a:endParaRPr lang="en-US" sz="1800" dirty="0"/>
          </a:p>
        </p:txBody>
      </p:sp>
      <p:sp>
        <p:nvSpPr>
          <p:cNvPr id="18" name="Shape 16"/>
          <p:cNvSpPr/>
          <p:nvPr/>
        </p:nvSpPr>
        <p:spPr>
          <a:xfrm>
            <a:off x="5120640" y="3730752"/>
            <a:ext cx="420624" cy="420624"/>
          </a:xfrm>
          <a:prstGeom prst="ellipse">
            <a:avLst/>
          </a:prstGeom>
          <a:solidFill>
            <a:srgbClr val="F28E2B"/>
          </a:solidFill>
          <a:ln w="12700">
            <a:solidFill>
              <a:srgbClr val="F28E2B"/>
            </a:solidFill>
            <a:prstDash val="solid"/>
          </a:ln>
        </p:spPr>
      </p:sp>
      <p:sp>
        <p:nvSpPr>
          <p:cNvPr id="19" name="Text 17"/>
          <p:cNvSpPr txBox="1"/>
          <p:nvPr/>
        </p:nvSpPr>
        <p:spPr>
          <a:xfrm>
            <a:off x="5120640" y="3730752"/>
            <a:ext cx="420624" cy="42062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0" name="Text 18"/>
          <p:cNvSpPr txBox="1"/>
          <p:nvPr/>
        </p:nvSpPr>
        <p:spPr>
          <a:xfrm>
            <a:off x="5715000" y="3648456"/>
            <a:ext cx="1554480" cy="274320"/>
          </a:xfrm>
          <a:prstGeom prst="rect">
            <a:avLst/>
          </a:prstGeom>
          <a:noFill/>
          <a:ln/>
        </p:spPr>
        <p:txBody>
          <a:bodyPr wrap="square" lIns="0" tIns="0" rIns="0" bIns="0" rtlCol="0" anchor="ctr">
            <a:normAutofit/>
          </a:bodyPr>
          <a:lstStyle/>
          <a:p>
            <a:pPr algn="l" indent="0" marL="0">
              <a:buNone/>
            </a:pPr>
            <a:r>
              <a:rPr lang="en-US" sz="1200" b="1" dirty="0">
                <a:solidFill>
                  <a:srgbClr val="6B7785"/>
                </a:solidFill>
                <a:latin typeface="Aptos" pitchFamily="34" charset="0"/>
                <a:ea typeface="Aptos" pitchFamily="34" charset="-122"/>
                <a:cs typeface="Aptos" pitchFamily="34" charset="-120"/>
              </a:rPr>
              <a:t>Reorder point</a:t>
            </a:r>
            <a:endParaRPr lang="en-US" sz="1200" dirty="0"/>
          </a:p>
        </p:txBody>
      </p:sp>
      <p:sp>
        <p:nvSpPr>
          <p:cNvPr id="21" name="Text 19"/>
          <p:cNvSpPr txBox="1"/>
          <p:nvPr/>
        </p:nvSpPr>
        <p:spPr>
          <a:xfrm>
            <a:off x="7269480" y="3611880"/>
            <a:ext cx="3794760" cy="384048"/>
          </a:xfrm>
          <a:prstGeom prst="rect">
            <a:avLst/>
          </a:prstGeom>
          <a:noFill/>
          <a:ln/>
        </p:spPr>
        <p:txBody>
          <a:bodyPr wrap="square" lIns="0" tIns="0" rIns="0" bIns="0" rtlCol="0" anchor="ctr">
            <a:normAutofit/>
          </a:bodyPr>
          <a:lstStyle/>
          <a:p>
            <a:pPr algn="l" indent="0" marL="0">
              <a:buNone/>
            </a:pPr>
            <a:r>
              <a:rPr lang="en-US" sz="1800" b="1" dirty="0">
                <a:solidFill>
                  <a:srgbClr val="0B1F33"/>
                </a:solidFill>
                <a:latin typeface="Aptos" pitchFamily="34" charset="0"/>
                <a:ea typeface="Aptos" pitchFamily="34" charset="-122"/>
                <a:cs typeface="Aptos" pitchFamily="34" charset="-120"/>
              </a:rPr>
              <a:t>ROP = 80 × 5 = 400 units</a:t>
            </a:r>
            <a:endParaRPr lang="en-US" sz="1800" dirty="0"/>
          </a:p>
        </p:txBody>
      </p:sp>
      <p:sp>
        <p:nvSpPr>
          <p:cNvPr id="22" name="Shape 20"/>
          <p:cNvSpPr/>
          <p:nvPr/>
        </p:nvSpPr>
        <p:spPr>
          <a:xfrm>
            <a:off x="5102352" y="4709160"/>
            <a:ext cx="5852160" cy="713232"/>
          </a:xfrm>
          <a:prstGeom prst="roundRect">
            <a:avLst>
              <a:gd name="adj" fmla="val 12821"/>
            </a:avLst>
          </a:prstGeom>
          <a:solidFill>
            <a:srgbClr val="EAF3F8"/>
          </a:solidFill>
          <a:ln w="12700">
            <a:solidFill>
              <a:srgbClr val="EAF3F8"/>
            </a:solidFill>
            <a:prstDash val="solid"/>
          </a:ln>
        </p:spPr>
      </p:sp>
      <p:sp>
        <p:nvSpPr>
          <p:cNvPr id="23" name="Text 21"/>
          <p:cNvSpPr txBox="1"/>
          <p:nvPr/>
        </p:nvSpPr>
        <p:spPr>
          <a:xfrm>
            <a:off x="5367528" y="4910328"/>
            <a:ext cx="1417320" cy="228600"/>
          </a:xfrm>
          <a:prstGeom prst="rect">
            <a:avLst/>
          </a:prstGeom>
          <a:noFill/>
          <a:ln/>
        </p:spPr>
        <p:txBody>
          <a:bodyPr wrap="square" lIns="0" tIns="0" rIns="0" bIns="0" rtlCol="0" anchor="ctr">
            <a:normAutofit/>
          </a:bodyPr>
          <a:lstStyle/>
          <a:p>
            <a:pPr algn="l" indent="0" marL="0">
              <a:buNone/>
            </a:pPr>
            <a:r>
              <a:rPr lang="en-US" sz="1000" b="1" dirty="0">
                <a:solidFill>
                  <a:srgbClr val="1D6FA5"/>
                </a:solidFill>
                <a:latin typeface="Aptos" pitchFamily="34" charset="0"/>
                <a:ea typeface="Aptos" pitchFamily="34" charset="-122"/>
                <a:cs typeface="Aptos" pitchFamily="34" charset="-120"/>
              </a:rPr>
              <a:t>Policy interpretation</a:t>
            </a:r>
            <a:endParaRPr lang="en-US" sz="1000" dirty="0"/>
          </a:p>
        </p:txBody>
      </p:sp>
      <p:sp>
        <p:nvSpPr>
          <p:cNvPr id="24" name="Text 22"/>
          <p:cNvSpPr txBox="1"/>
          <p:nvPr/>
        </p:nvSpPr>
        <p:spPr>
          <a:xfrm>
            <a:off x="6784848" y="4837176"/>
            <a:ext cx="3840480" cy="384048"/>
          </a:xfrm>
          <a:prstGeom prst="rect">
            <a:avLst/>
          </a:prstGeom>
          <a:noFill/>
          <a:ln/>
        </p:spPr>
        <p:txBody>
          <a:bodyPr wrap="square" lIns="0" tIns="0" rIns="0" bIns="0" rtlCol="0" anchor="ctr">
            <a:normAutofit/>
          </a:bodyPr>
          <a:lstStyle/>
          <a:p>
            <a:pPr algn="l" indent="0" marL="0">
              <a:buNone/>
            </a:pPr>
            <a:r>
              <a:rPr lang="en-US" sz="1450" b="1" dirty="0">
                <a:solidFill>
                  <a:srgbClr val="0B1F33"/>
                </a:solidFill>
                <a:latin typeface="Aptos" pitchFamily="34" charset="0"/>
                <a:ea typeface="Aptos" pitchFamily="34" charset="-122"/>
                <a:cs typeface="Aptos" pitchFamily="34" charset="-120"/>
              </a:rPr>
              <a:t>Order Q = 600 when inventory position reaches 400.</a:t>
            </a:r>
            <a:endParaRPr lang="en-US" sz="1450" dirty="0"/>
          </a:p>
        </p:txBody>
      </p:sp>
      <p:sp>
        <p:nvSpPr>
          <p:cNvPr id="25" name="Shape 23"/>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26" name="Text 24"/>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27" name="Text 25"/>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Convert the clock before multiplying: annual demand cannot be multiplied directly by lead time in days.</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SAFETY STOCK</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Price uncertainty against a defined service target</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Case shown: variable independent daily demand • constant lead time • Normal approximation</a:t>
            </a:r>
            <a:endParaRPr lang="en-US" sz="1350" dirty="0"/>
          </a:p>
        </p:txBody>
      </p:sp>
      <p:sp>
        <p:nvSpPr>
          <p:cNvPr id="5" name="Shape 3"/>
          <p:cNvSpPr/>
          <p:nvPr/>
        </p:nvSpPr>
        <p:spPr>
          <a:xfrm>
            <a:off x="640080" y="1600200"/>
            <a:ext cx="4892040" cy="2176272"/>
          </a:xfrm>
          <a:prstGeom prst="roundRect">
            <a:avLst>
              <a:gd name="adj" fmla="val 5882"/>
            </a:avLst>
          </a:prstGeom>
          <a:solidFill>
            <a:srgbClr val="0B1F33"/>
          </a:solidFill>
          <a:ln w="12700">
            <a:solidFill>
              <a:srgbClr val="0B1F33"/>
            </a:solidFill>
            <a:prstDash val="solid"/>
          </a:ln>
        </p:spPr>
      </p:sp>
      <p:sp>
        <p:nvSpPr>
          <p:cNvPr id="6" name="Text 4"/>
          <p:cNvSpPr txBox="1"/>
          <p:nvPr/>
        </p:nvSpPr>
        <p:spPr>
          <a:xfrm>
            <a:off x="896112" y="1892808"/>
            <a:ext cx="4370832" cy="530352"/>
          </a:xfrm>
          <a:prstGeom prst="rect">
            <a:avLst/>
          </a:prstGeom>
          <a:noFill/>
          <a:ln/>
        </p:spPr>
        <p:txBody>
          <a:bodyPr wrap="square" lIns="0" tIns="0" rIns="0" bIns="0" rtlCol="0" anchor="ctr">
            <a:normAutofit/>
          </a:bodyPr>
          <a:lstStyle/>
          <a:p>
            <a:pPr algn="ctr" indent="0" marL="0">
              <a:buNone/>
            </a:pPr>
            <a:r>
              <a:rPr lang="en-US" sz="2900" b="1" dirty="0">
                <a:solidFill>
                  <a:srgbClr val="FFFFFF"/>
                </a:solidFill>
                <a:latin typeface="Aptos" pitchFamily="34" charset="0"/>
                <a:ea typeface="Aptos" pitchFamily="34" charset="-122"/>
                <a:cs typeface="Aptos" pitchFamily="34" charset="-120"/>
              </a:rPr>
              <a:t>σLT = σd √L</a:t>
            </a:r>
            <a:endParaRPr lang="en-US" sz="2900" dirty="0"/>
          </a:p>
        </p:txBody>
      </p:sp>
      <p:sp>
        <p:nvSpPr>
          <p:cNvPr id="7" name="Text 5"/>
          <p:cNvSpPr txBox="1"/>
          <p:nvPr/>
        </p:nvSpPr>
        <p:spPr>
          <a:xfrm>
            <a:off x="896112" y="2505456"/>
            <a:ext cx="4370832" cy="530352"/>
          </a:xfrm>
          <a:prstGeom prst="rect">
            <a:avLst/>
          </a:prstGeom>
          <a:noFill/>
          <a:ln/>
        </p:spPr>
        <p:txBody>
          <a:bodyPr wrap="square" lIns="0" tIns="0" rIns="0" bIns="0" rtlCol="0" anchor="ctr">
            <a:normAutofit/>
          </a:bodyPr>
          <a:lstStyle/>
          <a:p>
            <a:pPr algn="ctr" indent="0" marL="0">
              <a:buNone/>
            </a:pPr>
            <a:r>
              <a:rPr lang="en-US" sz="2900" b="1" dirty="0">
                <a:solidFill>
                  <a:srgbClr val="F4C95D"/>
                </a:solidFill>
                <a:latin typeface="Aptos" pitchFamily="34" charset="0"/>
                <a:ea typeface="Aptos" pitchFamily="34" charset="-122"/>
                <a:cs typeface="Aptos" pitchFamily="34" charset="-120"/>
              </a:rPr>
              <a:t>SS = z σLT</a:t>
            </a:r>
            <a:endParaRPr lang="en-US" sz="2900" dirty="0"/>
          </a:p>
        </p:txBody>
      </p:sp>
      <p:sp>
        <p:nvSpPr>
          <p:cNvPr id="8" name="Text 6"/>
          <p:cNvSpPr txBox="1"/>
          <p:nvPr/>
        </p:nvSpPr>
        <p:spPr>
          <a:xfrm>
            <a:off x="896112" y="3127248"/>
            <a:ext cx="4370832" cy="438912"/>
          </a:xfrm>
          <a:prstGeom prst="rect">
            <a:avLst/>
          </a:prstGeom>
          <a:noFill/>
          <a:ln/>
        </p:spPr>
        <p:txBody>
          <a:bodyPr wrap="square" lIns="0" tIns="0" rIns="0" bIns="0" rtlCol="0" anchor="ctr">
            <a:normAutofit/>
          </a:bodyPr>
          <a:lstStyle/>
          <a:p>
            <a:pPr algn="ctr" indent="0" marL="0">
              <a:buNone/>
            </a:pPr>
            <a:r>
              <a:rPr lang="en-US" sz="2200" b="1" dirty="0">
                <a:solidFill>
                  <a:srgbClr val="4BB3C3"/>
                </a:solidFill>
                <a:latin typeface="Aptos" pitchFamily="34" charset="0"/>
                <a:ea typeface="Aptos" pitchFamily="34" charset="-122"/>
                <a:cs typeface="Aptos" pitchFamily="34" charset="-120"/>
              </a:rPr>
              <a:t>ROP = d̄L + SS</a:t>
            </a:r>
            <a:endParaRPr lang="en-US" sz="2200" dirty="0"/>
          </a:p>
        </p:txBody>
      </p:sp>
      <p:sp>
        <p:nvSpPr>
          <p:cNvPr id="9" name="Shape 7"/>
          <p:cNvSpPr/>
          <p:nvPr/>
        </p:nvSpPr>
        <p:spPr>
          <a:xfrm>
            <a:off x="5879592" y="1600200"/>
            <a:ext cx="2542032" cy="822960"/>
          </a:xfrm>
          <a:prstGeom prst="roundRect">
            <a:avLst>
              <a:gd name="adj" fmla="val 11111"/>
            </a:avLst>
          </a:prstGeom>
          <a:solidFill>
            <a:srgbClr val="FFFFFF"/>
          </a:solidFill>
          <a:ln w="12700">
            <a:solidFill>
              <a:srgbClr val="E8EDF2"/>
            </a:solidFill>
            <a:prstDash val="solid"/>
          </a:ln>
        </p:spPr>
      </p:sp>
      <p:sp>
        <p:nvSpPr>
          <p:cNvPr id="10" name="Text 8"/>
          <p:cNvSpPr txBox="1"/>
          <p:nvPr/>
        </p:nvSpPr>
        <p:spPr>
          <a:xfrm>
            <a:off x="6025896" y="1737360"/>
            <a:ext cx="502920" cy="292608"/>
          </a:xfrm>
          <a:prstGeom prst="rect">
            <a:avLst/>
          </a:prstGeom>
          <a:noFill/>
          <a:ln/>
        </p:spPr>
        <p:txBody>
          <a:bodyPr wrap="square" lIns="0" tIns="0" rIns="0" bIns="0" rtlCol="0" anchor="ctr">
            <a:normAutofit/>
          </a:bodyPr>
          <a:lstStyle/>
          <a:p>
            <a:pPr algn="l" indent="0" marL="0">
              <a:buNone/>
            </a:pPr>
            <a:r>
              <a:rPr lang="en-US" sz="1800" b="1" dirty="0">
                <a:solidFill>
                  <a:srgbClr val="F28E2B"/>
                </a:solidFill>
                <a:latin typeface="Aptos" pitchFamily="34" charset="0"/>
                <a:ea typeface="Aptos" pitchFamily="34" charset="-122"/>
                <a:cs typeface="Aptos" pitchFamily="34" charset="-120"/>
              </a:rPr>
              <a:t>σd</a:t>
            </a:r>
            <a:endParaRPr lang="en-US" sz="1800" dirty="0"/>
          </a:p>
        </p:txBody>
      </p:sp>
      <p:sp>
        <p:nvSpPr>
          <p:cNvPr id="11" name="Text 9"/>
          <p:cNvSpPr txBox="1"/>
          <p:nvPr/>
        </p:nvSpPr>
        <p:spPr>
          <a:xfrm>
            <a:off x="6537960" y="1709928"/>
            <a:ext cx="1673352" cy="475488"/>
          </a:xfrm>
          <a:prstGeom prst="rect">
            <a:avLst/>
          </a:prstGeom>
          <a:noFill/>
          <a:ln/>
        </p:spPr>
        <p:txBody>
          <a:bodyPr wrap="square" lIns="0" tIns="0" rIns="0" bIns="0" rtlCol="0" anchor="ctr">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standard deviation of demand / day</a:t>
            </a:r>
            <a:endParaRPr lang="en-US" sz="1150" dirty="0"/>
          </a:p>
        </p:txBody>
      </p:sp>
      <p:sp>
        <p:nvSpPr>
          <p:cNvPr id="12" name="Shape 10"/>
          <p:cNvSpPr/>
          <p:nvPr/>
        </p:nvSpPr>
        <p:spPr>
          <a:xfrm>
            <a:off x="8622792" y="1600200"/>
            <a:ext cx="2542032" cy="822960"/>
          </a:xfrm>
          <a:prstGeom prst="roundRect">
            <a:avLst>
              <a:gd name="adj" fmla="val 11111"/>
            </a:avLst>
          </a:prstGeom>
          <a:solidFill>
            <a:srgbClr val="FFFFFF"/>
          </a:solidFill>
          <a:ln w="12700">
            <a:solidFill>
              <a:srgbClr val="E8EDF2"/>
            </a:solidFill>
            <a:prstDash val="solid"/>
          </a:ln>
        </p:spPr>
      </p:sp>
      <p:sp>
        <p:nvSpPr>
          <p:cNvPr id="13" name="Text 11"/>
          <p:cNvSpPr txBox="1"/>
          <p:nvPr/>
        </p:nvSpPr>
        <p:spPr>
          <a:xfrm>
            <a:off x="8769096" y="1737360"/>
            <a:ext cx="502920" cy="292608"/>
          </a:xfrm>
          <a:prstGeom prst="rect">
            <a:avLst/>
          </a:prstGeom>
          <a:noFill/>
          <a:ln/>
        </p:spPr>
        <p:txBody>
          <a:bodyPr wrap="square" lIns="0" tIns="0" rIns="0" bIns="0" rtlCol="0" anchor="ctr">
            <a:normAutofit/>
          </a:bodyPr>
          <a:lstStyle/>
          <a:p>
            <a:pPr algn="l" indent="0" marL="0">
              <a:buNone/>
            </a:pPr>
            <a:r>
              <a:rPr lang="en-US" sz="1800" b="1" dirty="0">
                <a:solidFill>
                  <a:srgbClr val="F28E2B"/>
                </a:solidFill>
                <a:latin typeface="Aptos" pitchFamily="34" charset="0"/>
                <a:ea typeface="Aptos" pitchFamily="34" charset="-122"/>
                <a:cs typeface="Aptos" pitchFamily="34" charset="-120"/>
              </a:rPr>
              <a:t>L</a:t>
            </a:r>
            <a:endParaRPr lang="en-US" sz="1800" dirty="0"/>
          </a:p>
        </p:txBody>
      </p:sp>
      <p:sp>
        <p:nvSpPr>
          <p:cNvPr id="14" name="Text 12"/>
          <p:cNvSpPr txBox="1"/>
          <p:nvPr/>
        </p:nvSpPr>
        <p:spPr>
          <a:xfrm>
            <a:off x="9281160" y="1709928"/>
            <a:ext cx="1673352" cy="475488"/>
          </a:xfrm>
          <a:prstGeom prst="rect">
            <a:avLst/>
          </a:prstGeom>
          <a:noFill/>
          <a:ln/>
        </p:spPr>
        <p:txBody>
          <a:bodyPr wrap="square" lIns="0" tIns="0" rIns="0" bIns="0" rtlCol="0" anchor="ctr">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constant lead time in days</a:t>
            </a:r>
            <a:endParaRPr lang="en-US" sz="1150" dirty="0"/>
          </a:p>
        </p:txBody>
      </p:sp>
      <p:sp>
        <p:nvSpPr>
          <p:cNvPr id="15" name="Shape 13"/>
          <p:cNvSpPr/>
          <p:nvPr/>
        </p:nvSpPr>
        <p:spPr>
          <a:xfrm>
            <a:off x="5879592" y="2624328"/>
            <a:ext cx="2542032" cy="822960"/>
          </a:xfrm>
          <a:prstGeom prst="roundRect">
            <a:avLst>
              <a:gd name="adj" fmla="val 11111"/>
            </a:avLst>
          </a:prstGeom>
          <a:solidFill>
            <a:srgbClr val="FFFFFF"/>
          </a:solidFill>
          <a:ln w="12700">
            <a:solidFill>
              <a:srgbClr val="E8EDF2"/>
            </a:solidFill>
            <a:prstDash val="solid"/>
          </a:ln>
        </p:spPr>
      </p:sp>
      <p:sp>
        <p:nvSpPr>
          <p:cNvPr id="16" name="Text 14"/>
          <p:cNvSpPr txBox="1"/>
          <p:nvPr/>
        </p:nvSpPr>
        <p:spPr>
          <a:xfrm>
            <a:off x="6025896" y="2761488"/>
            <a:ext cx="502920" cy="292608"/>
          </a:xfrm>
          <a:prstGeom prst="rect">
            <a:avLst/>
          </a:prstGeom>
          <a:noFill/>
          <a:ln/>
        </p:spPr>
        <p:txBody>
          <a:bodyPr wrap="square" lIns="0" tIns="0" rIns="0" bIns="0" rtlCol="0" anchor="ctr">
            <a:normAutofit/>
          </a:bodyPr>
          <a:lstStyle/>
          <a:p>
            <a:pPr algn="l" indent="0" marL="0">
              <a:buNone/>
            </a:pPr>
            <a:r>
              <a:rPr lang="en-US" sz="1800" b="1" dirty="0">
                <a:solidFill>
                  <a:srgbClr val="F28E2B"/>
                </a:solidFill>
                <a:latin typeface="Aptos" pitchFamily="34" charset="0"/>
                <a:ea typeface="Aptos" pitchFamily="34" charset="-122"/>
                <a:cs typeface="Aptos" pitchFamily="34" charset="-120"/>
              </a:rPr>
              <a:t>σLT</a:t>
            </a:r>
            <a:endParaRPr lang="en-US" sz="1800" dirty="0"/>
          </a:p>
        </p:txBody>
      </p:sp>
      <p:sp>
        <p:nvSpPr>
          <p:cNvPr id="17" name="Text 15"/>
          <p:cNvSpPr txBox="1"/>
          <p:nvPr/>
        </p:nvSpPr>
        <p:spPr>
          <a:xfrm>
            <a:off x="6537960" y="2734056"/>
            <a:ext cx="1673352" cy="475488"/>
          </a:xfrm>
          <a:prstGeom prst="rect">
            <a:avLst/>
          </a:prstGeom>
          <a:noFill/>
          <a:ln/>
        </p:spPr>
        <p:txBody>
          <a:bodyPr wrap="square" lIns="0" tIns="0" rIns="0" bIns="0" rtlCol="0" anchor="ctr">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standard deviation of lead-time demand</a:t>
            </a:r>
            <a:endParaRPr lang="en-US" sz="1150" dirty="0"/>
          </a:p>
        </p:txBody>
      </p:sp>
      <p:sp>
        <p:nvSpPr>
          <p:cNvPr id="18" name="Shape 16"/>
          <p:cNvSpPr/>
          <p:nvPr/>
        </p:nvSpPr>
        <p:spPr>
          <a:xfrm>
            <a:off x="8622792" y="2624328"/>
            <a:ext cx="2542032" cy="822960"/>
          </a:xfrm>
          <a:prstGeom prst="roundRect">
            <a:avLst>
              <a:gd name="adj" fmla="val 11111"/>
            </a:avLst>
          </a:prstGeom>
          <a:solidFill>
            <a:srgbClr val="FFFFFF"/>
          </a:solidFill>
          <a:ln w="12700">
            <a:solidFill>
              <a:srgbClr val="E8EDF2"/>
            </a:solidFill>
            <a:prstDash val="solid"/>
          </a:ln>
        </p:spPr>
      </p:sp>
      <p:sp>
        <p:nvSpPr>
          <p:cNvPr id="19" name="Text 17"/>
          <p:cNvSpPr txBox="1"/>
          <p:nvPr/>
        </p:nvSpPr>
        <p:spPr>
          <a:xfrm>
            <a:off x="8769096" y="2761488"/>
            <a:ext cx="502920" cy="292608"/>
          </a:xfrm>
          <a:prstGeom prst="rect">
            <a:avLst/>
          </a:prstGeom>
          <a:noFill/>
          <a:ln/>
        </p:spPr>
        <p:txBody>
          <a:bodyPr wrap="square" lIns="0" tIns="0" rIns="0" bIns="0" rtlCol="0" anchor="ctr">
            <a:normAutofit/>
          </a:bodyPr>
          <a:lstStyle/>
          <a:p>
            <a:pPr algn="l" indent="0" marL="0">
              <a:buNone/>
            </a:pPr>
            <a:r>
              <a:rPr lang="en-US" sz="1800" b="1" dirty="0">
                <a:solidFill>
                  <a:srgbClr val="F28E2B"/>
                </a:solidFill>
                <a:latin typeface="Aptos" pitchFamily="34" charset="0"/>
                <a:ea typeface="Aptos" pitchFamily="34" charset="-122"/>
                <a:cs typeface="Aptos" pitchFamily="34" charset="-120"/>
              </a:rPr>
              <a:t>z</a:t>
            </a:r>
            <a:endParaRPr lang="en-US" sz="1800" dirty="0"/>
          </a:p>
        </p:txBody>
      </p:sp>
      <p:sp>
        <p:nvSpPr>
          <p:cNvPr id="20" name="Text 18"/>
          <p:cNvSpPr txBox="1"/>
          <p:nvPr/>
        </p:nvSpPr>
        <p:spPr>
          <a:xfrm>
            <a:off x="9281160" y="2734056"/>
            <a:ext cx="1673352" cy="475488"/>
          </a:xfrm>
          <a:prstGeom prst="rect">
            <a:avLst/>
          </a:prstGeom>
          <a:noFill/>
          <a:ln/>
        </p:spPr>
        <p:txBody>
          <a:bodyPr wrap="square" lIns="0" tIns="0" rIns="0" bIns="0" rtlCol="0" anchor="ctr">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Normal quantile for target CSL</a:t>
            </a:r>
            <a:endParaRPr lang="en-US" sz="1150" dirty="0"/>
          </a:p>
        </p:txBody>
      </p:sp>
      <p:sp>
        <p:nvSpPr>
          <p:cNvPr id="21" name="Shape 19"/>
          <p:cNvSpPr/>
          <p:nvPr/>
        </p:nvSpPr>
        <p:spPr>
          <a:xfrm>
            <a:off x="658368" y="4160520"/>
            <a:ext cx="10652760" cy="1097280"/>
          </a:xfrm>
          <a:prstGeom prst="roundRect">
            <a:avLst>
              <a:gd name="adj" fmla="val 8333"/>
            </a:avLst>
          </a:prstGeom>
          <a:solidFill>
            <a:srgbClr val="FFF1E3"/>
          </a:solidFill>
          <a:ln w="12700">
            <a:solidFill>
              <a:srgbClr val="FFF1E3"/>
            </a:solidFill>
            <a:prstDash val="solid"/>
          </a:ln>
        </p:spPr>
      </p:sp>
      <p:sp>
        <p:nvSpPr>
          <p:cNvPr id="22" name="Text 20"/>
          <p:cNvSpPr txBox="1"/>
          <p:nvPr/>
        </p:nvSpPr>
        <p:spPr>
          <a:xfrm>
            <a:off x="896112" y="4370832"/>
            <a:ext cx="2011680" cy="274320"/>
          </a:xfrm>
          <a:prstGeom prst="rect">
            <a:avLst/>
          </a:prstGeom>
          <a:noFill/>
          <a:ln/>
        </p:spPr>
        <p:txBody>
          <a:bodyPr wrap="square" lIns="0" tIns="0" rIns="0" bIns="0" rtlCol="0" anchor="ctr">
            <a:normAutofit/>
          </a:bodyPr>
          <a:lstStyle/>
          <a:p>
            <a:pPr algn="l" indent="0" marL="0">
              <a:buNone/>
            </a:pPr>
            <a:r>
              <a:rPr lang="en-US" sz="1300" b="1" dirty="0">
                <a:solidFill>
                  <a:srgbClr val="F28E2B"/>
                </a:solidFill>
                <a:latin typeface="Aptos" pitchFamily="34" charset="0"/>
                <a:ea typeface="Aptos" pitchFamily="34" charset="-122"/>
                <a:cs typeface="Aptos" pitchFamily="34" charset="-120"/>
              </a:rPr>
              <a:t>If lead time also varies</a:t>
            </a:r>
            <a:endParaRPr lang="en-US" sz="1300" dirty="0"/>
          </a:p>
        </p:txBody>
      </p:sp>
      <p:sp>
        <p:nvSpPr>
          <p:cNvPr id="23" name="Text 21"/>
          <p:cNvSpPr txBox="1"/>
          <p:nvPr/>
        </p:nvSpPr>
        <p:spPr>
          <a:xfrm>
            <a:off x="2953512" y="4297680"/>
            <a:ext cx="5303520" cy="384048"/>
          </a:xfrm>
          <a:prstGeom prst="rect">
            <a:avLst/>
          </a:prstGeom>
          <a:noFill/>
          <a:ln/>
        </p:spPr>
        <p:txBody>
          <a:bodyPr wrap="square" lIns="0" tIns="0" rIns="0" bIns="0" rtlCol="0" anchor="ctr">
            <a:normAutofit/>
          </a:bodyPr>
          <a:lstStyle/>
          <a:p>
            <a:pPr algn="l" indent="0" marL="0">
              <a:buNone/>
            </a:pPr>
            <a:r>
              <a:rPr lang="en-US" sz="1800" b="1" dirty="0">
                <a:solidFill>
                  <a:srgbClr val="0B1F33"/>
                </a:solidFill>
                <a:latin typeface="Aptos" pitchFamily="34" charset="0"/>
                <a:ea typeface="Aptos" pitchFamily="34" charset="-122"/>
                <a:cs typeface="Aptos" pitchFamily="34" charset="-120"/>
              </a:rPr>
              <a:t>Common independent approximation:  σLT = √( L̄σd² + d̄²σL² )</a:t>
            </a:r>
            <a:endParaRPr lang="en-US" sz="1800" dirty="0"/>
          </a:p>
        </p:txBody>
      </p:sp>
      <p:sp>
        <p:nvSpPr>
          <p:cNvPr id="24" name="Text 22"/>
          <p:cNvSpPr txBox="1"/>
          <p:nvPr/>
        </p:nvSpPr>
        <p:spPr>
          <a:xfrm>
            <a:off x="8394192" y="4270248"/>
            <a:ext cx="2560320" cy="594360"/>
          </a:xfrm>
          <a:prstGeom prst="rect">
            <a:avLst/>
          </a:prstGeom>
          <a:noFill/>
          <a:ln/>
        </p:spPr>
        <p:txBody>
          <a:bodyPr wrap="square" lIns="0" tIns="0" rIns="0" bIns="0" rtlCol="0" anchor="ctr">
            <a:normAutofit/>
          </a:bodyPr>
          <a:lstStyle/>
          <a:p>
            <a:pPr algn="l" indent="0" marL="0">
              <a:buNone/>
            </a:pPr>
            <a:r>
              <a:rPr lang="en-US" sz="1150" dirty="0">
                <a:solidFill>
                  <a:srgbClr val="6B7785"/>
                </a:solidFill>
                <a:latin typeface="Aptos" pitchFamily="34" charset="0"/>
                <a:ea typeface="Aptos" pitchFamily="34" charset="-122"/>
                <a:cs typeface="Aptos" pitchFamily="34" charset="-120"/>
              </a:rPr>
              <a:t>Use simulation or empirical lead-time-demand quantiles when correlation, seasonality, or tails matter.</a:t>
            </a:r>
            <a:endParaRPr lang="en-US" sz="1150" dirty="0"/>
          </a:p>
        </p:txBody>
      </p:sp>
      <p:sp>
        <p:nvSpPr>
          <p:cNvPr id="25" name="Shape 23"/>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26" name="Text 24"/>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27" name="Text 25"/>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A z-value only has meaning after the service metric, distribution, and time-unit assumptions are explicit.</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WORKED PROTECTION LEVEL</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95% cycle-service target under variable demand</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Illustrative assumptions • d̄ = 80/day • σd = 20/day • L = 5 days • z = 1.645</a:t>
            </a:r>
            <a:endParaRPr lang="en-US" sz="1350" dirty="0"/>
          </a:p>
        </p:txBody>
      </p:sp>
      <p:sp>
        <p:nvSpPr>
          <p:cNvPr id="5" name="Shape 3"/>
          <p:cNvSpPr/>
          <p:nvPr/>
        </p:nvSpPr>
        <p:spPr>
          <a:xfrm>
            <a:off x="713232" y="1673352"/>
            <a:ext cx="438912" cy="438912"/>
          </a:xfrm>
          <a:prstGeom prst="ellipse">
            <a:avLst/>
          </a:prstGeom>
          <a:solidFill>
            <a:srgbClr val="1D6FA5"/>
          </a:solidFill>
          <a:ln w="12700">
            <a:solidFill>
              <a:srgbClr val="1D6FA5"/>
            </a:solidFill>
            <a:prstDash val="solid"/>
          </a:ln>
        </p:spPr>
      </p:sp>
      <p:sp>
        <p:nvSpPr>
          <p:cNvPr id="6" name="Text 4"/>
          <p:cNvSpPr txBox="1"/>
          <p:nvPr/>
        </p:nvSpPr>
        <p:spPr>
          <a:xfrm>
            <a:off x="713232" y="1673352"/>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7" name="Text 5"/>
          <p:cNvSpPr txBox="1"/>
          <p:nvPr/>
        </p:nvSpPr>
        <p:spPr>
          <a:xfrm>
            <a:off x="1344168" y="1581912"/>
            <a:ext cx="2194560" cy="292608"/>
          </a:xfrm>
          <a:prstGeom prst="rect">
            <a:avLst/>
          </a:prstGeom>
          <a:noFill/>
          <a:ln/>
        </p:spPr>
        <p:txBody>
          <a:bodyPr wrap="square" lIns="0" tIns="0" rIns="0" bIns="0" rtlCol="0" anchor="ctr">
            <a:normAutofit/>
          </a:bodyPr>
          <a:lstStyle/>
          <a:p>
            <a:pPr algn="l" indent="0" marL="0">
              <a:buNone/>
            </a:pPr>
            <a:r>
              <a:rPr lang="en-US" sz="1300" b="1" dirty="0">
                <a:solidFill>
                  <a:srgbClr val="6B7785"/>
                </a:solidFill>
                <a:latin typeface="Aptos" pitchFamily="34" charset="0"/>
                <a:ea typeface="Aptos" pitchFamily="34" charset="-122"/>
                <a:cs typeface="Aptos" pitchFamily="34" charset="-120"/>
              </a:rPr>
              <a:t>Mean lead-time demand</a:t>
            </a:r>
            <a:endParaRPr lang="en-US" sz="1300" dirty="0"/>
          </a:p>
        </p:txBody>
      </p:sp>
      <p:sp>
        <p:nvSpPr>
          <p:cNvPr id="8" name="Text 6"/>
          <p:cNvSpPr txBox="1"/>
          <p:nvPr/>
        </p:nvSpPr>
        <p:spPr>
          <a:xfrm>
            <a:off x="3657600" y="1545336"/>
            <a:ext cx="6217920" cy="393192"/>
          </a:xfrm>
          <a:prstGeom prst="rect">
            <a:avLst/>
          </a:prstGeom>
          <a:noFill/>
          <a:ln/>
        </p:spPr>
        <p:txBody>
          <a:bodyPr wrap="square" lIns="0" tIns="0" rIns="0" bIns="0" rtlCol="0" anchor="ctr">
            <a:normAutofit/>
          </a:bodyPr>
          <a:lstStyle/>
          <a:p>
            <a:pPr algn="l" indent="0" marL="0">
              <a:buNone/>
            </a:pPr>
            <a:r>
              <a:rPr lang="en-US" sz="1900" dirty="0">
                <a:solidFill>
                  <a:srgbClr val="152433"/>
                </a:solidFill>
                <a:latin typeface="Aptos" pitchFamily="34" charset="0"/>
                <a:ea typeface="Aptos" pitchFamily="34" charset="-122"/>
                <a:cs typeface="Aptos" pitchFamily="34" charset="-120"/>
              </a:rPr>
              <a:t>80 × 5 = 400 units</a:t>
            </a:r>
            <a:endParaRPr lang="en-US" sz="1900" dirty="0"/>
          </a:p>
        </p:txBody>
      </p:sp>
      <p:sp>
        <p:nvSpPr>
          <p:cNvPr id="9" name="Shape 7"/>
          <p:cNvSpPr/>
          <p:nvPr/>
        </p:nvSpPr>
        <p:spPr>
          <a:xfrm>
            <a:off x="713232" y="2532888"/>
            <a:ext cx="438912" cy="438912"/>
          </a:xfrm>
          <a:prstGeom prst="ellipse">
            <a:avLst/>
          </a:prstGeom>
          <a:solidFill>
            <a:srgbClr val="1D6FA5"/>
          </a:solidFill>
          <a:ln w="12700">
            <a:solidFill>
              <a:srgbClr val="1D6FA5"/>
            </a:solidFill>
            <a:prstDash val="solid"/>
          </a:ln>
        </p:spPr>
      </p:sp>
      <p:sp>
        <p:nvSpPr>
          <p:cNvPr id="10" name="Text 8"/>
          <p:cNvSpPr txBox="1"/>
          <p:nvPr/>
        </p:nvSpPr>
        <p:spPr>
          <a:xfrm>
            <a:off x="713232" y="2532888"/>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1" name="Text 9"/>
          <p:cNvSpPr txBox="1"/>
          <p:nvPr/>
        </p:nvSpPr>
        <p:spPr>
          <a:xfrm>
            <a:off x="1344168" y="2441448"/>
            <a:ext cx="2194560" cy="292608"/>
          </a:xfrm>
          <a:prstGeom prst="rect">
            <a:avLst/>
          </a:prstGeom>
          <a:noFill/>
          <a:ln/>
        </p:spPr>
        <p:txBody>
          <a:bodyPr wrap="square" lIns="0" tIns="0" rIns="0" bIns="0" rtlCol="0" anchor="ctr">
            <a:normAutofit/>
          </a:bodyPr>
          <a:lstStyle/>
          <a:p>
            <a:pPr algn="l" indent="0" marL="0">
              <a:buNone/>
            </a:pPr>
            <a:r>
              <a:rPr lang="en-US" sz="1300" b="1" dirty="0">
                <a:solidFill>
                  <a:srgbClr val="6B7785"/>
                </a:solidFill>
                <a:latin typeface="Aptos" pitchFamily="34" charset="0"/>
                <a:ea typeface="Aptos" pitchFamily="34" charset="-122"/>
                <a:cs typeface="Aptos" pitchFamily="34" charset="-120"/>
              </a:rPr>
              <a:t>Lead-time demand σ</a:t>
            </a:r>
            <a:endParaRPr lang="en-US" sz="1300" dirty="0"/>
          </a:p>
        </p:txBody>
      </p:sp>
      <p:sp>
        <p:nvSpPr>
          <p:cNvPr id="12" name="Text 10"/>
          <p:cNvSpPr txBox="1"/>
          <p:nvPr/>
        </p:nvSpPr>
        <p:spPr>
          <a:xfrm>
            <a:off x="3657600" y="2404872"/>
            <a:ext cx="6217920" cy="393192"/>
          </a:xfrm>
          <a:prstGeom prst="rect">
            <a:avLst/>
          </a:prstGeom>
          <a:noFill/>
          <a:ln/>
        </p:spPr>
        <p:txBody>
          <a:bodyPr wrap="square" lIns="0" tIns="0" rIns="0" bIns="0" rtlCol="0" anchor="ctr">
            <a:normAutofit/>
          </a:bodyPr>
          <a:lstStyle/>
          <a:p>
            <a:pPr algn="l" indent="0" marL="0">
              <a:buNone/>
            </a:pPr>
            <a:r>
              <a:rPr lang="en-US" sz="1900" dirty="0">
                <a:solidFill>
                  <a:srgbClr val="152433"/>
                </a:solidFill>
                <a:latin typeface="Aptos" pitchFamily="34" charset="0"/>
                <a:ea typeface="Aptos" pitchFamily="34" charset="-122"/>
                <a:cs typeface="Aptos" pitchFamily="34" charset="-120"/>
              </a:rPr>
              <a:t>20√5 = 44.72 units</a:t>
            </a:r>
            <a:endParaRPr lang="en-US" sz="1900" dirty="0"/>
          </a:p>
        </p:txBody>
      </p:sp>
      <p:sp>
        <p:nvSpPr>
          <p:cNvPr id="13" name="Shape 11"/>
          <p:cNvSpPr/>
          <p:nvPr/>
        </p:nvSpPr>
        <p:spPr>
          <a:xfrm>
            <a:off x="713232" y="3392424"/>
            <a:ext cx="438912" cy="438912"/>
          </a:xfrm>
          <a:prstGeom prst="ellipse">
            <a:avLst/>
          </a:prstGeom>
          <a:solidFill>
            <a:srgbClr val="F28E2B"/>
          </a:solidFill>
          <a:ln w="12700">
            <a:solidFill>
              <a:srgbClr val="F28E2B"/>
            </a:solidFill>
            <a:prstDash val="solid"/>
          </a:ln>
        </p:spPr>
      </p:sp>
      <p:sp>
        <p:nvSpPr>
          <p:cNvPr id="14" name="Text 12"/>
          <p:cNvSpPr txBox="1"/>
          <p:nvPr/>
        </p:nvSpPr>
        <p:spPr>
          <a:xfrm>
            <a:off x="713232" y="3392424"/>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15" name="Text 13"/>
          <p:cNvSpPr txBox="1"/>
          <p:nvPr/>
        </p:nvSpPr>
        <p:spPr>
          <a:xfrm>
            <a:off x="1344168" y="3300984"/>
            <a:ext cx="2194560" cy="292608"/>
          </a:xfrm>
          <a:prstGeom prst="rect">
            <a:avLst/>
          </a:prstGeom>
          <a:noFill/>
          <a:ln/>
        </p:spPr>
        <p:txBody>
          <a:bodyPr wrap="square" lIns="0" tIns="0" rIns="0" bIns="0" rtlCol="0" anchor="ctr">
            <a:normAutofit/>
          </a:bodyPr>
          <a:lstStyle/>
          <a:p>
            <a:pPr algn="l" indent="0" marL="0">
              <a:buNone/>
            </a:pPr>
            <a:r>
              <a:rPr lang="en-US" sz="1300" b="1" dirty="0">
                <a:solidFill>
                  <a:srgbClr val="6B7785"/>
                </a:solidFill>
                <a:latin typeface="Aptos" pitchFamily="34" charset="0"/>
                <a:ea typeface="Aptos" pitchFamily="34" charset="-122"/>
                <a:cs typeface="Aptos" pitchFamily="34" charset="-120"/>
              </a:rPr>
              <a:t>Safety stock</a:t>
            </a:r>
            <a:endParaRPr lang="en-US" sz="1300" dirty="0"/>
          </a:p>
        </p:txBody>
      </p:sp>
      <p:sp>
        <p:nvSpPr>
          <p:cNvPr id="16" name="Text 14"/>
          <p:cNvSpPr txBox="1"/>
          <p:nvPr/>
        </p:nvSpPr>
        <p:spPr>
          <a:xfrm>
            <a:off x="3657600" y="3264408"/>
            <a:ext cx="6217920" cy="393192"/>
          </a:xfrm>
          <a:prstGeom prst="rect">
            <a:avLst/>
          </a:prstGeom>
          <a:noFill/>
          <a:ln/>
        </p:spPr>
        <p:txBody>
          <a:bodyPr wrap="square" lIns="0" tIns="0" rIns="0" bIns="0" rtlCol="0" anchor="ctr">
            <a:normAutofit/>
          </a:bodyPr>
          <a:lstStyle/>
          <a:p>
            <a:pPr algn="l" indent="0" marL="0">
              <a:buNone/>
            </a:pPr>
            <a:r>
              <a:rPr lang="en-US" sz="1900" b="1" dirty="0">
                <a:solidFill>
                  <a:srgbClr val="F28E2B"/>
                </a:solidFill>
                <a:latin typeface="Aptos" pitchFamily="34" charset="0"/>
                <a:ea typeface="Aptos" pitchFamily="34" charset="-122"/>
                <a:cs typeface="Aptos" pitchFamily="34" charset="-120"/>
              </a:rPr>
              <a:t>1.645 × (20√5) = 73.57 → 74 units</a:t>
            </a:r>
            <a:endParaRPr lang="en-US" sz="1900" dirty="0"/>
          </a:p>
        </p:txBody>
      </p:sp>
      <p:sp>
        <p:nvSpPr>
          <p:cNvPr id="17" name="Shape 15"/>
          <p:cNvSpPr/>
          <p:nvPr/>
        </p:nvSpPr>
        <p:spPr>
          <a:xfrm>
            <a:off x="713232" y="4251960"/>
            <a:ext cx="438912" cy="438912"/>
          </a:xfrm>
          <a:prstGeom prst="ellipse">
            <a:avLst/>
          </a:prstGeom>
          <a:solidFill>
            <a:srgbClr val="D1495B"/>
          </a:solidFill>
          <a:ln w="12700">
            <a:solidFill>
              <a:srgbClr val="D1495B"/>
            </a:solidFill>
            <a:prstDash val="solid"/>
          </a:ln>
        </p:spPr>
      </p:sp>
      <p:sp>
        <p:nvSpPr>
          <p:cNvPr id="18" name="Text 16"/>
          <p:cNvSpPr txBox="1"/>
          <p:nvPr/>
        </p:nvSpPr>
        <p:spPr>
          <a:xfrm>
            <a:off x="713232" y="4251960"/>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19" name="Text 17"/>
          <p:cNvSpPr txBox="1"/>
          <p:nvPr/>
        </p:nvSpPr>
        <p:spPr>
          <a:xfrm>
            <a:off x="1344168" y="4160520"/>
            <a:ext cx="2194560" cy="292608"/>
          </a:xfrm>
          <a:prstGeom prst="rect">
            <a:avLst/>
          </a:prstGeom>
          <a:noFill/>
          <a:ln/>
        </p:spPr>
        <p:txBody>
          <a:bodyPr wrap="square" lIns="0" tIns="0" rIns="0" bIns="0" rtlCol="0" anchor="ctr">
            <a:normAutofit/>
          </a:bodyPr>
          <a:lstStyle/>
          <a:p>
            <a:pPr algn="l" indent="0" marL="0">
              <a:buNone/>
            </a:pPr>
            <a:r>
              <a:rPr lang="en-US" sz="1300" b="1" dirty="0">
                <a:solidFill>
                  <a:srgbClr val="6B7785"/>
                </a:solidFill>
                <a:latin typeface="Aptos" pitchFamily="34" charset="0"/>
                <a:ea typeface="Aptos" pitchFamily="34" charset="-122"/>
                <a:cs typeface="Aptos" pitchFamily="34" charset="-120"/>
              </a:rPr>
              <a:t>Reorder point</a:t>
            </a:r>
            <a:endParaRPr lang="en-US" sz="1300" dirty="0"/>
          </a:p>
        </p:txBody>
      </p:sp>
      <p:sp>
        <p:nvSpPr>
          <p:cNvPr id="20" name="Text 18"/>
          <p:cNvSpPr txBox="1"/>
          <p:nvPr/>
        </p:nvSpPr>
        <p:spPr>
          <a:xfrm>
            <a:off x="3657600" y="4123944"/>
            <a:ext cx="6217920" cy="393192"/>
          </a:xfrm>
          <a:prstGeom prst="rect">
            <a:avLst/>
          </a:prstGeom>
          <a:noFill/>
          <a:ln/>
        </p:spPr>
        <p:txBody>
          <a:bodyPr wrap="square" lIns="0" tIns="0" rIns="0" bIns="0" rtlCol="0" anchor="ctr">
            <a:normAutofit/>
          </a:bodyPr>
          <a:lstStyle/>
          <a:p>
            <a:pPr algn="l" indent="0" marL="0">
              <a:buNone/>
            </a:pPr>
            <a:r>
              <a:rPr lang="en-US" sz="1900" b="1" dirty="0">
                <a:solidFill>
                  <a:srgbClr val="D1495B"/>
                </a:solidFill>
                <a:latin typeface="Aptos" pitchFamily="34" charset="0"/>
                <a:ea typeface="Aptos" pitchFamily="34" charset="-122"/>
                <a:cs typeface="Aptos" pitchFamily="34" charset="-120"/>
              </a:rPr>
              <a:t>400 + 74 = 474 units</a:t>
            </a:r>
            <a:endParaRPr lang="en-US" sz="1900" dirty="0"/>
          </a:p>
        </p:txBody>
      </p:sp>
      <p:sp>
        <p:nvSpPr>
          <p:cNvPr id="21" name="Shape 19"/>
          <p:cNvSpPr/>
          <p:nvPr/>
        </p:nvSpPr>
        <p:spPr>
          <a:xfrm>
            <a:off x="713232" y="5093208"/>
            <a:ext cx="4983480" cy="594360"/>
          </a:xfrm>
          <a:prstGeom prst="roundRect">
            <a:avLst>
              <a:gd name="adj" fmla="val 15385"/>
            </a:avLst>
          </a:prstGeom>
          <a:solidFill>
            <a:srgbClr val="FFF1E3"/>
          </a:solidFill>
          <a:ln w="12700">
            <a:solidFill>
              <a:srgbClr val="FFF1E3"/>
            </a:solidFill>
            <a:prstDash val="solid"/>
          </a:ln>
        </p:spPr>
      </p:sp>
      <p:sp>
        <p:nvSpPr>
          <p:cNvPr id="22" name="Text 20"/>
          <p:cNvSpPr txBox="1"/>
          <p:nvPr/>
        </p:nvSpPr>
        <p:spPr>
          <a:xfrm>
            <a:off x="941832" y="5266944"/>
            <a:ext cx="1737360" cy="228600"/>
          </a:xfrm>
          <a:prstGeom prst="rect">
            <a:avLst/>
          </a:prstGeom>
          <a:noFill/>
          <a:ln/>
        </p:spPr>
        <p:txBody>
          <a:bodyPr wrap="square" lIns="0" tIns="0" rIns="0" bIns="0" rtlCol="0" anchor="ctr">
            <a:normAutofit/>
          </a:bodyPr>
          <a:lstStyle/>
          <a:p>
            <a:pPr algn="l" indent="0" marL="0">
              <a:buNone/>
            </a:pPr>
            <a:r>
              <a:rPr lang="en-US" sz="1100" b="1" dirty="0">
                <a:solidFill>
                  <a:srgbClr val="F28E2B"/>
                </a:solidFill>
                <a:latin typeface="Aptos" pitchFamily="34" charset="0"/>
                <a:ea typeface="Aptos" pitchFamily="34" charset="-122"/>
                <a:cs typeface="Aptos" pitchFamily="34" charset="-120"/>
              </a:rPr>
              <a:t>Annual SS carrying cost</a:t>
            </a:r>
            <a:endParaRPr lang="en-US" sz="1100" dirty="0"/>
          </a:p>
        </p:txBody>
      </p:sp>
      <p:sp>
        <p:nvSpPr>
          <p:cNvPr id="23" name="Text 21"/>
          <p:cNvSpPr txBox="1"/>
          <p:nvPr/>
        </p:nvSpPr>
        <p:spPr>
          <a:xfrm>
            <a:off x="2788920" y="5202936"/>
            <a:ext cx="2514600" cy="329184"/>
          </a:xfrm>
          <a:prstGeom prst="rect">
            <a:avLst/>
          </a:prstGeom>
          <a:noFill/>
          <a:ln/>
        </p:spPr>
        <p:txBody>
          <a:bodyPr wrap="square" lIns="0" tIns="0" rIns="0" bIns="0" rtlCol="0" anchor="ctr">
            <a:normAutofit/>
          </a:bodyPr>
          <a:lstStyle/>
          <a:p>
            <a:pPr algn="l" indent="0" marL="0">
              <a:buNone/>
            </a:pPr>
            <a:r>
              <a:rPr lang="en-US" sz="1600" b="1" dirty="0">
                <a:solidFill>
                  <a:srgbClr val="0B1F33"/>
                </a:solidFill>
                <a:latin typeface="Aptos" pitchFamily="34" charset="0"/>
                <a:ea typeface="Aptos" pitchFamily="34" charset="-122"/>
                <a:cs typeface="Aptos" pitchFamily="34" charset="-120"/>
              </a:rPr>
              <a:t>74 × $20 = $1,480</a:t>
            </a:r>
            <a:endParaRPr lang="en-US" sz="1600" dirty="0"/>
          </a:p>
        </p:txBody>
      </p:sp>
      <p:sp>
        <p:nvSpPr>
          <p:cNvPr id="24" name="Shape 22"/>
          <p:cNvSpPr/>
          <p:nvPr/>
        </p:nvSpPr>
        <p:spPr>
          <a:xfrm>
            <a:off x="5943600" y="5093208"/>
            <a:ext cx="5257800" cy="594360"/>
          </a:xfrm>
          <a:prstGeom prst="roundRect">
            <a:avLst>
              <a:gd name="adj" fmla="val 15385"/>
            </a:avLst>
          </a:prstGeom>
          <a:solidFill>
            <a:srgbClr val="E7F5F2"/>
          </a:solidFill>
          <a:ln w="12700">
            <a:solidFill>
              <a:srgbClr val="E7F5F2"/>
            </a:solidFill>
            <a:prstDash val="solid"/>
          </a:ln>
        </p:spPr>
      </p:sp>
      <p:sp>
        <p:nvSpPr>
          <p:cNvPr id="25" name="Text 23"/>
          <p:cNvSpPr txBox="1"/>
          <p:nvPr/>
        </p:nvSpPr>
        <p:spPr>
          <a:xfrm>
            <a:off x="6199632" y="5266944"/>
            <a:ext cx="1417320" cy="228600"/>
          </a:xfrm>
          <a:prstGeom prst="rect">
            <a:avLst/>
          </a:prstGeom>
          <a:noFill/>
          <a:ln/>
        </p:spPr>
        <p:txBody>
          <a:bodyPr wrap="square" lIns="0" tIns="0" rIns="0" bIns="0" rtlCol="0" anchor="ctr">
            <a:normAutofit/>
          </a:bodyPr>
          <a:lstStyle/>
          <a:p>
            <a:pPr algn="l" indent="0" marL="0">
              <a:buNone/>
            </a:pPr>
            <a:r>
              <a:rPr lang="en-US" sz="1100" b="1" dirty="0">
                <a:solidFill>
                  <a:srgbClr val="2A9D8F"/>
                </a:solidFill>
                <a:latin typeface="Aptos" pitchFamily="34" charset="0"/>
                <a:ea typeface="Aptos" pitchFamily="34" charset="-122"/>
                <a:cs typeface="Aptos" pitchFamily="34" charset="-120"/>
              </a:rPr>
              <a:t>Publish the policy</a:t>
            </a:r>
            <a:endParaRPr lang="en-US" sz="1100" dirty="0"/>
          </a:p>
        </p:txBody>
      </p:sp>
      <p:sp>
        <p:nvSpPr>
          <p:cNvPr id="26" name="Text 24"/>
          <p:cNvSpPr txBox="1"/>
          <p:nvPr/>
        </p:nvSpPr>
        <p:spPr>
          <a:xfrm>
            <a:off x="7635240" y="5202936"/>
            <a:ext cx="3154680" cy="329184"/>
          </a:xfrm>
          <a:prstGeom prst="rect">
            <a:avLst/>
          </a:prstGeom>
          <a:noFill/>
          <a:ln/>
        </p:spPr>
        <p:txBody>
          <a:bodyPr wrap="square" lIns="0" tIns="0" rIns="0" bIns="0" rtlCol="0" anchor="ctr">
            <a:normAutofit/>
          </a:bodyPr>
          <a:lstStyle/>
          <a:p>
            <a:pPr algn="l" indent="0" marL="0">
              <a:buNone/>
            </a:pPr>
            <a:r>
              <a:rPr lang="en-US" sz="1600" b="1" dirty="0">
                <a:solidFill>
                  <a:srgbClr val="0B1F33"/>
                </a:solidFill>
                <a:latin typeface="Aptos" pitchFamily="34" charset="0"/>
                <a:ea typeface="Aptos" pitchFamily="34" charset="-122"/>
                <a:cs typeface="Aptos" pitchFamily="34" charset="-120"/>
              </a:rPr>
              <a:t>At IP ≤ 474, order 600.</a:t>
            </a:r>
            <a:endParaRPr lang="en-US" sz="1600" dirty="0"/>
          </a:p>
        </p:txBody>
      </p:sp>
      <p:sp>
        <p:nvSpPr>
          <p:cNvPr id="27" name="Shape 25"/>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28" name="Text 26"/>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29" name="Text 27"/>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Round protection upward if the stated target must be met; then validate actual service with operating data.</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SERVICE DEFINITIONS</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“95% service” is incomplete without the metric</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The same policy can have different cycle-service and fill-rate outcomes.</a:t>
            </a:r>
            <a:endParaRPr lang="en-US" sz="1350" dirty="0"/>
          </a:p>
        </p:txBody>
      </p:sp>
      <p:sp>
        <p:nvSpPr>
          <p:cNvPr id="5" name="Shape 3"/>
          <p:cNvSpPr/>
          <p:nvPr/>
        </p:nvSpPr>
        <p:spPr>
          <a:xfrm>
            <a:off x="658368" y="1627632"/>
            <a:ext cx="5166360" cy="3456432"/>
          </a:xfrm>
          <a:prstGeom prst="roundRect">
            <a:avLst>
              <a:gd name="adj" fmla="val 3704"/>
            </a:avLst>
          </a:prstGeom>
          <a:solidFill>
            <a:srgbClr val="EAF3F8"/>
          </a:solidFill>
          <a:ln w="12700">
            <a:solidFill>
              <a:srgbClr val="EAF3F8"/>
            </a:solidFill>
            <a:prstDash val="solid"/>
          </a:ln>
        </p:spPr>
      </p:sp>
      <p:sp>
        <p:nvSpPr>
          <p:cNvPr id="6" name="Shape 4"/>
          <p:cNvSpPr/>
          <p:nvPr/>
        </p:nvSpPr>
        <p:spPr>
          <a:xfrm>
            <a:off x="960120" y="1901952"/>
            <a:ext cx="658368" cy="658368"/>
          </a:xfrm>
          <a:prstGeom prst="ellipse">
            <a:avLst/>
          </a:prstGeom>
          <a:solidFill>
            <a:srgbClr val="1D6FA5"/>
          </a:solidFill>
          <a:ln w="12700">
            <a:solidFill>
              <a:srgbClr val="1D6FA5"/>
            </a:solidFill>
            <a:prstDash val="solid"/>
          </a:ln>
        </p:spPr>
      </p:sp>
      <p:sp>
        <p:nvSpPr>
          <p:cNvPr id="7" name="Text 5"/>
          <p:cNvSpPr txBox="1"/>
          <p:nvPr/>
        </p:nvSpPr>
        <p:spPr>
          <a:xfrm>
            <a:off x="960120" y="1901952"/>
            <a:ext cx="658368" cy="65836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CSL</a:t>
            </a:r>
            <a:endParaRPr lang="en-US" sz="1200" dirty="0"/>
          </a:p>
        </p:txBody>
      </p:sp>
      <p:sp>
        <p:nvSpPr>
          <p:cNvPr id="8" name="Text 6"/>
          <p:cNvSpPr txBox="1"/>
          <p:nvPr/>
        </p:nvSpPr>
        <p:spPr>
          <a:xfrm>
            <a:off x="1783080" y="1892808"/>
            <a:ext cx="3474720" cy="347472"/>
          </a:xfrm>
          <a:prstGeom prst="rect">
            <a:avLst/>
          </a:prstGeom>
          <a:noFill/>
          <a:ln/>
        </p:spPr>
        <p:txBody>
          <a:bodyPr wrap="square" lIns="0" tIns="0" rIns="0" bIns="0" rtlCol="0" anchor="ctr">
            <a:normAutofit/>
          </a:bodyPr>
          <a:lstStyle/>
          <a:p>
            <a:pPr algn="l" indent="0" marL="0">
              <a:buNone/>
            </a:pPr>
            <a:r>
              <a:rPr lang="en-US" sz="2200" b="1" dirty="0">
                <a:solidFill>
                  <a:srgbClr val="0B1F33"/>
                </a:solidFill>
                <a:latin typeface="Aptos" pitchFamily="34" charset="0"/>
                <a:ea typeface="Aptos" pitchFamily="34" charset="-122"/>
                <a:cs typeface="Aptos" pitchFamily="34" charset="-120"/>
              </a:rPr>
              <a:t>Cycle-service level</a:t>
            </a:r>
            <a:endParaRPr lang="en-US" sz="2200" dirty="0"/>
          </a:p>
        </p:txBody>
      </p:sp>
      <p:sp>
        <p:nvSpPr>
          <p:cNvPr id="9" name="Text 7"/>
          <p:cNvSpPr txBox="1"/>
          <p:nvPr/>
        </p:nvSpPr>
        <p:spPr>
          <a:xfrm>
            <a:off x="960120" y="2514600"/>
            <a:ext cx="4434840" cy="585216"/>
          </a:xfrm>
          <a:prstGeom prst="rect">
            <a:avLst/>
          </a:prstGeom>
          <a:noFill/>
          <a:ln/>
        </p:spPr>
        <p:txBody>
          <a:bodyPr wrap="square" lIns="0" tIns="0" rIns="0" bIns="0" rtlCol="0" anchor="ctr">
            <a:normAutofit/>
          </a:bodyPr>
          <a:lstStyle/>
          <a:p>
            <a:pPr algn="l" indent="0" marL="0">
              <a:buNone/>
            </a:pPr>
            <a:r>
              <a:rPr lang="en-US" sz="1600" dirty="0">
                <a:solidFill>
                  <a:srgbClr val="152433"/>
                </a:solidFill>
                <a:latin typeface="Aptos" pitchFamily="34" charset="0"/>
                <a:ea typeface="Aptos" pitchFamily="34" charset="-122"/>
                <a:cs typeface="Aptos" pitchFamily="34" charset="-120"/>
              </a:rPr>
              <a:t>Probability of no stockout during a replenishment cycle</a:t>
            </a:r>
            <a:endParaRPr lang="en-US" sz="1600" dirty="0"/>
          </a:p>
        </p:txBody>
      </p:sp>
      <p:sp>
        <p:nvSpPr>
          <p:cNvPr id="10" name="Text 8"/>
          <p:cNvSpPr txBox="1"/>
          <p:nvPr/>
        </p:nvSpPr>
        <p:spPr>
          <a:xfrm>
            <a:off x="960120" y="3337560"/>
            <a:ext cx="1508760" cy="274320"/>
          </a:xfrm>
          <a:prstGeom prst="rect">
            <a:avLst/>
          </a:prstGeom>
          <a:noFill/>
          <a:ln/>
        </p:spPr>
        <p:txBody>
          <a:bodyPr wrap="square" lIns="0" tIns="0" rIns="0" bIns="0" rtlCol="0" anchor="ctr">
            <a:normAutofit/>
          </a:bodyPr>
          <a:lstStyle/>
          <a:p>
            <a:pPr algn="l" indent="0" marL="0">
              <a:buNone/>
            </a:pPr>
            <a:r>
              <a:rPr lang="en-US" sz="1200" b="1" dirty="0">
                <a:solidFill>
                  <a:srgbClr val="1D6FA5"/>
                </a:solidFill>
                <a:latin typeface="Aptos" pitchFamily="34" charset="0"/>
                <a:ea typeface="Aptos" pitchFamily="34" charset="-122"/>
                <a:cs typeface="Aptos" pitchFamily="34" charset="-120"/>
              </a:rPr>
              <a:t>Counts cycles</a:t>
            </a:r>
            <a:endParaRPr lang="en-US" sz="1200" dirty="0"/>
          </a:p>
        </p:txBody>
      </p:sp>
      <p:sp>
        <p:nvSpPr>
          <p:cNvPr id="11" name="Text 9"/>
          <p:cNvSpPr txBox="1"/>
          <p:nvPr/>
        </p:nvSpPr>
        <p:spPr>
          <a:xfrm>
            <a:off x="960120" y="3703320"/>
            <a:ext cx="4343400" cy="749808"/>
          </a:xfrm>
          <a:prstGeom prst="rect">
            <a:avLst/>
          </a:prstGeom>
          <a:noFill/>
          <a:ln/>
        </p:spPr>
        <p:txBody>
          <a:bodyPr wrap="square" lIns="0" tIns="0" rIns="0" bIns="0" rtlCol="0" anchor="ctr">
            <a:normAutofit/>
          </a:bodyPr>
          <a:lstStyle/>
          <a:p>
            <a:pPr algn="l" indent="0" marL="0">
              <a:buNone/>
            </a:pPr>
            <a:r>
              <a:rPr lang="en-US" sz="1300" dirty="0">
                <a:solidFill>
                  <a:srgbClr val="6B7785"/>
                </a:solidFill>
                <a:latin typeface="Aptos" pitchFamily="34" charset="0"/>
                <a:ea typeface="Aptos" pitchFamily="34" charset="-122"/>
                <a:cs typeface="Aptos" pitchFamily="34" charset="-120"/>
              </a:rPr>
              <a:t>A cycle missing 1 unit and one missing 1,000 units both count as a stockout cycle.</a:t>
            </a:r>
            <a:endParaRPr lang="en-US" sz="1300" dirty="0"/>
          </a:p>
        </p:txBody>
      </p:sp>
      <p:sp>
        <p:nvSpPr>
          <p:cNvPr id="12" name="Shape 10"/>
          <p:cNvSpPr/>
          <p:nvPr/>
        </p:nvSpPr>
        <p:spPr>
          <a:xfrm>
            <a:off x="6144768" y="1627632"/>
            <a:ext cx="5166360" cy="3456432"/>
          </a:xfrm>
          <a:prstGeom prst="roundRect">
            <a:avLst>
              <a:gd name="adj" fmla="val 3704"/>
            </a:avLst>
          </a:prstGeom>
          <a:solidFill>
            <a:srgbClr val="FFF1E3"/>
          </a:solidFill>
          <a:ln w="12700">
            <a:solidFill>
              <a:srgbClr val="FFF1E3"/>
            </a:solidFill>
            <a:prstDash val="solid"/>
          </a:ln>
        </p:spPr>
      </p:sp>
      <p:sp>
        <p:nvSpPr>
          <p:cNvPr id="13" name="Shape 11"/>
          <p:cNvSpPr/>
          <p:nvPr/>
        </p:nvSpPr>
        <p:spPr>
          <a:xfrm>
            <a:off x="6446520" y="1901952"/>
            <a:ext cx="658368" cy="658368"/>
          </a:xfrm>
          <a:prstGeom prst="ellipse">
            <a:avLst/>
          </a:prstGeom>
          <a:solidFill>
            <a:srgbClr val="F28E2B"/>
          </a:solidFill>
          <a:ln w="12700">
            <a:solidFill>
              <a:srgbClr val="F28E2B"/>
            </a:solidFill>
            <a:prstDash val="solid"/>
          </a:ln>
        </p:spPr>
      </p:sp>
      <p:sp>
        <p:nvSpPr>
          <p:cNvPr id="14" name="Text 12"/>
          <p:cNvSpPr txBox="1"/>
          <p:nvPr/>
        </p:nvSpPr>
        <p:spPr>
          <a:xfrm>
            <a:off x="6446520" y="1901952"/>
            <a:ext cx="658368" cy="65836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FR</a:t>
            </a:r>
            <a:endParaRPr lang="en-US" sz="1500" dirty="0"/>
          </a:p>
        </p:txBody>
      </p:sp>
      <p:sp>
        <p:nvSpPr>
          <p:cNvPr id="15" name="Text 13"/>
          <p:cNvSpPr txBox="1"/>
          <p:nvPr/>
        </p:nvSpPr>
        <p:spPr>
          <a:xfrm>
            <a:off x="7269480" y="1892808"/>
            <a:ext cx="3474720" cy="347472"/>
          </a:xfrm>
          <a:prstGeom prst="rect">
            <a:avLst/>
          </a:prstGeom>
          <a:noFill/>
          <a:ln/>
        </p:spPr>
        <p:txBody>
          <a:bodyPr wrap="square" lIns="0" tIns="0" rIns="0" bIns="0" rtlCol="0" anchor="ctr">
            <a:normAutofit/>
          </a:bodyPr>
          <a:lstStyle/>
          <a:p>
            <a:pPr algn="l" indent="0" marL="0">
              <a:buNone/>
            </a:pPr>
            <a:r>
              <a:rPr lang="en-US" sz="2200" b="1" dirty="0">
                <a:solidFill>
                  <a:srgbClr val="0B1F33"/>
                </a:solidFill>
                <a:latin typeface="Aptos" pitchFamily="34" charset="0"/>
                <a:ea typeface="Aptos" pitchFamily="34" charset="-122"/>
                <a:cs typeface="Aptos" pitchFamily="34" charset="-120"/>
              </a:rPr>
              <a:t>Fill rate</a:t>
            </a:r>
            <a:endParaRPr lang="en-US" sz="2200" dirty="0"/>
          </a:p>
        </p:txBody>
      </p:sp>
      <p:sp>
        <p:nvSpPr>
          <p:cNvPr id="16" name="Text 14"/>
          <p:cNvSpPr txBox="1"/>
          <p:nvPr/>
        </p:nvSpPr>
        <p:spPr>
          <a:xfrm>
            <a:off x="6446520" y="2514600"/>
            <a:ext cx="4434840" cy="585216"/>
          </a:xfrm>
          <a:prstGeom prst="rect">
            <a:avLst/>
          </a:prstGeom>
          <a:noFill/>
          <a:ln/>
        </p:spPr>
        <p:txBody>
          <a:bodyPr wrap="square" lIns="0" tIns="0" rIns="0" bIns="0" rtlCol="0" anchor="ctr">
            <a:normAutofit/>
          </a:bodyPr>
          <a:lstStyle/>
          <a:p>
            <a:pPr algn="l" indent="0" marL="0">
              <a:buNone/>
            </a:pPr>
            <a:r>
              <a:rPr lang="en-US" sz="1600" dirty="0">
                <a:solidFill>
                  <a:srgbClr val="152433"/>
                </a:solidFill>
                <a:latin typeface="Aptos" pitchFamily="34" charset="0"/>
                <a:ea typeface="Aptos" pitchFamily="34" charset="-122"/>
                <a:cs typeface="Aptos" pitchFamily="34" charset="-120"/>
              </a:rPr>
              <a:t>Fraction of unit demand filled immediately from stock</a:t>
            </a:r>
            <a:endParaRPr lang="en-US" sz="1600" dirty="0"/>
          </a:p>
        </p:txBody>
      </p:sp>
      <p:sp>
        <p:nvSpPr>
          <p:cNvPr id="17" name="Text 15"/>
          <p:cNvSpPr txBox="1"/>
          <p:nvPr/>
        </p:nvSpPr>
        <p:spPr>
          <a:xfrm>
            <a:off x="6446520" y="3337560"/>
            <a:ext cx="1508760" cy="274320"/>
          </a:xfrm>
          <a:prstGeom prst="rect">
            <a:avLst/>
          </a:prstGeom>
          <a:noFill/>
          <a:ln/>
        </p:spPr>
        <p:txBody>
          <a:bodyPr wrap="square" lIns="0" tIns="0" rIns="0" bIns="0" rtlCol="0" anchor="ctr">
            <a:normAutofit/>
          </a:bodyPr>
          <a:lstStyle/>
          <a:p>
            <a:pPr algn="l" indent="0" marL="0">
              <a:buNone/>
            </a:pPr>
            <a:r>
              <a:rPr lang="en-US" sz="1200" b="1" dirty="0">
                <a:solidFill>
                  <a:srgbClr val="F28E2B"/>
                </a:solidFill>
                <a:latin typeface="Aptos" pitchFamily="34" charset="0"/>
                <a:ea typeface="Aptos" pitchFamily="34" charset="-122"/>
                <a:cs typeface="Aptos" pitchFamily="34" charset="-120"/>
              </a:rPr>
              <a:t>Counts units</a:t>
            </a:r>
            <a:endParaRPr lang="en-US" sz="1200" dirty="0"/>
          </a:p>
        </p:txBody>
      </p:sp>
      <p:sp>
        <p:nvSpPr>
          <p:cNvPr id="18" name="Text 16"/>
          <p:cNvSpPr txBox="1"/>
          <p:nvPr/>
        </p:nvSpPr>
        <p:spPr>
          <a:xfrm>
            <a:off x="6446520" y="3703320"/>
            <a:ext cx="4343400" cy="749808"/>
          </a:xfrm>
          <a:prstGeom prst="rect">
            <a:avLst/>
          </a:prstGeom>
          <a:noFill/>
          <a:ln/>
        </p:spPr>
        <p:txBody>
          <a:bodyPr wrap="square" lIns="0" tIns="0" rIns="0" bIns="0" rtlCol="0" anchor="ctr">
            <a:normAutofit/>
          </a:bodyPr>
          <a:lstStyle/>
          <a:p>
            <a:pPr algn="l" indent="0" marL="0">
              <a:buNone/>
            </a:pPr>
            <a:r>
              <a:rPr lang="en-US" sz="1300" dirty="0">
                <a:solidFill>
                  <a:srgbClr val="6B7785"/>
                </a:solidFill>
                <a:latin typeface="Aptos" pitchFamily="34" charset="0"/>
                <a:ea typeface="Aptos" pitchFamily="34" charset="-122"/>
                <a:cs typeface="Aptos" pitchFamily="34" charset="-120"/>
              </a:rPr>
              <a:t>Designing to fill rate requires expected shortage quantities—not only a z-table.</a:t>
            </a:r>
            <a:endParaRPr lang="en-US" sz="1300" dirty="0"/>
          </a:p>
        </p:txBody>
      </p:sp>
      <p:sp>
        <p:nvSpPr>
          <p:cNvPr id="19" name="Text 17"/>
          <p:cNvSpPr txBox="1"/>
          <p:nvPr/>
        </p:nvSpPr>
        <p:spPr>
          <a:xfrm>
            <a:off x="749808" y="5404104"/>
            <a:ext cx="10698480" cy="365760"/>
          </a:xfrm>
          <a:prstGeom prst="rect">
            <a:avLst/>
          </a:prstGeom>
          <a:noFill/>
          <a:ln/>
        </p:spPr>
        <p:txBody>
          <a:bodyPr wrap="square" lIns="0" tIns="0" rIns="0" bIns="0" rtlCol="0" anchor="ctr">
            <a:normAutofit/>
          </a:bodyPr>
          <a:lstStyle/>
          <a:p>
            <a:pPr algn="ctr" indent="0" marL="0">
              <a:buNone/>
            </a:pPr>
            <a:r>
              <a:rPr lang="en-US" sz="1800" b="1" dirty="0">
                <a:solidFill>
                  <a:srgbClr val="0B1F33"/>
                </a:solidFill>
                <a:latin typeface="Aptos" pitchFamily="34" charset="0"/>
                <a:ea typeface="Aptos" pitchFamily="34" charset="-122"/>
                <a:cs typeface="Aptos" pitchFamily="34" charset="-120"/>
              </a:rPr>
              <a:t>VOTE  “A 95% CSL means 95% of units are immediately filled.”  TRUE / FALSE</a:t>
            </a:r>
            <a:endParaRPr lang="en-US" sz="1800" dirty="0"/>
          </a:p>
        </p:txBody>
      </p:sp>
      <p:sp>
        <p:nvSpPr>
          <p:cNvPr id="20" name="Shape 18"/>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21" name="Text 19"/>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22" name="Text 20"/>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False: service targets must state what is being protected—cycles, units, orders, lines, or customers.</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COST OF HIGHER SERVICE</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The last few percentage points are increasingly inventory-intensive</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Illustrative Normal-demand safety factor • constant lead-time-demand σ</a:t>
            </a:r>
            <a:endParaRPr lang="en-US" sz="1350" dirty="0"/>
          </a:p>
        </p:txBody>
      </p:sp>
      <p:sp>
        <p:nvSpPr>
          <p:cNvPr id="5" name="Shape 3"/>
          <p:cNvSpPr/>
          <p:nvPr/>
        </p:nvSpPr>
        <p:spPr>
          <a:xfrm>
            <a:off x="822960" y="5532120"/>
            <a:ext cx="7132320" cy="0"/>
          </a:xfrm>
          <a:prstGeom prst="line">
            <a:avLst/>
          </a:prstGeom>
          <a:noFill/>
          <a:ln w="15240">
            <a:solidFill>
              <a:srgbClr val="6B7785"/>
            </a:solidFill>
            <a:prstDash val="solid"/>
            <a:tailEnd type="triangle"/>
          </a:ln>
        </p:spPr>
      </p:sp>
      <p:sp>
        <p:nvSpPr>
          <p:cNvPr id="6" name="Shape 4"/>
          <p:cNvSpPr/>
          <p:nvPr/>
        </p:nvSpPr>
        <p:spPr>
          <a:xfrm>
            <a:off x="822960" y="5532120"/>
            <a:ext cx="0" cy="-3840480"/>
          </a:xfrm>
          <a:prstGeom prst="line">
            <a:avLst/>
          </a:prstGeom>
          <a:noFill/>
          <a:ln w="15240">
            <a:solidFill>
              <a:srgbClr val="6B7785"/>
            </a:solidFill>
            <a:prstDash val="solid"/>
            <a:tailEnd type="triangle"/>
          </a:ln>
        </p:spPr>
      </p:sp>
      <p:sp>
        <p:nvSpPr>
          <p:cNvPr id="7" name="Text 5"/>
          <p:cNvSpPr txBox="1"/>
          <p:nvPr/>
        </p:nvSpPr>
        <p:spPr>
          <a:xfrm>
            <a:off x="6675120" y="5650992"/>
            <a:ext cx="1280160" cy="201168"/>
          </a:xfrm>
          <a:prstGeom prst="rect">
            <a:avLst/>
          </a:prstGeom>
          <a:noFill/>
          <a:ln/>
        </p:spPr>
        <p:txBody>
          <a:bodyPr wrap="square" lIns="0" tIns="0" rIns="0" bIns="0" rtlCol="0" anchor="ctr">
            <a:normAutofit/>
          </a:bodyPr>
          <a:lstStyle/>
          <a:p>
            <a:pPr algn="r" indent="0" marL="0">
              <a:buNone/>
            </a:pPr>
            <a:r>
              <a:rPr lang="en-US" sz="900" dirty="0">
                <a:solidFill>
                  <a:srgbClr val="6B7785"/>
                </a:solidFill>
                <a:latin typeface="Aptos" pitchFamily="34" charset="0"/>
                <a:ea typeface="Aptos" pitchFamily="34" charset="-122"/>
                <a:cs typeface="Aptos" pitchFamily="34" charset="-120"/>
              </a:rPr>
              <a:t>Cycle-service target (%)</a:t>
            </a:r>
            <a:endParaRPr lang="en-US" sz="900" dirty="0"/>
          </a:p>
        </p:txBody>
      </p:sp>
      <p:sp>
        <p:nvSpPr>
          <p:cNvPr id="8" name="Text 6"/>
          <p:cNvSpPr txBox="1"/>
          <p:nvPr/>
        </p:nvSpPr>
        <p:spPr>
          <a:xfrm>
            <a:off x="548640" y="1417320"/>
            <a:ext cx="1554480" cy="201168"/>
          </a:xfrm>
          <a:prstGeom prst="rect">
            <a:avLst/>
          </a:prstGeom>
          <a:noFill/>
          <a:ln/>
        </p:spPr>
        <p:txBody>
          <a:bodyPr wrap="square" lIns="0" tIns="0" rIns="0" bIns="0" rtlCol="0" anchor="ctr">
            <a:normAutofit/>
          </a:bodyPr>
          <a:lstStyle/>
          <a:p>
            <a:pPr algn="l" indent="0" marL="0">
              <a:buNone/>
            </a:pPr>
            <a:r>
              <a:rPr lang="en-US" sz="900" dirty="0">
                <a:solidFill>
                  <a:srgbClr val="6B7785"/>
                </a:solidFill>
                <a:latin typeface="Aptos" pitchFamily="34" charset="0"/>
                <a:ea typeface="Aptos" pitchFamily="34" charset="-122"/>
                <a:cs typeface="Aptos" pitchFamily="34" charset="-120"/>
              </a:rPr>
              <a:t>Safety stock (σ units)</a:t>
            </a:r>
            <a:endParaRPr lang="en-US" sz="900" dirty="0"/>
          </a:p>
        </p:txBody>
      </p:sp>
      <p:sp>
        <p:nvSpPr>
          <p:cNvPr id="9" name="Shape 7"/>
          <p:cNvSpPr/>
          <p:nvPr/>
        </p:nvSpPr>
        <p:spPr>
          <a:xfrm>
            <a:off x="822960" y="4552216"/>
            <a:ext cx="1783080" cy="-225774"/>
          </a:xfrm>
          <a:prstGeom prst="line">
            <a:avLst/>
          </a:prstGeom>
          <a:noFill/>
          <a:ln w="44450">
            <a:solidFill>
              <a:srgbClr val="F28E2B"/>
            </a:solidFill>
            <a:prstDash val="solid"/>
          </a:ln>
        </p:spPr>
      </p:sp>
      <p:sp>
        <p:nvSpPr>
          <p:cNvPr id="10" name="Shape 8"/>
          <p:cNvSpPr/>
          <p:nvPr/>
        </p:nvSpPr>
        <p:spPr>
          <a:xfrm>
            <a:off x="2606040" y="4326442"/>
            <a:ext cx="1783080" cy="-286290"/>
          </a:xfrm>
          <a:prstGeom prst="line">
            <a:avLst/>
          </a:prstGeom>
          <a:noFill/>
          <a:ln w="44450">
            <a:solidFill>
              <a:srgbClr val="F28E2B"/>
            </a:solidFill>
            <a:prstDash val="solid"/>
          </a:ln>
        </p:spPr>
      </p:sp>
      <p:sp>
        <p:nvSpPr>
          <p:cNvPr id="11" name="Shape 9"/>
          <p:cNvSpPr/>
          <p:nvPr/>
        </p:nvSpPr>
        <p:spPr>
          <a:xfrm>
            <a:off x="4389120" y="4040152"/>
            <a:ext cx="1783080" cy="-422453"/>
          </a:xfrm>
          <a:prstGeom prst="line">
            <a:avLst/>
          </a:prstGeom>
          <a:noFill/>
          <a:ln w="44450">
            <a:solidFill>
              <a:srgbClr val="F28E2B"/>
            </a:solidFill>
            <a:prstDash val="solid"/>
          </a:ln>
        </p:spPr>
      </p:sp>
      <p:sp>
        <p:nvSpPr>
          <p:cNvPr id="12" name="Shape 10"/>
          <p:cNvSpPr/>
          <p:nvPr/>
        </p:nvSpPr>
        <p:spPr>
          <a:xfrm>
            <a:off x="6172200" y="3617699"/>
            <a:ext cx="891540" cy="-366591"/>
          </a:xfrm>
          <a:prstGeom prst="line">
            <a:avLst/>
          </a:prstGeom>
          <a:noFill/>
          <a:ln w="44450">
            <a:solidFill>
              <a:srgbClr val="F28E2B"/>
            </a:solidFill>
            <a:prstDash val="solid"/>
          </a:ln>
        </p:spPr>
      </p:sp>
      <p:sp>
        <p:nvSpPr>
          <p:cNvPr id="13" name="Shape 11"/>
          <p:cNvSpPr/>
          <p:nvPr/>
        </p:nvSpPr>
        <p:spPr>
          <a:xfrm>
            <a:off x="7063740" y="3251108"/>
            <a:ext cx="534924" cy="-425944"/>
          </a:xfrm>
          <a:prstGeom prst="line">
            <a:avLst/>
          </a:prstGeom>
          <a:noFill/>
          <a:ln w="44450">
            <a:solidFill>
              <a:srgbClr val="F28E2B"/>
            </a:solidFill>
            <a:prstDash val="solid"/>
          </a:ln>
        </p:spPr>
      </p:sp>
      <p:sp>
        <p:nvSpPr>
          <p:cNvPr id="14" name="Shape 12"/>
          <p:cNvSpPr/>
          <p:nvPr/>
        </p:nvSpPr>
        <p:spPr>
          <a:xfrm>
            <a:off x="7598664" y="2825163"/>
            <a:ext cx="178308" cy="-290945"/>
          </a:xfrm>
          <a:prstGeom prst="line">
            <a:avLst/>
          </a:prstGeom>
          <a:noFill/>
          <a:ln w="44450">
            <a:solidFill>
              <a:srgbClr val="F28E2B"/>
            </a:solidFill>
            <a:prstDash val="solid"/>
          </a:ln>
        </p:spPr>
      </p:sp>
      <p:sp>
        <p:nvSpPr>
          <p:cNvPr id="15" name="Shape 13"/>
          <p:cNvSpPr/>
          <p:nvPr/>
        </p:nvSpPr>
        <p:spPr>
          <a:xfrm>
            <a:off x="7776972" y="2534218"/>
            <a:ext cx="142646" cy="-598184"/>
          </a:xfrm>
          <a:prstGeom prst="line">
            <a:avLst/>
          </a:prstGeom>
          <a:noFill/>
          <a:ln w="44450">
            <a:solidFill>
              <a:srgbClr val="F28E2B"/>
            </a:solidFill>
            <a:prstDash val="solid"/>
          </a:ln>
        </p:spPr>
      </p:sp>
      <p:sp>
        <p:nvSpPr>
          <p:cNvPr id="16" name="Shape 14"/>
          <p:cNvSpPr/>
          <p:nvPr/>
        </p:nvSpPr>
        <p:spPr>
          <a:xfrm>
            <a:off x="777240" y="4506496"/>
            <a:ext cx="91440" cy="91440"/>
          </a:xfrm>
          <a:prstGeom prst="ellipse">
            <a:avLst/>
          </a:prstGeom>
          <a:solidFill>
            <a:srgbClr val="F28E2B"/>
          </a:solidFill>
          <a:ln w="12700">
            <a:solidFill>
              <a:srgbClr val="F28E2B"/>
            </a:solidFill>
            <a:prstDash val="solid"/>
          </a:ln>
        </p:spPr>
      </p:sp>
      <p:sp>
        <p:nvSpPr>
          <p:cNvPr id="17" name="Shape 15"/>
          <p:cNvSpPr/>
          <p:nvPr/>
        </p:nvSpPr>
        <p:spPr>
          <a:xfrm>
            <a:off x="2560320" y="4280722"/>
            <a:ext cx="91440" cy="91440"/>
          </a:xfrm>
          <a:prstGeom prst="ellipse">
            <a:avLst/>
          </a:prstGeom>
          <a:solidFill>
            <a:srgbClr val="F28E2B"/>
          </a:solidFill>
          <a:ln w="12700">
            <a:solidFill>
              <a:srgbClr val="F28E2B"/>
            </a:solidFill>
            <a:prstDash val="solid"/>
          </a:ln>
        </p:spPr>
      </p:sp>
      <p:sp>
        <p:nvSpPr>
          <p:cNvPr id="18" name="Shape 16"/>
          <p:cNvSpPr/>
          <p:nvPr/>
        </p:nvSpPr>
        <p:spPr>
          <a:xfrm>
            <a:off x="4343400" y="3994432"/>
            <a:ext cx="91440" cy="91440"/>
          </a:xfrm>
          <a:prstGeom prst="ellipse">
            <a:avLst/>
          </a:prstGeom>
          <a:solidFill>
            <a:srgbClr val="F28E2B"/>
          </a:solidFill>
          <a:ln w="12700">
            <a:solidFill>
              <a:srgbClr val="F28E2B"/>
            </a:solidFill>
            <a:prstDash val="solid"/>
          </a:ln>
        </p:spPr>
      </p:sp>
      <p:sp>
        <p:nvSpPr>
          <p:cNvPr id="19" name="Shape 17"/>
          <p:cNvSpPr/>
          <p:nvPr/>
        </p:nvSpPr>
        <p:spPr>
          <a:xfrm>
            <a:off x="6126480" y="3571979"/>
            <a:ext cx="91440" cy="91440"/>
          </a:xfrm>
          <a:prstGeom prst="ellipse">
            <a:avLst/>
          </a:prstGeom>
          <a:solidFill>
            <a:srgbClr val="F28E2B"/>
          </a:solidFill>
          <a:ln w="12700">
            <a:solidFill>
              <a:srgbClr val="F28E2B"/>
            </a:solidFill>
            <a:prstDash val="solid"/>
          </a:ln>
        </p:spPr>
      </p:sp>
      <p:sp>
        <p:nvSpPr>
          <p:cNvPr id="20" name="Shape 18"/>
          <p:cNvSpPr/>
          <p:nvPr/>
        </p:nvSpPr>
        <p:spPr>
          <a:xfrm>
            <a:off x="7018020" y="3205388"/>
            <a:ext cx="91440" cy="91440"/>
          </a:xfrm>
          <a:prstGeom prst="ellipse">
            <a:avLst/>
          </a:prstGeom>
          <a:solidFill>
            <a:srgbClr val="F28E2B"/>
          </a:solidFill>
          <a:ln w="12700">
            <a:solidFill>
              <a:srgbClr val="F28E2B"/>
            </a:solidFill>
            <a:prstDash val="solid"/>
          </a:ln>
        </p:spPr>
      </p:sp>
      <p:sp>
        <p:nvSpPr>
          <p:cNvPr id="21" name="Shape 19"/>
          <p:cNvSpPr/>
          <p:nvPr/>
        </p:nvSpPr>
        <p:spPr>
          <a:xfrm>
            <a:off x="7552944" y="2779443"/>
            <a:ext cx="91440" cy="91440"/>
          </a:xfrm>
          <a:prstGeom prst="ellipse">
            <a:avLst/>
          </a:prstGeom>
          <a:solidFill>
            <a:srgbClr val="D1495B"/>
          </a:solidFill>
          <a:ln w="12700">
            <a:solidFill>
              <a:srgbClr val="D1495B"/>
            </a:solidFill>
            <a:prstDash val="solid"/>
          </a:ln>
        </p:spPr>
      </p:sp>
      <p:sp>
        <p:nvSpPr>
          <p:cNvPr id="22" name="Shape 20"/>
          <p:cNvSpPr/>
          <p:nvPr/>
        </p:nvSpPr>
        <p:spPr>
          <a:xfrm>
            <a:off x="7731252" y="2488498"/>
            <a:ext cx="91440" cy="91440"/>
          </a:xfrm>
          <a:prstGeom prst="ellipse">
            <a:avLst/>
          </a:prstGeom>
          <a:solidFill>
            <a:srgbClr val="D1495B"/>
          </a:solidFill>
          <a:ln w="12700">
            <a:solidFill>
              <a:srgbClr val="D1495B"/>
            </a:solidFill>
            <a:prstDash val="solid"/>
          </a:ln>
        </p:spPr>
      </p:sp>
      <p:sp>
        <p:nvSpPr>
          <p:cNvPr id="23" name="Shape 21"/>
          <p:cNvSpPr/>
          <p:nvPr/>
        </p:nvSpPr>
        <p:spPr>
          <a:xfrm>
            <a:off x="7873898" y="1890314"/>
            <a:ext cx="91440" cy="91440"/>
          </a:xfrm>
          <a:prstGeom prst="ellipse">
            <a:avLst/>
          </a:prstGeom>
          <a:solidFill>
            <a:srgbClr val="D1495B"/>
          </a:solidFill>
          <a:ln w="12700">
            <a:solidFill>
              <a:srgbClr val="D1495B"/>
            </a:solidFill>
            <a:prstDash val="solid"/>
          </a:ln>
        </p:spPr>
      </p:sp>
      <p:sp>
        <p:nvSpPr>
          <p:cNvPr id="24" name="Text 22"/>
          <p:cNvSpPr txBox="1"/>
          <p:nvPr/>
        </p:nvSpPr>
        <p:spPr>
          <a:xfrm>
            <a:off x="640080" y="5596128"/>
            <a:ext cx="365760" cy="182880"/>
          </a:xfrm>
          <a:prstGeom prst="rect">
            <a:avLst/>
          </a:prstGeom>
          <a:noFill/>
          <a:ln/>
        </p:spPr>
        <p:txBody>
          <a:bodyPr wrap="square" lIns="0" tIns="0" rIns="0" bIns="0" rtlCol="0" anchor="ctr">
            <a:normAutofit/>
          </a:bodyPr>
          <a:lstStyle/>
          <a:p>
            <a:pPr algn="ctr" indent="0" marL="0">
              <a:buNone/>
            </a:pPr>
            <a:r>
              <a:rPr lang="en-US" sz="800" dirty="0">
                <a:solidFill>
                  <a:srgbClr val="6B7785"/>
                </a:solidFill>
                <a:latin typeface="Aptos" pitchFamily="34" charset="0"/>
                <a:ea typeface="Aptos" pitchFamily="34" charset="-122"/>
                <a:cs typeface="Aptos" pitchFamily="34" charset="-120"/>
              </a:rPr>
              <a:t>80</a:t>
            </a:r>
            <a:endParaRPr lang="en-US" sz="800" dirty="0"/>
          </a:p>
        </p:txBody>
      </p:sp>
      <p:sp>
        <p:nvSpPr>
          <p:cNvPr id="25" name="Text 23"/>
          <p:cNvSpPr txBox="1"/>
          <p:nvPr/>
        </p:nvSpPr>
        <p:spPr>
          <a:xfrm>
            <a:off x="4206240" y="5596128"/>
            <a:ext cx="365760" cy="182880"/>
          </a:xfrm>
          <a:prstGeom prst="rect">
            <a:avLst/>
          </a:prstGeom>
          <a:noFill/>
          <a:ln/>
        </p:spPr>
        <p:txBody>
          <a:bodyPr wrap="square" lIns="0" tIns="0" rIns="0" bIns="0" rtlCol="0" anchor="ctr">
            <a:normAutofit/>
          </a:bodyPr>
          <a:lstStyle/>
          <a:p>
            <a:pPr algn="ctr" indent="0" marL="0">
              <a:buNone/>
            </a:pPr>
            <a:r>
              <a:rPr lang="en-US" sz="800" dirty="0">
                <a:solidFill>
                  <a:srgbClr val="6B7785"/>
                </a:solidFill>
                <a:latin typeface="Aptos" pitchFamily="34" charset="0"/>
                <a:ea typeface="Aptos" pitchFamily="34" charset="-122"/>
                <a:cs typeface="Aptos" pitchFamily="34" charset="-120"/>
              </a:rPr>
              <a:t>90</a:t>
            </a:r>
            <a:endParaRPr lang="en-US" sz="800" dirty="0"/>
          </a:p>
        </p:txBody>
      </p:sp>
      <p:sp>
        <p:nvSpPr>
          <p:cNvPr id="26" name="Text 24"/>
          <p:cNvSpPr txBox="1"/>
          <p:nvPr/>
        </p:nvSpPr>
        <p:spPr>
          <a:xfrm>
            <a:off x="5989320" y="5596128"/>
            <a:ext cx="365760" cy="182880"/>
          </a:xfrm>
          <a:prstGeom prst="rect">
            <a:avLst/>
          </a:prstGeom>
          <a:noFill/>
          <a:ln/>
        </p:spPr>
        <p:txBody>
          <a:bodyPr wrap="square" lIns="0" tIns="0" rIns="0" bIns="0" rtlCol="0" anchor="ctr">
            <a:normAutofit/>
          </a:bodyPr>
          <a:lstStyle/>
          <a:p>
            <a:pPr algn="ctr" indent="0" marL="0">
              <a:buNone/>
            </a:pPr>
            <a:r>
              <a:rPr lang="en-US" sz="800" dirty="0">
                <a:solidFill>
                  <a:srgbClr val="6B7785"/>
                </a:solidFill>
                <a:latin typeface="Aptos" pitchFamily="34" charset="0"/>
                <a:ea typeface="Aptos" pitchFamily="34" charset="-122"/>
                <a:cs typeface="Aptos" pitchFamily="34" charset="-120"/>
              </a:rPr>
              <a:t>95</a:t>
            </a:r>
            <a:endParaRPr lang="en-US" sz="800" dirty="0"/>
          </a:p>
        </p:txBody>
      </p:sp>
      <p:sp>
        <p:nvSpPr>
          <p:cNvPr id="27" name="Text 25"/>
          <p:cNvSpPr txBox="1"/>
          <p:nvPr/>
        </p:nvSpPr>
        <p:spPr>
          <a:xfrm>
            <a:off x="7415784" y="5596128"/>
            <a:ext cx="365760" cy="182880"/>
          </a:xfrm>
          <a:prstGeom prst="rect">
            <a:avLst/>
          </a:prstGeom>
          <a:noFill/>
          <a:ln/>
        </p:spPr>
        <p:txBody>
          <a:bodyPr wrap="square" lIns="0" tIns="0" rIns="0" bIns="0" rtlCol="0" anchor="ctr">
            <a:normAutofit/>
          </a:bodyPr>
          <a:lstStyle/>
          <a:p>
            <a:pPr algn="ctr" indent="0" marL="0">
              <a:buNone/>
            </a:pPr>
            <a:r>
              <a:rPr lang="en-US" sz="800" dirty="0">
                <a:solidFill>
                  <a:srgbClr val="6B7785"/>
                </a:solidFill>
                <a:latin typeface="Aptos" pitchFamily="34" charset="0"/>
                <a:ea typeface="Aptos" pitchFamily="34" charset="-122"/>
                <a:cs typeface="Aptos" pitchFamily="34" charset="-120"/>
              </a:rPr>
              <a:t>99</a:t>
            </a:r>
            <a:endParaRPr lang="en-US" sz="800" dirty="0"/>
          </a:p>
        </p:txBody>
      </p:sp>
      <p:sp>
        <p:nvSpPr>
          <p:cNvPr id="28" name="Text 26"/>
          <p:cNvSpPr txBox="1"/>
          <p:nvPr/>
        </p:nvSpPr>
        <p:spPr>
          <a:xfrm>
            <a:off x="7772400" y="5596128"/>
            <a:ext cx="365760" cy="182880"/>
          </a:xfrm>
          <a:prstGeom prst="rect">
            <a:avLst/>
          </a:prstGeom>
          <a:noFill/>
          <a:ln/>
        </p:spPr>
        <p:txBody>
          <a:bodyPr wrap="square" lIns="0" tIns="0" rIns="0" bIns="0" rtlCol="0" anchor="ctr">
            <a:normAutofit/>
          </a:bodyPr>
          <a:lstStyle/>
          <a:p>
            <a:pPr algn="ctr" indent="0" marL="0">
              <a:buNone/>
            </a:pPr>
            <a:r>
              <a:rPr lang="en-US" sz="800" dirty="0">
                <a:solidFill>
                  <a:srgbClr val="6B7785"/>
                </a:solidFill>
                <a:latin typeface="Aptos" pitchFamily="34" charset="0"/>
                <a:ea typeface="Aptos" pitchFamily="34" charset="-122"/>
                <a:cs typeface="Aptos" pitchFamily="34" charset="-120"/>
              </a:rPr>
              <a:t>100</a:t>
            </a:r>
            <a:endParaRPr lang="en-US" sz="800" dirty="0"/>
          </a:p>
        </p:txBody>
      </p:sp>
      <p:sp>
        <p:nvSpPr>
          <p:cNvPr id="29" name="Shape 27"/>
          <p:cNvSpPr/>
          <p:nvPr/>
        </p:nvSpPr>
        <p:spPr>
          <a:xfrm>
            <a:off x="6172200" y="5532120"/>
            <a:ext cx="0" cy="-1914421"/>
          </a:xfrm>
          <a:prstGeom prst="line">
            <a:avLst/>
          </a:prstGeom>
          <a:noFill/>
          <a:ln w="12700">
            <a:solidFill>
              <a:srgbClr val="1D6FA5"/>
            </a:solidFill>
            <a:prstDash val="dash"/>
          </a:ln>
        </p:spPr>
      </p:sp>
      <p:sp>
        <p:nvSpPr>
          <p:cNvPr id="30" name="Shape 28"/>
          <p:cNvSpPr/>
          <p:nvPr/>
        </p:nvSpPr>
        <p:spPr>
          <a:xfrm>
            <a:off x="7598664" y="5532120"/>
            <a:ext cx="0" cy="-2706957"/>
          </a:xfrm>
          <a:prstGeom prst="line">
            <a:avLst/>
          </a:prstGeom>
          <a:noFill/>
          <a:ln w="12700">
            <a:solidFill>
              <a:srgbClr val="D1495B"/>
            </a:solidFill>
            <a:prstDash val="dash"/>
          </a:ln>
        </p:spPr>
      </p:sp>
      <p:sp>
        <p:nvSpPr>
          <p:cNvPr id="31" name="Shape 29"/>
          <p:cNvSpPr/>
          <p:nvPr/>
        </p:nvSpPr>
        <p:spPr>
          <a:xfrm>
            <a:off x="8366760" y="1691640"/>
            <a:ext cx="3017520" cy="3611880"/>
          </a:xfrm>
          <a:prstGeom prst="roundRect">
            <a:avLst>
              <a:gd name="adj" fmla="val 3636"/>
            </a:avLst>
          </a:prstGeom>
          <a:solidFill>
            <a:srgbClr val="FFFFFF"/>
          </a:solidFill>
          <a:ln w="12700">
            <a:solidFill>
              <a:srgbClr val="E8EDF2"/>
            </a:solidFill>
            <a:prstDash val="solid"/>
          </a:ln>
        </p:spPr>
      </p:sp>
      <p:sp>
        <p:nvSpPr>
          <p:cNvPr id="32" name="Text 30"/>
          <p:cNvSpPr txBox="1"/>
          <p:nvPr/>
        </p:nvSpPr>
        <p:spPr>
          <a:xfrm>
            <a:off x="8668512" y="1965960"/>
            <a:ext cx="2423160" cy="438912"/>
          </a:xfrm>
          <a:prstGeom prst="rect">
            <a:avLst/>
          </a:prstGeom>
          <a:noFill/>
          <a:ln/>
        </p:spPr>
        <p:txBody>
          <a:bodyPr wrap="square" lIns="0" tIns="0" rIns="0" bIns="0" rtlCol="0" anchor="ctr">
            <a:normAutofit/>
          </a:bodyPr>
          <a:lstStyle/>
          <a:p>
            <a:pPr algn="ctr" indent="0" marL="0">
              <a:buNone/>
            </a:pPr>
            <a:r>
              <a:rPr lang="en-US" sz="2500" b="1" dirty="0">
                <a:solidFill>
                  <a:srgbClr val="0B1F33"/>
                </a:solidFill>
                <a:latin typeface="Aptos" pitchFamily="34" charset="0"/>
                <a:ea typeface="Aptos" pitchFamily="34" charset="-122"/>
                <a:cs typeface="Aptos" pitchFamily="34" charset="-120"/>
              </a:rPr>
              <a:t>95% → 99%</a:t>
            </a:r>
            <a:endParaRPr lang="en-US" sz="2500" dirty="0"/>
          </a:p>
        </p:txBody>
      </p:sp>
      <p:sp>
        <p:nvSpPr>
          <p:cNvPr id="33" name="Text 31"/>
          <p:cNvSpPr txBox="1"/>
          <p:nvPr/>
        </p:nvSpPr>
        <p:spPr>
          <a:xfrm>
            <a:off x="8668512" y="2670048"/>
            <a:ext cx="1005840" cy="256032"/>
          </a:xfrm>
          <a:prstGeom prst="rect">
            <a:avLst/>
          </a:prstGeom>
          <a:noFill/>
          <a:ln/>
        </p:spPr>
        <p:txBody>
          <a:bodyPr wrap="square" lIns="0" tIns="0" rIns="0" bIns="0" rtlCol="0" anchor="ctr">
            <a:normAutofit/>
          </a:bodyPr>
          <a:lstStyle/>
          <a:p>
            <a:pPr algn="l" indent="0" marL="0">
              <a:buNone/>
            </a:pPr>
            <a:r>
              <a:rPr lang="en-US" sz="1100" dirty="0">
                <a:solidFill>
                  <a:srgbClr val="6B7785"/>
                </a:solidFill>
                <a:latin typeface="Aptos" pitchFamily="34" charset="0"/>
                <a:ea typeface="Aptos" pitchFamily="34" charset="-122"/>
                <a:cs typeface="Aptos" pitchFamily="34" charset="-120"/>
              </a:rPr>
              <a:t>z rises</a:t>
            </a:r>
            <a:endParaRPr lang="en-US" sz="1100" dirty="0"/>
          </a:p>
        </p:txBody>
      </p:sp>
      <p:sp>
        <p:nvSpPr>
          <p:cNvPr id="34" name="Text 32"/>
          <p:cNvSpPr txBox="1"/>
          <p:nvPr/>
        </p:nvSpPr>
        <p:spPr>
          <a:xfrm>
            <a:off x="9582912" y="2615184"/>
            <a:ext cx="1353312" cy="347472"/>
          </a:xfrm>
          <a:prstGeom prst="rect">
            <a:avLst/>
          </a:prstGeom>
          <a:noFill/>
          <a:ln/>
        </p:spPr>
        <p:txBody>
          <a:bodyPr wrap="square" lIns="0" tIns="0" rIns="0" bIns="0" rtlCol="0" anchor="ctr">
            <a:normAutofit/>
          </a:bodyPr>
          <a:lstStyle/>
          <a:p>
            <a:pPr algn="r" indent="0" marL="0">
              <a:buNone/>
            </a:pPr>
            <a:r>
              <a:rPr lang="en-US" sz="1600" b="1" dirty="0">
                <a:solidFill>
                  <a:srgbClr val="F28E2B"/>
                </a:solidFill>
                <a:latin typeface="Aptos" pitchFamily="34" charset="0"/>
                <a:ea typeface="Aptos" pitchFamily="34" charset="-122"/>
                <a:cs typeface="Aptos" pitchFamily="34" charset="-120"/>
              </a:rPr>
              <a:t>1.645 → 2.326</a:t>
            </a:r>
            <a:endParaRPr lang="en-US" sz="1600" dirty="0"/>
          </a:p>
        </p:txBody>
      </p:sp>
      <p:sp>
        <p:nvSpPr>
          <p:cNvPr id="35" name="Text 33"/>
          <p:cNvSpPr txBox="1"/>
          <p:nvPr/>
        </p:nvSpPr>
        <p:spPr>
          <a:xfrm>
            <a:off x="8668512" y="3310128"/>
            <a:ext cx="1508760" cy="256032"/>
          </a:xfrm>
          <a:prstGeom prst="rect">
            <a:avLst/>
          </a:prstGeom>
          <a:noFill/>
          <a:ln/>
        </p:spPr>
        <p:txBody>
          <a:bodyPr wrap="square" lIns="0" tIns="0" rIns="0" bIns="0" rtlCol="0" anchor="ctr">
            <a:normAutofit/>
          </a:bodyPr>
          <a:lstStyle/>
          <a:p>
            <a:pPr algn="l" indent="0" marL="0">
              <a:buNone/>
            </a:pPr>
            <a:r>
              <a:rPr lang="en-US" sz="1100" dirty="0">
                <a:solidFill>
                  <a:srgbClr val="6B7785"/>
                </a:solidFill>
                <a:latin typeface="Aptos" pitchFamily="34" charset="0"/>
                <a:ea typeface="Aptos" pitchFamily="34" charset="-122"/>
                <a:cs typeface="Aptos" pitchFamily="34" charset="-120"/>
              </a:rPr>
              <a:t>Safety stock rises</a:t>
            </a:r>
            <a:endParaRPr lang="en-US" sz="1100" dirty="0"/>
          </a:p>
        </p:txBody>
      </p:sp>
      <p:sp>
        <p:nvSpPr>
          <p:cNvPr id="36" name="Text 34"/>
          <p:cNvSpPr txBox="1"/>
          <p:nvPr/>
        </p:nvSpPr>
        <p:spPr>
          <a:xfrm>
            <a:off x="9966960" y="3246120"/>
            <a:ext cx="1005840" cy="347472"/>
          </a:xfrm>
          <a:prstGeom prst="rect">
            <a:avLst/>
          </a:prstGeom>
          <a:noFill/>
          <a:ln/>
        </p:spPr>
        <p:txBody>
          <a:bodyPr wrap="square" lIns="0" tIns="0" rIns="0" bIns="0" rtlCol="0" anchor="ctr">
            <a:normAutofit/>
          </a:bodyPr>
          <a:lstStyle/>
          <a:p>
            <a:pPr algn="r" indent="0" marL="0">
              <a:buNone/>
            </a:pPr>
            <a:r>
              <a:rPr lang="en-US" sz="1800" b="1" dirty="0">
                <a:solidFill>
                  <a:srgbClr val="D1495B"/>
                </a:solidFill>
                <a:latin typeface="Aptos" pitchFamily="34" charset="0"/>
                <a:ea typeface="Aptos" pitchFamily="34" charset="-122"/>
                <a:cs typeface="Aptos" pitchFamily="34" charset="-120"/>
              </a:rPr>
              <a:t>≈ 41%</a:t>
            </a:r>
            <a:endParaRPr lang="en-US" sz="1800" dirty="0"/>
          </a:p>
        </p:txBody>
      </p:sp>
      <p:sp>
        <p:nvSpPr>
          <p:cNvPr id="37" name="Text 35"/>
          <p:cNvSpPr txBox="1"/>
          <p:nvPr/>
        </p:nvSpPr>
        <p:spPr>
          <a:xfrm>
            <a:off x="8668512" y="3794760"/>
            <a:ext cx="2194560" cy="228600"/>
          </a:xfrm>
          <a:prstGeom prst="rect">
            <a:avLst/>
          </a:prstGeom>
          <a:noFill/>
          <a:ln/>
        </p:spPr>
        <p:txBody>
          <a:bodyPr wrap="square" lIns="0" tIns="0" rIns="0" bIns="0" rtlCol="0" anchor="ctr">
            <a:normAutofit/>
          </a:bodyPr>
          <a:lstStyle/>
          <a:p>
            <a:pPr algn="l" indent="0" marL="0">
              <a:buNone/>
            </a:pPr>
            <a:r>
              <a:rPr lang="en-US" sz="1000" dirty="0">
                <a:solidFill>
                  <a:srgbClr val="6B7785"/>
                </a:solidFill>
                <a:latin typeface="Aptos" pitchFamily="34" charset="0"/>
                <a:ea typeface="Aptos" pitchFamily="34" charset="-122"/>
                <a:cs typeface="Aptos" pitchFamily="34" charset="-120"/>
              </a:rPr>
              <a:t>when σ is unchanged</a:t>
            </a:r>
            <a:endParaRPr lang="en-US" sz="1000" dirty="0"/>
          </a:p>
        </p:txBody>
      </p:sp>
      <p:sp>
        <p:nvSpPr>
          <p:cNvPr id="38" name="Text 36"/>
          <p:cNvSpPr txBox="1"/>
          <p:nvPr/>
        </p:nvSpPr>
        <p:spPr>
          <a:xfrm>
            <a:off x="8668512" y="4315968"/>
            <a:ext cx="2240280" cy="621792"/>
          </a:xfrm>
          <a:prstGeom prst="rect">
            <a:avLst/>
          </a:prstGeom>
          <a:noFill/>
          <a:ln/>
        </p:spPr>
        <p:txBody>
          <a:bodyPr wrap="square" lIns="0" tIns="0" rIns="0" bIns="0" rtlCol="0" anchor="ctr">
            <a:normAutofit/>
          </a:bodyPr>
          <a:lstStyle/>
          <a:p>
            <a:pPr algn="ctr" indent="0" marL="0">
              <a:buNone/>
            </a:pPr>
            <a:r>
              <a:rPr lang="en-US" sz="1250" b="1" dirty="0">
                <a:solidFill>
                  <a:srgbClr val="0B1F33"/>
                </a:solidFill>
                <a:latin typeface="Aptos" pitchFamily="34" charset="0"/>
                <a:ea typeface="Aptos" pitchFamily="34" charset="-122"/>
                <a:cs typeface="Aptos" pitchFamily="34" charset="-120"/>
              </a:rPr>
              <a:t>Service should reflect margin, substitution, criticality, and shortage consequences.</a:t>
            </a:r>
            <a:endParaRPr lang="en-US" sz="1250" dirty="0"/>
          </a:p>
        </p:txBody>
      </p:sp>
      <p:sp>
        <p:nvSpPr>
          <p:cNvPr id="39" name="Shape 37"/>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40" name="Text 38"/>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41" name="Text 39"/>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Moving from 95% to 99% CSL requires about 41% more safety stock under the stated Normal assumptions.</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94360" y="502920"/>
            <a:ext cx="1097280" cy="502920"/>
          </a:xfrm>
          <a:prstGeom prst="rect">
            <a:avLst/>
          </a:prstGeom>
          <a:noFill/>
          <a:ln/>
        </p:spPr>
        <p:txBody>
          <a:bodyPr wrap="square" lIns="0" tIns="0" rIns="0" bIns="0" rtlCol="0" anchor="ctr">
            <a:normAutofit/>
          </a:bodyPr>
          <a:lstStyle/>
          <a:p>
            <a:pPr algn="l" indent="0" marL="0">
              <a:buNone/>
            </a:pPr>
            <a:r>
              <a:rPr lang="en-US" sz="4200" b="1" dirty="0">
                <a:solidFill>
                  <a:srgbClr val="F28E2B"/>
                </a:solidFill>
                <a:latin typeface="Aptos" pitchFamily="34" charset="0"/>
                <a:ea typeface="Aptos" pitchFamily="34" charset="-122"/>
                <a:cs typeface="Aptos" pitchFamily="34" charset="-120"/>
              </a:rPr>
              <a:t>05</a:t>
            </a:r>
            <a:endParaRPr lang="en-US" sz="4200" dirty="0"/>
          </a:p>
        </p:txBody>
      </p:sp>
      <p:sp>
        <p:nvSpPr>
          <p:cNvPr id="3" name="Text 1"/>
          <p:cNvSpPr txBox="1"/>
          <p:nvPr/>
        </p:nvSpPr>
        <p:spPr>
          <a:xfrm>
            <a:off x="594360" y="1371600"/>
            <a:ext cx="7863840" cy="1143000"/>
          </a:xfrm>
          <a:prstGeom prst="rect">
            <a:avLst/>
          </a:prstGeom>
          <a:noFill/>
          <a:ln/>
        </p:spPr>
        <p:txBody>
          <a:bodyPr wrap="square" lIns="0" tIns="0" rIns="0" bIns="0" rtlCol="0" anchor="ctr">
            <a:normAutofit/>
          </a:bodyPr>
          <a:lstStyle/>
          <a:p>
            <a:pPr algn="l" indent="0" marL="0">
              <a:buNone/>
            </a:pPr>
            <a:r>
              <a:rPr lang="en-US" sz="3600" b="1" dirty="0">
                <a:solidFill>
                  <a:srgbClr val="FFFFFF"/>
                </a:solidFill>
                <a:latin typeface="Aptos" pitchFamily="34" charset="0"/>
                <a:ea typeface="Aptos" pitchFamily="34" charset="-122"/>
                <a:cs typeface="Aptos" pitchFamily="34" charset="-120"/>
              </a:rPr>
              <a:t>Where should protection sit?</a:t>
            </a:r>
            <a:endParaRPr lang="en-US" sz="3600" dirty="0"/>
          </a:p>
        </p:txBody>
      </p:sp>
      <p:sp>
        <p:nvSpPr>
          <p:cNvPr id="4" name="Text 2"/>
          <p:cNvSpPr txBox="1"/>
          <p:nvPr/>
        </p:nvSpPr>
        <p:spPr>
          <a:xfrm>
            <a:off x="612648" y="2697480"/>
            <a:ext cx="6766560" cy="685800"/>
          </a:xfrm>
          <a:prstGeom prst="rect">
            <a:avLst/>
          </a:prstGeom>
          <a:noFill/>
          <a:ln/>
        </p:spPr>
        <p:txBody>
          <a:bodyPr wrap="square" lIns="0" tIns="0" rIns="0" bIns="0" rtlCol="0" anchor="ctr">
            <a:normAutofit/>
          </a:bodyPr>
          <a:lstStyle/>
          <a:p>
            <a:pPr algn="l" indent="0" marL="0">
              <a:buNone/>
            </a:pPr>
            <a:r>
              <a:rPr lang="en-US" sz="1700" dirty="0">
                <a:solidFill>
                  <a:srgbClr val="C9D6E1"/>
                </a:solidFill>
                <a:latin typeface="Aptos" pitchFamily="34" charset="0"/>
                <a:ea typeface="Aptos" pitchFamily="34" charset="-122"/>
                <a:cs typeface="Aptos" pitchFamily="34" charset="-120"/>
              </a:rPr>
              <a:t>Multi-echelon inventory, centralization, and the limits of risk pooling</a:t>
            </a:r>
            <a:endParaRPr lang="en-US" sz="1700" dirty="0"/>
          </a:p>
        </p:txBody>
      </p:sp>
      <p:sp>
        <p:nvSpPr>
          <p:cNvPr id="5" name="Shape 3"/>
          <p:cNvSpPr/>
          <p:nvPr/>
        </p:nvSpPr>
        <p:spPr>
          <a:xfrm>
            <a:off x="612648" y="3749040"/>
            <a:ext cx="1371600" cy="274320"/>
          </a:xfrm>
          <a:prstGeom prst="roundRect">
            <a:avLst>
              <a:gd name="adj" fmla="val 50000"/>
            </a:avLst>
          </a:prstGeom>
          <a:solidFill>
            <a:srgbClr val="F28E2B"/>
          </a:solidFill>
          <a:ln w="12700">
            <a:solidFill>
              <a:srgbClr val="F28E2B"/>
            </a:solidFill>
            <a:prstDash val="solid"/>
          </a:ln>
        </p:spPr>
      </p:sp>
      <p:sp>
        <p:nvSpPr>
          <p:cNvPr id="6" name="Text 4"/>
          <p:cNvSpPr txBox="1"/>
          <p:nvPr/>
        </p:nvSpPr>
        <p:spPr>
          <a:xfrm>
            <a:off x="612648" y="3749040"/>
            <a:ext cx="1371600"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9 MINUTES</a:t>
            </a:r>
            <a:endParaRPr lang="en-US" sz="1000" dirty="0"/>
          </a:p>
        </p:txBody>
      </p:sp>
      <p:sp>
        <p:nvSpPr>
          <p:cNvPr id="7" name="Shape 5"/>
          <p:cNvSpPr/>
          <p:nvPr/>
        </p:nvSpPr>
        <p:spPr>
          <a:xfrm>
            <a:off x="8229600" y="4297680"/>
            <a:ext cx="402336" cy="402336"/>
          </a:xfrm>
          <a:prstGeom prst="roundRect">
            <a:avLst>
              <a:gd name="adj" fmla="val 9091"/>
            </a:avLst>
          </a:prstGeom>
          <a:solidFill>
            <a:srgbClr val="1D6FA5"/>
          </a:solidFill>
          <a:ln w="12700">
            <a:solidFill>
              <a:srgbClr val="1D6FA5"/>
            </a:solidFill>
            <a:prstDash val="solid"/>
          </a:ln>
        </p:spPr>
      </p:sp>
      <p:sp>
        <p:nvSpPr>
          <p:cNvPr id="8" name="Shape 6"/>
          <p:cNvSpPr/>
          <p:nvPr/>
        </p:nvSpPr>
        <p:spPr>
          <a:xfrm>
            <a:off x="8732520" y="3840480"/>
            <a:ext cx="402336" cy="402336"/>
          </a:xfrm>
          <a:prstGeom prst="roundRect">
            <a:avLst>
              <a:gd name="adj" fmla="val 9091"/>
            </a:avLst>
          </a:prstGeom>
          <a:solidFill>
            <a:srgbClr val="1D6FA5"/>
          </a:solidFill>
          <a:ln w="12700">
            <a:solidFill>
              <a:srgbClr val="1D6FA5"/>
            </a:solidFill>
            <a:prstDash val="solid"/>
          </a:ln>
        </p:spPr>
      </p:sp>
      <p:sp>
        <p:nvSpPr>
          <p:cNvPr id="9" name="Shape 7"/>
          <p:cNvSpPr/>
          <p:nvPr/>
        </p:nvSpPr>
        <p:spPr>
          <a:xfrm>
            <a:off x="9235440" y="3383280"/>
            <a:ext cx="402336" cy="402336"/>
          </a:xfrm>
          <a:prstGeom prst="roundRect">
            <a:avLst>
              <a:gd name="adj" fmla="val 9091"/>
            </a:avLst>
          </a:prstGeom>
          <a:solidFill>
            <a:srgbClr val="1D6FA5"/>
          </a:solidFill>
          <a:ln w="12700">
            <a:solidFill>
              <a:srgbClr val="1D6FA5"/>
            </a:solidFill>
            <a:prstDash val="solid"/>
          </a:ln>
        </p:spPr>
      </p:sp>
      <p:sp>
        <p:nvSpPr>
          <p:cNvPr id="10" name="Shape 8"/>
          <p:cNvSpPr/>
          <p:nvPr/>
        </p:nvSpPr>
        <p:spPr>
          <a:xfrm>
            <a:off x="9738360" y="2926080"/>
            <a:ext cx="402336" cy="402336"/>
          </a:xfrm>
          <a:prstGeom prst="roundRect">
            <a:avLst>
              <a:gd name="adj" fmla="val 9091"/>
            </a:avLst>
          </a:prstGeom>
          <a:solidFill>
            <a:srgbClr val="F28E2B"/>
          </a:solidFill>
          <a:ln w="12700">
            <a:solidFill>
              <a:srgbClr val="F28E2B"/>
            </a:solidFill>
            <a:prstDash val="solid"/>
          </a:ln>
        </p:spPr>
      </p:sp>
      <p:sp>
        <p:nvSpPr>
          <p:cNvPr id="11" name="Shape 9"/>
          <p:cNvSpPr/>
          <p:nvPr/>
        </p:nvSpPr>
        <p:spPr>
          <a:xfrm>
            <a:off x="10241280" y="2468880"/>
            <a:ext cx="402336" cy="402336"/>
          </a:xfrm>
          <a:prstGeom prst="roundRect">
            <a:avLst>
              <a:gd name="adj" fmla="val 9091"/>
            </a:avLst>
          </a:prstGeom>
          <a:solidFill>
            <a:srgbClr val="F28E2B"/>
          </a:solidFill>
          <a:ln w="12700">
            <a:solidFill>
              <a:srgbClr val="F28E2B"/>
            </a:solidFill>
            <a:prstDash val="solid"/>
          </a:ln>
        </p:spPr>
      </p:sp>
      <p:sp>
        <p:nvSpPr>
          <p:cNvPr id="12" name="Shape 10"/>
          <p:cNvSpPr/>
          <p:nvPr/>
        </p:nvSpPr>
        <p:spPr>
          <a:xfrm>
            <a:off x="7955280" y="4937760"/>
            <a:ext cx="3108960" cy="-3108960"/>
          </a:xfrm>
          <a:prstGeom prst="line">
            <a:avLst/>
          </a:prstGeom>
          <a:noFill/>
          <a:ln w="38100">
            <a:solidFill>
              <a:srgbClr val="4BB3C3"/>
            </a:solidFill>
            <a:prstDash val="solid"/>
            <a:tailEnd type="triangle"/>
          </a:ln>
        </p:spPr>
      </p:sp>
      <p:sp>
        <p:nvSpPr>
          <p:cNvPr id="13" name="Text 11"/>
          <p:cNvSpPr txBox="1"/>
          <p:nvPr/>
        </p:nvSpPr>
        <p:spPr>
          <a:xfrm>
            <a:off x="8275320" y="1078992"/>
            <a:ext cx="2971800" cy="502920"/>
          </a:xfrm>
          <a:prstGeom prst="rect">
            <a:avLst/>
          </a:prstGeom>
          <a:noFill/>
          <a:ln/>
        </p:spPr>
        <p:txBody>
          <a:bodyPr wrap="square" lIns="0" tIns="0" rIns="0" bIns="0" rtlCol="0" anchor="ctr">
            <a:normAutofit/>
          </a:bodyPr>
          <a:lstStyle/>
          <a:p>
            <a:pPr algn="ctr" indent="0" marL="0">
              <a:buNone/>
            </a:pPr>
            <a:r>
              <a:rPr lang="en-US" sz="1200" b="1" dirty="0">
                <a:solidFill>
                  <a:srgbClr val="4BB3C3"/>
                </a:solidFill>
                <a:latin typeface="Aptos" pitchFamily="34" charset="0"/>
                <a:ea typeface="Aptos" pitchFamily="34" charset="-122"/>
                <a:cs typeface="Aptos" pitchFamily="34" charset="-120"/>
              </a:rPr>
              <a:t>NETWORK DESIGN ↔ CORRELATION ↔ RESPONSE TIME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MULTI-ECHELON INVENTORY</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One customer promise—several stocking decisions</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Illustrative network: central DC replenishes three regional locations</a:t>
            </a:r>
            <a:endParaRPr lang="en-US" sz="1350" dirty="0"/>
          </a:p>
        </p:txBody>
      </p:sp>
      <p:sp>
        <p:nvSpPr>
          <p:cNvPr id="5" name="Shape 3"/>
          <p:cNvSpPr/>
          <p:nvPr/>
        </p:nvSpPr>
        <p:spPr>
          <a:xfrm rot="16200000">
            <a:off x="731520" y="2148840"/>
            <a:ext cx="1920240" cy="496062"/>
          </a:xfrm>
          <a:prstGeom prst="chevron">
            <a:avLst/>
          </a:prstGeom>
          <a:solidFill>
            <a:srgbClr val="173B57"/>
          </a:solidFill>
          <a:ln w="12700">
            <a:solidFill>
              <a:srgbClr val="173B57"/>
            </a:solidFill>
            <a:prstDash val="solid"/>
          </a:ln>
        </p:spPr>
      </p:sp>
      <p:sp>
        <p:nvSpPr>
          <p:cNvPr id="6" name="Shape 4"/>
          <p:cNvSpPr/>
          <p:nvPr/>
        </p:nvSpPr>
        <p:spPr>
          <a:xfrm>
            <a:off x="731520" y="2503170"/>
            <a:ext cx="1920240" cy="1062990"/>
          </a:xfrm>
          <a:prstGeom prst="rect">
            <a:avLst/>
          </a:prstGeom>
          <a:solidFill>
            <a:srgbClr val="EAF3F8"/>
          </a:solidFill>
          <a:ln w="12700">
            <a:solidFill>
              <a:srgbClr val="1D6FA5"/>
            </a:solidFill>
            <a:prstDash val="solid"/>
          </a:ln>
        </p:spPr>
      </p:sp>
      <p:sp>
        <p:nvSpPr>
          <p:cNvPr id="7" name="Shape 5"/>
          <p:cNvSpPr/>
          <p:nvPr/>
        </p:nvSpPr>
        <p:spPr>
          <a:xfrm>
            <a:off x="877824" y="2829154"/>
            <a:ext cx="384048" cy="283464"/>
          </a:xfrm>
          <a:prstGeom prst="roundRect">
            <a:avLst>
              <a:gd name="adj" fmla="val 16129"/>
            </a:avLst>
          </a:prstGeom>
          <a:solidFill>
            <a:srgbClr val="1D6FA5"/>
          </a:solidFill>
          <a:ln w="12700">
            <a:solidFill>
              <a:srgbClr val="1D6FA5"/>
            </a:solidFill>
            <a:prstDash val="solid"/>
          </a:ln>
        </p:spPr>
      </p:sp>
      <p:sp>
        <p:nvSpPr>
          <p:cNvPr id="8" name="Shape 6"/>
          <p:cNvSpPr/>
          <p:nvPr/>
        </p:nvSpPr>
        <p:spPr>
          <a:xfrm>
            <a:off x="1069848" y="2829154"/>
            <a:ext cx="0" cy="283464"/>
          </a:xfrm>
          <a:prstGeom prst="line">
            <a:avLst/>
          </a:prstGeom>
          <a:noFill/>
          <a:ln w="12700">
            <a:solidFill>
              <a:srgbClr val="FFFFFF"/>
            </a:solidFill>
            <a:prstDash val="solid"/>
          </a:ln>
        </p:spPr>
      </p:sp>
      <p:sp>
        <p:nvSpPr>
          <p:cNvPr id="9" name="Shape 7"/>
          <p:cNvSpPr/>
          <p:nvPr/>
        </p:nvSpPr>
        <p:spPr>
          <a:xfrm>
            <a:off x="877824" y="2956712"/>
            <a:ext cx="384048" cy="0"/>
          </a:xfrm>
          <a:prstGeom prst="line">
            <a:avLst/>
          </a:prstGeom>
          <a:noFill/>
          <a:ln w="12700">
            <a:solidFill>
              <a:srgbClr val="FFFFFF"/>
            </a:solidFill>
            <a:prstDash val="solid"/>
          </a:ln>
        </p:spPr>
      </p:sp>
      <p:sp>
        <p:nvSpPr>
          <p:cNvPr id="10" name="Shape 8"/>
          <p:cNvSpPr/>
          <p:nvPr/>
        </p:nvSpPr>
        <p:spPr>
          <a:xfrm>
            <a:off x="1396289" y="2829154"/>
            <a:ext cx="384048" cy="283464"/>
          </a:xfrm>
          <a:prstGeom prst="roundRect">
            <a:avLst>
              <a:gd name="adj" fmla="val 16129"/>
            </a:avLst>
          </a:prstGeom>
          <a:solidFill>
            <a:srgbClr val="1D6FA5"/>
          </a:solidFill>
          <a:ln w="12700">
            <a:solidFill>
              <a:srgbClr val="1D6FA5"/>
            </a:solidFill>
            <a:prstDash val="solid"/>
          </a:ln>
        </p:spPr>
      </p:sp>
      <p:sp>
        <p:nvSpPr>
          <p:cNvPr id="11" name="Shape 9"/>
          <p:cNvSpPr/>
          <p:nvPr/>
        </p:nvSpPr>
        <p:spPr>
          <a:xfrm>
            <a:off x="1588313" y="2829154"/>
            <a:ext cx="0" cy="283464"/>
          </a:xfrm>
          <a:prstGeom prst="line">
            <a:avLst/>
          </a:prstGeom>
          <a:noFill/>
          <a:ln w="12700">
            <a:solidFill>
              <a:srgbClr val="FFFFFF"/>
            </a:solidFill>
            <a:prstDash val="solid"/>
          </a:ln>
        </p:spPr>
      </p:sp>
      <p:sp>
        <p:nvSpPr>
          <p:cNvPr id="12" name="Shape 10"/>
          <p:cNvSpPr/>
          <p:nvPr/>
        </p:nvSpPr>
        <p:spPr>
          <a:xfrm>
            <a:off x="1396289" y="2956712"/>
            <a:ext cx="384048" cy="0"/>
          </a:xfrm>
          <a:prstGeom prst="line">
            <a:avLst/>
          </a:prstGeom>
          <a:noFill/>
          <a:ln w="12700">
            <a:solidFill>
              <a:srgbClr val="FFFFFF"/>
            </a:solidFill>
            <a:prstDash val="solid"/>
          </a:ln>
        </p:spPr>
      </p:sp>
      <p:sp>
        <p:nvSpPr>
          <p:cNvPr id="13" name="Shape 11"/>
          <p:cNvSpPr/>
          <p:nvPr/>
        </p:nvSpPr>
        <p:spPr>
          <a:xfrm>
            <a:off x="1914754" y="2829154"/>
            <a:ext cx="384048" cy="283464"/>
          </a:xfrm>
          <a:prstGeom prst="roundRect">
            <a:avLst>
              <a:gd name="adj" fmla="val 16129"/>
            </a:avLst>
          </a:prstGeom>
          <a:solidFill>
            <a:srgbClr val="F28E2B"/>
          </a:solidFill>
          <a:ln w="12700">
            <a:solidFill>
              <a:srgbClr val="F28E2B"/>
            </a:solidFill>
            <a:prstDash val="solid"/>
          </a:ln>
        </p:spPr>
      </p:sp>
      <p:sp>
        <p:nvSpPr>
          <p:cNvPr id="14" name="Shape 12"/>
          <p:cNvSpPr/>
          <p:nvPr/>
        </p:nvSpPr>
        <p:spPr>
          <a:xfrm>
            <a:off x="2106778" y="2829154"/>
            <a:ext cx="0" cy="283464"/>
          </a:xfrm>
          <a:prstGeom prst="line">
            <a:avLst/>
          </a:prstGeom>
          <a:noFill/>
          <a:ln w="12700">
            <a:solidFill>
              <a:srgbClr val="FFFFFF"/>
            </a:solidFill>
            <a:prstDash val="solid"/>
          </a:ln>
        </p:spPr>
      </p:sp>
      <p:sp>
        <p:nvSpPr>
          <p:cNvPr id="15" name="Shape 13"/>
          <p:cNvSpPr/>
          <p:nvPr/>
        </p:nvSpPr>
        <p:spPr>
          <a:xfrm>
            <a:off x="1914754" y="2956712"/>
            <a:ext cx="384048" cy="0"/>
          </a:xfrm>
          <a:prstGeom prst="line">
            <a:avLst/>
          </a:prstGeom>
          <a:noFill/>
          <a:ln w="12700">
            <a:solidFill>
              <a:srgbClr val="FFFFFF"/>
            </a:solidFill>
            <a:prstDash val="solid"/>
          </a:ln>
        </p:spPr>
      </p:sp>
      <p:sp>
        <p:nvSpPr>
          <p:cNvPr id="16" name="Text 14"/>
          <p:cNvSpPr txBox="1"/>
          <p:nvPr/>
        </p:nvSpPr>
        <p:spPr>
          <a:xfrm>
            <a:off x="822960" y="3794760"/>
            <a:ext cx="1737360" cy="274320"/>
          </a:xfrm>
          <a:prstGeom prst="rect">
            <a:avLst/>
          </a:prstGeom>
          <a:noFill/>
          <a:ln/>
        </p:spPr>
        <p:txBody>
          <a:bodyPr wrap="square" lIns="0" tIns="0" rIns="0" bIns="0" rtlCol="0" anchor="ctr">
            <a:normAutofit/>
          </a:bodyPr>
          <a:lstStyle/>
          <a:p>
            <a:pPr algn="ctr" indent="0" marL="0">
              <a:buNone/>
            </a:pPr>
            <a:r>
              <a:rPr lang="en-US" sz="1200" b="1" dirty="0">
                <a:solidFill>
                  <a:srgbClr val="0B1F33"/>
                </a:solidFill>
                <a:latin typeface="Aptos" pitchFamily="34" charset="0"/>
                <a:ea typeface="Aptos" pitchFamily="34" charset="-122"/>
                <a:cs typeface="Aptos" pitchFamily="34" charset="-120"/>
              </a:rPr>
              <a:t>CENTRAL DC</a:t>
            </a:r>
            <a:endParaRPr lang="en-US" sz="1200" dirty="0"/>
          </a:p>
        </p:txBody>
      </p:sp>
      <p:sp>
        <p:nvSpPr>
          <p:cNvPr id="17" name="Shape 15"/>
          <p:cNvSpPr/>
          <p:nvPr/>
        </p:nvSpPr>
        <p:spPr>
          <a:xfrm>
            <a:off x="5532120" y="1673352"/>
            <a:ext cx="1371600" cy="685800"/>
          </a:xfrm>
          <a:prstGeom prst="roundRect">
            <a:avLst>
              <a:gd name="adj" fmla="val 2667"/>
            </a:avLst>
          </a:prstGeom>
          <a:solidFill>
            <a:srgbClr val="FFFFFF"/>
          </a:solidFill>
          <a:ln w="12700">
            <a:solidFill>
              <a:srgbClr val="1D6FA5"/>
            </a:solidFill>
            <a:prstDash val="solid"/>
          </a:ln>
        </p:spPr>
      </p:sp>
      <p:sp>
        <p:nvSpPr>
          <p:cNvPr id="18" name="Shape 16"/>
          <p:cNvSpPr/>
          <p:nvPr/>
        </p:nvSpPr>
        <p:spPr>
          <a:xfrm>
            <a:off x="5532120" y="1444752"/>
            <a:ext cx="1371600" cy="228600"/>
          </a:xfrm>
          <a:prstGeom prst="rect">
            <a:avLst/>
          </a:prstGeom>
          <a:solidFill>
            <a:srgbClr val="F28E2B"/>
          </a:solidFill>
          <a:ln w="12700">
            <a:solidFill>
              <a:srgbClr val="F28E2B"/>
            </a:solidFill>
            <a:prstDash val="solid"/>
          </a:ln>
        </p:spPr>
      </p:sp>
      <p:sp>
        <p:nvSpPr>
          <p:cNvPr id="19" name="Text 17"/>
          <p:cNvSpPr txBox="1"/>
          <p:nvPr/>
        </p:nvSpPr>
        <p:spPr>
          <a:xfrm>
            <a:off x="5532120" y="1874520"/>
            <a:ext cx="1371600" cy="201168"/>
          </a:xfrm>
          <a:prstGeom prst="rect">
            <a:avLst/>
          </a:prstGeom>
          <a:noFill/>
          <a:ln/>
        </p:spPr>
        <p:txBody>
          <a:bodyPr wrap="square" lIns="0" tIns="0" rIns="0" bIns="0" rtlCol="0" anchor="ctr">
            <a:normAutofit/>
          </a:bodyPr>
          <a:lstStyle/>
          <a:p>
            <a:pPr algn="ctr" indent="0" marL="0">
              <a:buNone/>
            </a:pPr>
            <a:r>
              <a:rPr lang="en-US" sz="900" b="1" dirty="0">
                <a:solidFill>
                  <a:srgbClr val="0B1F33"/>
                </a:solidFill>
                <a:latin typeface="Aptos" pitchFamily="34" charset="0"/>
                <a:ea typeface="Aptos" pitchFamily="34" charset="-122"/>
                <a:cs typeface="Aptos" pitchFamily="34" charset="-120"/>
              </a:rPr>
              <a:t>REGION 1</a:t>
            </a:r>
            <a:endParaRPr lang="en-US" sz="900" dirty="0"/>
          </a:p>
        </p:txBody>
      </p:sp>
      <p:sp>
        <p:nvSpPr>
          <p:cNvPr id="20" name="Shape 18"/>
          <p:cNvSpPr/>
          <p:nvPr/>
        </p:nvSpPr>
        <p:spPr>
          <a:xfrm>
            <a:off x="2697480" y="2788920"/>
            <a:ext cx="2697480" cy="-886968"/>
          </a:xfrm>
          <a:prstGeom prst="line">
            <a:avLst/>
          </a:prstGeom>
          <a:noFill/>
          <a:ln w="31750">
            <a:solidFill>
              <a:srgbClr val="4BB3C3"/>
            </a:solidFill>
            <a:prstDash val="solid"/>
            <a:tailEnd type="triangle"/>
          </a:ln>
        </p:spPr>
      </p:sp>
      <p:sp>
        <p:nvSpPr>
          <p:cNvPr id="21" name="Shape 19"/>
          <p:cNvSpPr/>
          <p:nvPr/>
        </p:nvSpPr>
        <p:spPr>
          <a:xfrm>
            <a:off x="8366760" y="1536192"/>
            <a:ext cx="658368" cy="658368"/>
          </a:xfrm>
          <a:prstGeom prst="ellipse">
            <a:avLst/>
          </a:prstGeom>
          <a:solidFill>
            <a:srgbClr val="1D6FA5"/>
          </a:solidFill>
          <a:ln w="12700">
            <a:solidFill>
              <a:srgbClr val="1D6FA5"/>
            </a:solidFill>
            <a:prstDash val="solid"/>
          </a:ln>
        </p:spPr>
      </p:sp>
      <p:sp>
        <p:nvSpPr>
          <p:cNvPr id="22" name="Text 20"/>
          <p:cNvSpPr txBox="1"/>
          <p:nvPr/>
        </p:nvSpPr>
        <p:spPr>
          <a:xfrm>
            <a:off x="8366760" y="1536192"/>
            <a:ext cx="658368" cy="65836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23" name="Shape 21"/>
          <p:cNvSpPr/>
          <p:nvPr/>
        </p:nvSpPr>
        <p:spPr>
          <a:xfrm>
            <a:off x="6931152" y="1901952"/>
            <a:ext cx="1298448" cy="-27432"/>
          </a:xfrm>
          <a:prstGeom prst="line">
            <a:avLst/>
          </a:prstGeom>
          <a:noFill/>
          <a:ln w="19050">
            <a:solidFill>
              <a:srgbClr val="9AA6B2"/>
            </a:solidFill>
            <a:prstDash val="solid"/>
            <a:tailEnd type="triangle"/>
          </a:ln>
        </p:spPr>
      </p:sp>
      <p:sp>
        <p:nvSpPr>
          <p:cNvPr id="24" name="Shape 22"/>
          <p:cNvSpPr/>
          <p:nvPr/>
        </p:nvSpPr>
        <p:spPr>
          <a:xfrm>
            <a:off x="5532120" y="3136392"/>
            <a:ext cx="1371600" cy="685800"/>
          </a:xfrm>
          <a:prstGeom prst="roundRect">
            <a:avLst>
              <a:gd name="adj" fmla="val 2667"/>
            </a:avLst>
          </a:prstGeom>
          <a:solidFill>
            <a:srgbClr val="FFFFFF"/>
          </a:solidFill>
          <a:ln w="12700">
            <a:solidFill>
              <a:srgbClr val="1D6FA5"/>
            </a:solidFill>
            <a:prstDash val="solid"/>
          </a:ln>
        </p:spPr>
      </p:sp>
      <p:sp>
        <p:nvSpPr>
          <p:cNvPr id="25" name="Shape 23"/>
          <p:cNvSpPr/>
          <p:nvPr/>
        </p:nvSpPr>
        <p:spPr>
          <a:xfrm>
            <a:off x="5532120" y="2907792"/>
            <a:ext cx="1371600" cy="228600"/>
          </a:xfrm>
          <a:prstGeom prst="rect">
            <a:avLst/>
          </a:prstGeom>
          <a:solidFill>
            <a:srgbClr val="F28E2B"/>
          </a:solidFill>
          <a:ln w="12700">
            <a:solidFill>
              <a:srgbClr val="F28E2B"/>
            </a:solidFill>
            <a:prstDash val="solid"/>
          </a:ln>
        </p:spPr>
      </p:sp>
      <p:sp>
        <p:nvSpPr>
          <p:cNvPr id="26" name="Text 24"/>
          <p:cNvSpPr txBox="1"/>
          <p:nvPr/>
        </p:nvSpPr>
        <p:spPr>
          <a:xfrm>
            <a:off x="5532120" y="3337560"/>
            <a:ext cx="1371600" cy="201168"/>
          </a:xfrm>
          <a:prstGeom prst="rect">
            <a:avLst/>
          </a:prstGeom>
          <a:noFill/>
          <a:ln/>
        </p:spPr>
        <p:txBody>
          <a:bodyPr wrap="square" lIns="0" tIns="0" rIns="0" bIns="0" rtlCol="0" anchor="ctr">
            <a:normAutofit/>
          </a:bodyPr>
          <a:lstStyle/>
          <a:p>
            <a:pPr algn="ctr" indent="0" marL="0">
              <a:buNone/>
            </a:pPr>
            <a:r>
              <a:rPr lang="en-US" sz="900" b="1" dirty="0">
                <a:solidFill>
                  <a:srgbClr val="0B1F33"/>
                </a:solidFill>
                <a:latin typeface="Aptos" pitchFamily="34" charset="0"/>
                <a:ea typeface="Aptos" pitchFamily="34" charset="-122"/>
                <a:cs typeface="Aptos" pitchFamily="34" charset="-120"/>
              </a:rPr>
              <a:t>REGION 2</a:t>
            </a:r>
            <a:endParaRPr lang="en-US" sz="900" dirty="0"/>
          </a:p>
        </p:txBody>
      </p:sp>
      <p:sp>
        <p:nvSpPr>
          <p:cNvPr id="27" name="Shape 25"/>
          <p:cNvSpPr/>
          <p:nvPr/>
        </p:nvSpPr>
        <p:spPr>
          <a:xfrm>
            <a:off x="2697480" y="2788920"/>
            <a:ext cx="2697480" cy="576072"/>
          </a:xfrm>
          <a:prstGeom prst="line">
            <a:avLst/>
          </a:prstGeom>
          <a:noFill/>
          <a:ln w="31750">
            <a:solidFill>
              <a:srgbClr val="4BB3C3"/>
            </a:solidFill>
            <a:prstDash val="solid"/>
            <a:tailEnd type="triangle"/>
          </a:ln>
        </p:spPr>
      </p:sp>
      <p:sp>
        <p:nvSpPr>
          <p:cNvPr id="28" name="Shape 26"/>
          <p:cNvSpPr/>
          <p:nvPr/>
        </p:nvSpPr>
        <p:spPr>
          <a:xfrm>
            <a:off x="8366760" y="2999232"/>
            <a:ext cx="658368" cy="658368"/>
          </a:xfrm>
          <a:prstGeom prst="ellipse">
            <a:avLst/>
          </a:prstGeom>
          <a:solidFill>
            <a:srgbClr val="F28E2B"/>
          </a:solidFill>
          <a:ln w="12700">
            <a:solidFill>
              <a:srgbClr val="F28E2B"/>
            </a:solidFill>
            <a:prstDash val="solid"/>
          </a:ln>
        </p:spPr>
      </p:sp>
      <p:sp>
        <p:nvSpPr>
          <p:cNvPr id="29" name="Text 27"/>
          <p:cNvSpPr txBox="1"/>
          <p:nvPr/>
        </p:nvSpPr>
        <p:spPr>
          <a:xfrm>
            <a:off x="8366760" y="2999232"/>
            <a:ext cx="658368" cy="65836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30" name="Shape 28"/>
          <p:cNvSpPr/>
          <p:nvPr/>
        </p:nvSpPr>
        <p:spPr>
          <a:xfrm>
            <a:off x="6931152" y="3364992"/>
            <a:ext cx="1298448" cy="-27432"/>
          </a:xfrm>
          <a:prstGeom prst="line">
            <a:avLst/>
          </a:prstGeom>
          <a:noFill/>
          <a:ln w="19050">
            <a:solidFill>
              <a:srgbClr val="9AA6B2"/>
            </a:solidFill>
            <a:prstDash val="solid"/>
            <a:tailEnd type="triangle"/>
          </a:ln>
        </p:spPr>
      </p:sp>
      <p:sp>
        <p:nvSpPr>
          <p:cNvPr id="31" name="Shape 29"/>
          <p:cNvSpPr/>
          <p:nvPr/>
        </p:nvSpPr>
        <p:spPr>
          <a:xfrm>
            <a:off x="5532120" y="4599432"/>
            <a:ext cx="1371600" cy="685800"/>
          </a:xfrm>
          <a:prstGeom prst="roundRect">
            <a:avLst>
              <a:gd name="adj" fmla="val 2667"/>
            </a:avLst>
          </a:prstGeom>
          <a:solidFill>
            <a:srgbClr val="FFFFFF"/>
          </a:solidFill>
          <a:ln w="12700">
            <a:solidFill>
              <a:srgbClr val="1D6FA5"/>
            </a:solidFill>
            <a:prstDash val="solid"/>
          </a:ln>
        </p:spPr>
      </p:sp>
      <p:sp>
        <p:nvSpPr>
          <p:cNvPr id="32" name="Shape 30"/>
          <p:cNvSpPr/>
          <p:nvPr/>
        </p:nvSpPr>
        <p:spPr>
          <a:xfrm>
            <a:off x="5532120" y="4370832"/>
            <a:ext cx="1371600" cy="228600"/>
          </a:xfrm>
          <a:prstGeom prst="rect">
            <a:avLst/>
          </a:prstGeom>
          <a:solidFill>
            <a:srgbClr val="F28E2B"/>
          </a:solidFill>
          <a:ln w="12700">
            <a:solidFill>
              <a:srgbClr val="F28E2B"/>
            </a:solidFill>
            <a:prstDash val="solid"/>
          </a:ln>
        </p:spPr>
      </p:sp>
      <p:sp>
        <p:nvSpPr>
          <p:cNvPr id="33" name="Text 31"/>
          <p:cNvSpPr txBox="1"/>
          <p:nvPr/>
        </p:nvSpPr>
        <p:spPr>
          <a:xfrm>
            <a:off x="5532120" y="4800600"/>
            <a:ext cx="1371600" cy="201168"/>
          </a:xfrm>
          <a:prstGeom prst="rect">
            <a:avLst/>
          </a:prstGeom>
          <a:noFill/>
          <a:ln/>
        </p:spPr>
        <p:txBody>
          <a:bodyPr wrap="square" lIns="0" tIns="0" rIns="0" bIns="0" rtlCol="0" anchor="ctr">
            <a:normAutofit/>
          </a:bodyPr>
          <a:lstStyle/>
          <a:p>
            <a:pPr algn="ctr" indent="0" marL="0">
              <a:buNone/>
            </a:pPr>
            <a:r>
              <a:rPr lang="en-US" sz="900" b="1" dirty="0">
                <a:solidFill>
                  <a:srgbClr val="0B1F33"/>
                </a:solidFill>
                <a:latin typeface="Aptos" pitchFamily="34" charset="0"/>
                <a:ea typeface="Aptos" pitchFamily="34" charset="-122"/>
                <a:cs typeface="Aptos" pitchFamily="34" charset="-120"/>
              </a:rPr>
              <a:t>REGION 3</a:t>
            </a:r>
            <a:endParaRPr lang="en-US" sz="900" dirty="0"/>
          </a:p>
        </p:txBody>
      </p:sp>
      <p:sp>
        <p:nvSpPr>
          <p:cNvPr id="34" name="Shape 32"/>
          <p:cNvSpPr/>
          <p:nvPr/>
        </p:nvSpPr>
        <p:spPr>
          <a:xfrm>
            <a:off x="2697480" y="2788920"/>
            <a:ext cx="2697480" cy="2039112"/>
          </a:xfrm>
          <a:prstGeom prst="line">
            <a:avLst/>
          </a:prstGeom>
          <a:noFill/>
          <a:ln w="31750">
            <a:solidFill>
              <a:srgbClr val="4BB3C3"/>
            </a:solidFill>
            <a:prstDash val="solid"/>
            <a:tailEnd type="triangle"/>
          </a:ln>
        </p:spPr>
      </p:sp>
      <p:sp>
        <p:nvSpPr>
          <p:cNvPr id="35" name="Shape 33"/>
          <p:cNvSpPr/>
          <p:nvPr/>
        </p:nvSpPr>
        <p:spPr>
          <a:xfrm>
            <a:off x="8366760" y="4462272"/>
            <a:ext cx="658368" cy="658368"/>
          </a:xfrm>
          <a:prstGeom prst="ellipse">
            <a:avLst/>
          </a:prstGeom>
          <a:solidFill>
            <a:srgbClr val="2A9D8F"/>
          </a:solidFill>
          <a:ln w="12700">
            <a:solidFill>
              <a:srgbClr val="2A9D8F"/>
            </a:solidFill>
            <a:prstDash val="solid"/>
          </a:ln>
        </p:spPr>
      </p:sp>
      <p:sp>
        <p:nvSpPr>
          <p:cNvPr id="36" name="Text 34"/>
          <p:cNvSpPr txBox="1"/>
          <p:nvPr/>
        </p:nvSpPr>
        <p:spPr>
          <a:xfrm>
            <a:off x="8366760" y="4462272"/>
            <a:ext cx="658368" cy="65836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37" name="Shape 35"/>
          <p:cNvSpPr/>
          <p:nvPr/>
        </p:nvSpPr>
        <p:spPr>
          <a:xfrm>
            <a:off x="6931152" y="4828032"/>
            <a:ext cx="1298448" cy="-27432"/>
          </a:xfrm>
          <a:prstGeom prst="line">
            <a:avLst/>
          </a:prstGeom>
          <a:noFill/>
          <a:ln w="19050">
            <a:solidFill>
              <a:srgbClr val="9AA6B2"/>
            </a:solidFill>
            <a:prstDash val="solid"/>
            <a:tailEnd type="triangle"/>
          </a:ln>
        </p:spPr>
      </p:sp>
      <p:sp>
        <p:nvSpPr>
          <p:cNvPr id="38" name="Shape 36"/>
          <p:cNvSpPr/>
          <p:nvPr/>
        </p:nvSpPr>
        <p:spPr>
          <a:xfrm>
            <a:off x="9464040" y="1417320"/>
            <a:ext cx="1920240" cy="3840480"/>
          </a:xfrm>
          <a:prstGeom prst="roundRect">
            <a:avLst>
              <a:gd name="adj" fmla="val 5714"/>
            </a:avLst>
          </a:prstGeom>
          <a:solidFill>
            <a:srgbClr val="FFFFFF"/>
          </a:solidFill>
          <a:ln w="12700">
            <a:solidFill>
              <a:srgbClr val="E8EDF2"/>
            </a:solidFill>
            <a:prstDash val="solid"/>
          </a:ln>
        </p:spPr>
      </p:sp>
      <p:sp>
        <p:nvSpPr>
          <p:cNvPr id="39" name="Text 37"/>
          <p:cNvSpPr txBox="1"/>
          <p:nvPr/>
        </p:nvSpPr>
        <p:spPr>
          <a:xfrm>
            <a:off x="9720072" y="1691640"/>
            <a:ext cx="1417320" cy="502920"/>
          </a:xfrm>
          <a:prstGeom prst="rect">
            <a:avLst/>
          </a:prstGeom>
          <a:noFill/>
          <a:ln/>
        </p:spPr>
        <p:txBody>
          <a:bodyPr wrap="square" lIns="0" tIns="0" rIns="0" bIns="0" rtlCol="0" anchor="ctr">
            <a:normAutofit/>
          </a:bodyPr>
          <a:lstStyle/>
          <a:p>
            <a:pPr algn="ctr" indent="0" marL="0">
              <a:buNone/>
            </a:pPr>
            <a:r>
              <a:rPr lang="en-US" sz="1600" b="1" dirty="0">
                <a:solidFill>
                  <a:srgbClr val="0B1F33"/>
                </a:solidFill>
                <a:latin typeface="Aptos" pitchFamily="34" charset="0"/>
                <a:ea typeface="Aptos" pitchFamily="34" charset="-122"/>
                <a:cs typeface="Aptos" pitchFamily="34" charset="-120"/>
              </a:rPr>
              <a:t>Each echelon decides</a:t>
            </a:r>
            <a:endParaRPr lang="en-US" sz="1600" dirty="0"/>
          </a:p>
        </p:txBody>
      </p:sp>
      <p:sp>
        <p:nvSpPr>
          <p:cNvPr id="40" name="Shape 38"/>
          <p:cNvSpPr/>
          <p:nvPr/>
        </p:nvSpPr>
        <p:spPr>
          <a:xfrm>
            <a:off x="9756648" y="2423160"/>
            <a:ext cx="256032" cy="256032"/>
          </a:xfrm>
          <a:prstGeom prst="ellipse">
            <a:avLst/>
          </a:prstGeom>
          <a:solidFill>
            <a:srgbClr val="1D6FA5"/>
          </a:solidFill>
          <a:ln w="12700">
            <a:solidFill>
              <a:srgbClr val="1D6FA5"/>
            </a:solidFill>
            <a:prstDash val="solid"/>
          </a:ln>
        </p:spPr>
      </p:sp>
      <p:sp>
        <p:nvSpPr>
          <p:cNvPr id="41" name="Text 39"/>
          <p:cNvSpPr txBox="1"/>
          <p:nvPr/>
        </p:nvSpPr>
        <p:spPr>
          <a:xfrm>
            <a:off x="9756648" y="2423160"/>
            <a:ext cx="256032"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42" name="Text 40"/>
          <p:cNvSpPr txBox="1"/>
          <p:nvPr/>
        </p:nvSpPr>
        <p:spPr>
          <a:xfrm>
            <a:off x="10113264" y="2386584"/>
            <a:ext cx="1005840" cy="256032"/>
          </a:xfrm>
          <a:prstGeom prst="rect">
            <a:avLst/>
          </a:prstGeom>
          <a:noFill/>
          <a:ln/>
        </p:spPr>
        <p:txBody>
          <a:bodyPr wrap="square" lIns="0" tIns="0" rIns="0" bIns="0" rtlCol="0" anchor="ctr">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Review cadence</a:t>
            </a:r>
            <a:endParaRPr lang="en-US" sz="1150" dirty="0"/>
          </a:p>
        </p:txBody>
      </p:sp>
      <p:sp>
        <p:nvSpPr>
          <p:cNvPr id="43" name="Shape 41"/>
          <p:cNvSpPr/>
          <p:nvPr/>
        </p:nvSpPr>
        <p:spPr>
          <a:xfrm>
            <a:off x="9756648" y="2916936"/>
            <a:ext cx="256032" cy="256032"/>
          </a:xfrm>
          <a:prstGeom prst="ellipse">
            <a:avLst/>
          </a:prstGeom>
          <a:solidFill>
            <a:srgbClr val="1D6FA5"/>
          </a:solidFill>
          <a:ln w="12700">
            <a:solidFill>
              <a:srgbClr val="1D6FA5"/>
            </a:solidFill>
            <a:prstDash val="solid"/>
          </a:ln>
        </p:spPr>
      </p:sp>
      <p:sp>
        <p:nvSpPr>
          <p:cNvPr id="44" name="Text 42"/>
          <p:cNvSpPr txBox="1"/>
          <p:nvPr/>
        </p:nvSpPr>
        <p:spPr>
          <a:xfrm>
            <a:off x="9756648" y="2916936"/>
            <a:ext cx="256032"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45" name="Text 43"/>
          <p:cNvSpPr txBox="1"/>
          <p:nvPr/>
        </p:nvSpPr>
        <p:spPr>
          <a:xfrm>
            <a:off x="10113264" y="2880360"/>
            <a:ext cx="1005840" cy="256032"/>
          </a:xfrm>
          <a:prstGeom prst="rect">
            <a:avLst/>
          </a:prstGeom>
          <a:noFill/>
          <a:ln/>
        </p:spPr>
        <p:txBody>
          <a:bodyPr wrap="square" lIns="0" tIns="0" rIns="0" bIns="0" rtlCol="0" anchor="ctr">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Order quantity</a:t>
            </a:r>
            <a:endParaRPr lang="en-US" sz="1150" dirty="0"/>
          </a:p>
        </p:txBody>
      </p:sp>
      <p:sp>
        <p:nvSpPr>
          <p:cNvPr id="46" name="Shape 44"/>
          <p:cNvSpPr/>
          <p:nvPr/>
        </p:nvSpPr>
        <p:spPr>
          <a:xfrm>
            <a:off x="9756648" y="3410712"/>
            <a:ext cx="256032" cy="256032"/>
          </a:xfrm>
          <a:prstGeom prst="ellipse">
            <a:avLst/>
          </a:prstGeom>
          <a:solidFill>
            <a:srgbClr val="1D6FA5"/>
          </a:solidFill>
          <a:ln w="12700">
            <a:solidFill>
              <a:srgbClr val="1D6FA5"/>
            </a:solidFill>
            <a:prstDash val="solid"/>
          </a:ln>
        </p:spPr>
      </p:sp>
      <p:sp>
        <p:nvSpPr>
          <p:cNvPr id="47" name="Text 45"/>
          <p:cNvSpPr txBox="1"/>
          <p:nvPr/>
        </p:nvSpPr>
        <p:spPr>
          <a:xfrm>
            <a:off x="9756648" y="3410712"/>
            <a:ext cx="256032"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48" name="Text 46"/>
          <p:cNvSpPr txBox="1"/>
          <p:nvPr/>
        </p:nvSpPr>
        <p:spPr>
          <a:xfrm>
            <a:off x="10113264" y="3374136"/>
            <a:ext cx="1005840" cy="256032"/>
          </a:xfrm>
          <a:prstGeom prst="rect">
            <a:avLst/>
          </a:prstGeom>
          <a:noFill/>
          <a:ln/>
        </p:spPr>
        <p:txBody>
          <a:bodyPr wrap="square" lIns="0" tIns="0" rIns="0" bIns="0" rtlCol="0" anchor="ctr">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Reorder trigger</a:t>
            </a:r>
            <a:endParaRPr lang="en-US" sz="1150" dirty="0"/>
          </a:p>
        </p:txBody>
      </p:sp>
      <p:sp>
        <p:nvSpPr>
          <p:cNvPr id="49" name="Shape 47"/>
          <p:cNvSpPr/>
          <p:nvPr/>
        </p:nvSpPr>
        <p:spPr>
          <a:xfrm>
            <a:off x="9756648" y="3904488"/>
            <a:ext cx="256032" cy="256032"/>
          </a:xfrm>
          <a:prstGeom prst="ellipse">
            <a:avLst/>
          </a:prstGeom>
          <a:solidFill>
            <a:srgbClr val="1D6FA5"/>
          </a:solidFill>
          <a:ln w="12700">
            <a:solidFill>
              <a:srgbClr val="1D6FA5"/>
            </a:solidFill>
            <a:prstDash val="solid"/>
          </a:ln>
        </p:spPr>
      </p:sp>
      <p:sp>
        <p:nvSpPr>
          <p:cNvPr id="50" name="Text 48"/>
          <p:cNvSpPr txBox="1"/>
          <p:nvPr/>
        </p:nvSpPr>
        <p:spPr>
          <a:xfrm>
            <a:off x="9756648" y="3904488"/>
            <a:ext cx="256032"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51" name="Text 49"/>
          <p:cNvSpPr txBox="1"/>
          <p:nvPr/>
        </p:nvSpPr>
        <p:spPr>
          <a:xfrm>
            <a:off x="10113264" y="3867912"/>
            <a:ext cx="1005840" cy="256032"/>
          </a:xfrm>
          <a:prstGeom prst="rect">
            <a:avLst/>
          </a:prstGeom>
          <a:noFill/>
          <a:ln/>
        </p:spPr>
        <p:txBody>
          <a:bodyPr wrap="square" lIns="0" tIns="0" rIns="0" bIns="0" rtlCol="0" anchor="ctr">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Service target</a:t>
            </a:r>
            <a:endParaRPr lang="en-US" sz="1150" dirty="0"/>
          </a:p>
        </p:txBody>
      </p:sp>
      <p:sp>
        <p:nvSpPr>
          <p:cNvPr id="52" name="Shape 50"/>
          <p:cNvSpPr/>
          <p:nvPr/>
        </p:nvSpPr>
        <p:spPr>
          <a:xfrm>
            <a:off x="9756648" y="4398264"/>
            <a:ext cx="256032" cy="256032"/>
          </a:xfrm>
          <a:prstGeom prst="ellipse">
            <a:avLst/>
          </a:prstGeom>
          <a:solidFill>
            <a:srgbClr val="1D6FA5"/>
          </a:solidFill>
          <a:ln w="12700">
            <a:solidFill>
              <a:srgbClr val="1D6FA5"/>
            </a:solidFill>
            <a:prstDash val="solid"/>
          </a:ln>
        </p:spPr>
      </p:sp>
      <p:sp>
        <p:nvSpPr>
          <p:cNvPr id="53" name="Text 51"/>
          <p:cNvSpPr txBox="1"/>
          <p:nvPr/>
        </p:nvSpPr>
        <p:spPr>
          <a:xfrm>
            <a:off x="9756648" y="4398264"/>
            <a:ext cx="256032"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54" name="Text 52"/>
          <p:cNvSpPr txBox="1"/>
          <p:nvPr/>
        </p:nvSpPr>
        <p:spPr>
          <a:xfrm>
            <a:off x="10113264" y="4361688"/>
            <a:ext cx="1005840" cy="256032"/>
          </a:xfrm>
          <a:prstGeom prst="rect">
            <a:avLst/>
          </a:prstGeom>
          <a:noFill/>
          <a:ln/>
        </p:spPr>
        <p:txBody>
          <a:bodyPr wrap="square" lIns="0" tIns="0" rIns="0" bIns="0" rtlCol="0" anchor="ctr">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Allocation rule</a:t>
            </a:r>
            <a:endParaRPr lang="en-US" sz="1150" dirty="0"/>
          </a:p>
        </p:txBody>
      </p:sp>
      <p:sp>
        <p:nvSpPr>
          <p:cNvPr id="55" name="Text 53"/>
          <p:cNvSpPr txBox="1"/>
          <p:nvPr/>
        </p:nvSpPr>
        <p:spPr>
          <a:xfrm>
            <a:off x="777240" y="5321808"/>
            <a:ext cx="8046720" cy="320040"/>
          </a:xfrm>
          <a:prstGeom prst="rect">
            <a:avLst/>
          </a:prstGeom>
          <a:noFill/>
          <a:ln/>
        </p:spPr>
        <p:txBody>
          <a:bodyPr wrap="square" lIns="0" tIns="0" rIns="0" bIns="0" rtlCol="0" anchor="ctr">
            <a:normAutofit/>
          </a:bodyPr>
          <a:lstStyle/>
          <a:p>
            <a:pPr algn="l" indent="0" marL="0">
              <a:buNone/>
            </a:pPr>
            <a:r>
              <a:rPr lang="en-US" sz="1500" b="1" dirty="0">
                <a:solidFill>
                  <a:srgbClr val="0B1F33"/>
                </a:solidFill>
                <a:latin typeface="Aptos" pitchFamily="34" charset="0"/>
                <a:ea typeface="Aptos" pitchFamily="34" charset="-122"/>
                <a:cs typeface="Aptos" pitchFamily="34" charset="-120"/>
              </a:rPr>
              <a:t>Echelon inventory includes downstream stock when coordinating upstream decisions.</a:t>
            </a:r>
            <a:endParaRPr lang="en-US" sz="1500" dirty="0"/>
          </a:p>
        </p:txBody>
      </p:sp>
      <p:sp>
        <p:nvSpPr>
          <p:cNvPr id="56" name="Shape 54"/>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57" name="Text 55"/>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58" name="Text 56"/>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Local optimization can duplicate buffers and shift shortages; network policy must coordinate placement and allocation.</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RISK POOLING</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Independent uncertainties diversify when stock is shared</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Illustrative assumptions • two identical locations • lead-time demand σ = 60 each • 95% CSL • z = 1.645</a:t>
            </a:r>
            <a:endParaRPr lang="en-US" sz="1350" dirty="0"/>
          </a:p>
        </p:txBody>
      </p:sp>
      <p:sp>
        <p:nvSpPr>
          <p:cNvPr id="5" name="Shape 3"/>
          <p:cNvSpPr/>
          <p:nvPr/>
        </p:nvSpPr>
        <p:spPr>
          <a:xfrm>
            <a:off x="640080" y="1645920"/>
            <a:ext cx="5029200" cy="3611880"/>
          </a:xfrm>
          <a:prstGeom prst="roundRect">
            <a:avLst>
              <a:gd name="adj" fmla="val 3038"/>
            </a:avLst>
          </a:prstGeom>
          <a:solidFill>
            <a:srgbClr val="FFFFFF"/>
          </a:solidFill>
          <a:ln w="12700">
            <a:solidFill>
              <a:srgbClr val="E8EDF2"/>
            </a:solidFill>
            <a:prstDash val="solid"/>
          </a:ln>
        </p:spPr>
      </p:sp>
      <p:sp>
        <p:nvSpPr>
          <p:cNvPr id="6" name="Text 4"/>
          <p:cNvSpPr txBox="1"/>
          <p:nvPr/>
        </p:nvSpPr>
        <p:spPr>
          <a:xfrm>
            <a:off x="896112" y="1901952"/>
            <a:ext cx="1920240" cy="274320"/>
          </a:xfrm>
          <a:prstGeom prst="rect">
            <a:avLst/>
          </a:prstGeom>
          <a:noFill/>
          <a:ln/>
        </p:spPr>
        <p:txBody>
          <a:bodyPr wrap="square" lIns="0" tIns="0" rIns="0" bIns="0" rtlCol="0" anchor="ctr">
            <a:normAutofit/>
          </a:bodyPr>
          <a:lstStyle/>
          <a:p>
            <a:pPr algn="l" indent="0" marL="0">
              <a:buNone/>
            </a:pPr>
            <a:r>
              <a:rPr lang="en-US" sz="1100" b="1" dirty="0">
                <a:solidFill>
                  <a:srgbClr val="1D6FA5"/>
                </a:solidFill>
                <a:latin typeface="Aptos" pitchFamily="34" charset="0"/>
                <a:ea typeface="Aptos" pitchFamily="34" charset="-122"/>
                <a:cs typeface="Aptos" pitchFamily="34" charset="-120"/>
              </a:rPr>
              <a:t>DECENTRALIZED</a:t>
            </a:r>
            <a:endParaRPr lang="en-US" sz="1100" dirty="0"/>
          </a:p>
        </p:txBody>
      </p:sp>
      <p:sp>
        <p:nvSpPr>
          <p:cNvPr id="7" name="Shape 5"/>
          <p:cNvSpPr/>
          <p:nvPr/>
        </p:nvSpPr>
        <p:spPr>
          <a:xfrm>
            <a:off x="960120" y="2640330"/>
            <a:ext cx="1234440" cy="651510"/>
          </a:xfrm>
          <a:prstGeom prst="roundRect">
            <a:avLst>
              <a:gd name="adj" fmla="val 2807"/>
            </a:avLst>
          </a:prstGeom>
          <a:solidFill>
            <a:srgbClr val="FFFFFF"/>
          </a:solidFill>
          <a:ln w="12700">
            <a:solidFill>
              <a:srgbClr val="1D6FA5"/>
            </a:solidFill>
            <a:prstDash val="solid"/>
          </a:ln>
        </p:spPr>
      </p:sp>
      <p:sp>
        <p:nvSpPr>
          <p:cNvPr id="8" name="Shape 6"/>
          <p:cNvSpPr/>
          <p:nvPr/>
        </p:nvSpPr>
        <p:spPr>
          <a:xfrm>
            <a:off x="960120" y="2423160"/>
            <a:ext cx="1234440" cy="217170"/>
          </a:xfrm>
          <a:prstGeom prst="rect">
            <a:avLst/>
          </a:prstGeom>
          <a:solidFill>
            <a:srgbClr val="F28E2B"/>
          </a:solidFill>
          <a:ln w="12700">
            <a:solidFill>
              <a:srgbClr val="F28E2B"/>
            </a:solidFill>
            <a:prstDash val="solid"/>
          </a:ln>
        </p:spPr>
      </p:sp>
      <p:sp>
        <p:nvSpPr>
          <p:cNvPr id="9" name="Text 7"/>
          <p:cNvSpPr txBox="1"/>
          <p:nvPr/>
        </p:nvSpPr>
        <p:spPr>
          <a:xfrm>
            <a:off x="960120" y="2831440"/>
            <a:ext cx="1234440" cy="191110"/>
          </a:xfrm>
          <a:prstGeom prst="rect">
            <a:avLst/>
          </a:prstGeom>
          <a:noFill/>
          <a:ln/>
        </p:spPr>
        <p:txBody>
          <a:bodyPr wrap="square" lIns="0" tIns="0" rIns="0" bIns="0" rtlCol="0" anchor="ctr">
            <a:normAutofit/>
          </a:bodyPr>
          <a:lstStyle/>
          <a:p>
            <a:pPr algn="ctr" indent="0" marL="0">
              <a:buNone/>
            </a:pPr>
            <a:r>
              <a:rPr lang="en-US" sz="900" b="1" dirty="0">
                <a:solidFill>
                  <a:srgbClr val="0B1F33"/>
                </a:solidFill>
                <a:latin typeface="Aptos" pitchFamily="34" charset="0"/>
                <a:ea typeface="Aptos" pitchFamily="34" charset="-122"/>
                <a:cs typeface="Aptos" pitchFamily="34" charset="-120"/>
              </a:rPr>
              <a:t>LOC 1</a:t>
            </a:r>
            <a:endParaRPr lang="en-US" sz="900" dirty="0"/>
          </a:p>
        </p:txBody>
      </p:sp>
      <p:sp>
        <p:nvSpPr>
          <p:cNvPr id="10" name="Shape 8"/>
          <p:cNvSpPr/>
          <p:nvPr/>
        </p:nvSpPr>
        <p:spPr>
          <a:xfrm>
            <a:off x="3566160" y="2640330"/>
            <a:ext cx="1234440" cy="651510"/>
          </a:xfrm>
          <a:prstGeom prst="roundRect">
            <a:avLst>
              <a:gd name="adj" fmla="val 2807"/>
            </a:avLst>
          </a:prstGeom>
          <a:solidFill>
            <a:srgbClr val="FFFFFF"/>
          </a:solidFill>
          <a:ln w="12700">
            <a:solidFill>
              <a:srgbClr val="1D6FA5"/>
            </a:solidFill>
            <a:prstDash val="solid"/>
          </a:ln>
        </p:spPr>
      </p:sp>
      <p:sp>
        <p:nvSpPr>
          <p:cNvPr id="11" name="Shape 9"/>
          <p:cNvSpPr/>
          <p:nvPr/>
        </p:nvSpPr>
        <p:spPr>
          <a:xfrm>
            <a:off x="3566160" y="2423160"/>
            <a:ext cx="1234440" cy="217170"/>
          </a:xfrm>
          <a:prstGeom prst="rect">
            <a:avLst/>
          </a:prstGeom>
          <a:solidFill>
            <a:srgbClr val="F28E2B"/>
          </a:solidFill>
          <a:ln w="12700">
            <a:solidFill>
              <a:srgbClr val="F28E2B"/>
            </a:solidFill>
            <a:prstDash val="solid"/>
          </a:ln>
        </p:spPr>
      </p:sp>
      <p:sp>
        <p:nvSpPr>
          <p:cNvPr id="12" name="Text 10"/>
          <p:cNvSpPr txBox="1"/>
          <p:nvPr/>
        </p:nvSpPr>
        <p:spPr>
          <a:xfrm>
            <a:off x="3566160" y="2831440"/>
            <a:ext cx="1234440" cy="191110"/>
          </a:xfrm>
          <a:prstGeom prst="rect">
            <a:avLst/>
          </a:prstGeom>
          <a:noFill/>
          <a:ln/>
        </p:spPr>
        <p:txBody>
          <a:bodyPr wrap="square" lIns="0" tIns="0" rIns="0" bIns="0" rtlCol="0" anchor="ctr">
            <a:normAutofit/>
          </a:bodyPr>
          <a:lstStyle/>
          <a:p>
            <a:pPr algn="ctr" indent="0" marL="0">
              <a:buNone/>
            </a:pPr>
            <a:r>
              <a:rPr lang="en-US" sz="900" b="1" dirty="0">
                <a:solidFill>
                  <a:srgbClr val="0B1F33"/>
                </a:solidFill>
                <a:latin typeface="Aptos" pitchFamily="34" charset="0"/>
                <a:ea typeface="Aptos" pitchFamily="34" charset="-122"/>
                <a:cs typeface="Aptos" pitchFamily="34" charset="-120"/>
              </a:rPr>
              <a:t>LOC 2</a:t>
            </a:r>
            <a:endParaRPr lang="en-US" sz="900" dirty="0"/>
          </a:p>
        </p:txBody>
      </p:sp>
      <p:sp>
        <p:nvSpPr>
          <p:cNvPr id="13" name="Text 11"/>
          <p:cNvSpPr txBox="1"/>
          <p:nvPr/>
        </p:nvSpPr>
        <p:spPr>
          <a:xfrm>
            <a:off x="822960" y="3547872"/>
            <a:ext cx="1600200" cy="256032"/>
          </a:xfrm>
          <a:prstGeom prst="rect">
            <a:avLst/>
          </a:prstGeom>
          <a:noFill/>
          <a:ln/>
        </p:spPr>
        <p:txBody>
          <a:bodyPr wrap="square" lIns="0" tIns="0" rIns="0" bIns="0" rtlCol="0" anchor="ctr">
            <a:normAutofit/>
          </a:bodyPr>
          <a:lstStyle/>
          <a:p>
            <a:pPr algn="ctr" indent="0" marL="0">
              <a:buNone/>
            </a:pPr>
            <a:r>
              <a:rPr lang="en-US" sz="1200" dirty="0">
                <a:solidFill>
                  <a:srgbClr val="6B7785"/>
                </a:solidFill>
                <a:latin typeface="Aptos" pitchFamily="34" charset="0"/>
                <a:ea typeface="Aptos" pitchFamily="34" charset="-122"/>
                <a:cs typeface="Aptos" pitchFamily="34" charset="-120"/>
              </a:rPr>
              <a:t>SS = 1.645 × 60</a:t>
            </a:r>
            <a:endParaRPr lang="en-US" sz="1200" dirty="0"/>
          </a:p>
        </p:txBody>
      </p:sp>
      <p:sp>
        <p:nvSpPr>
          <p:cNvPr id="14" name="Text 12"/>
          <p:cNvSpPr txBox="1"/>
          <p:nvPr/>
        </p:nvSpPr>
        <p:spPr>
          <a:xfrm>
            <a:off x="960120" y="3877056"/>
            <a:ext cx="1234440" cy="365760"/>
          </a:xfrm>
          <a:prstGeom prst="rect">
            <a:avLst/>
          </a:prstGeom>
          <a:noFill/>
          <a:ln/>
        </p:spPr>
        <p:txBody>
          <a:bodyPr wrap="square" lIns="0" tIns="0" rIns="0" bIns="0" rtlCol="0" anchor="ctr">
            <a:normAutofit/>
          </a:bodyPr>
          <a:lstStyle/>
          <a:p>
            <a:pPr algn="ctr" indent="0" marL="0">
              <a:buNone/>
            </a:pPr>
            <a:r>
              <a:rPr lang="en-US" sz="2200" b="1" dirty="0">
                <a:solidFill>
                  <a:srgbClr val="1D6FA5"/>
                </a:solidFill>
                <a:latin typeface="Aptos" pitchFamily="34" charset="0"/>
                <a:ea typeface="Aptos" pitchFamily="34" charset="-122"/>
                <a:cs typeface="Aptos" pitchFamily="34" charset="-120"/>
              </a:rPr>
              <a:t>≈ 99</a:t>
            </a:r>
            <a:endParaRPr lang="en-US" sz="2200" dirty="0"/>
          </a:p>
        </p:txBody>
      </p:sp>
      <p:sp>
        <p:nvSpPr>
          <p:cNvPr id="15" name="Text 13"/>
          <p:cNvSpPr txBox="1"/>
          <p:nvPr/>
        </p:nvSpPr>
        <p:spPr>
          <a:xfrm>
            <a:off x="3429000" y="3547872"/>
            <a:ext cx="1600200" cy="256032"/>
          </a:xfrm>
          <a:prstGeom prst="rect">
            <a:avLst/>
          </a:prstGeom>
          <a:noFill/>
          <a:ln/>
        </p:spPr>
        <p:txBody>
          <a:bodyPr wrap="square" lIns="0" tIns="0" rIns="0" bIns="0" rtlCol="0" anchor="ctr">
            <a:normAutofit/>
          </a:bodyPr>
          <a:lstStyle/>
          <a:p>
            <a:pPr algn="ctr" indent="0" marL="0">
              <a:buNone/>
            </a:pPr>
            <a:r>
              <a:rPr lang="en-US" sz="1200" dirty="0">
                <a:solidFill>
                  <a:srgbClr val="6B7785"/>
                </a:solidFill>
                <a:latin typeface="Aptos" pitchFamily="34" charset="0"/>
                <a:ea typeface="Aptos" pitchFamily="34" charset="-122"/>
                <a:cs typeface="Aptos" pitchFamily="34" charset="-120"/>
              </a:rPr>
              <a:t>SS = 1.645 × 60</a:t>
            </a:r>
            <a:endParaRPr lang="en-US" sz="1200" dirty="0"/>
          </a:p>
        </p:txBody>
      </p:sp>
      <p:sp>
        <p:nvSpPr>
          <p:cNvPr id="16" name="Text 14"/>
          <p:cNvSpPr txBox="1"/>
          <p:nvPr/>
        </p:nvSpPr>
        <p:spPr>
          <a:xfrm>
            <a:off x="3566160" y="3877056"/>
            <a:ext cx="1234440" cy="365760"/>
          </a:xfrm>
          <a:prstGeom prst="rect">
            <a:avLst/>
          </a:prstGeom>
          <a:noFill/>
          <a:ln/>
        </p:spPr>
        <p:txBody>
          <a:bodyPr wrap="square" lIns="0" tIns="0" rIns="0" bIns="0" rtlCol="0" anchor="ctr">
            <a:normAutofit/>
          </a:bodyPr>
          <a:lstStyle/>
          <a:p>
            <a:pPr algn="ctr" indent="0" marL="0">
              <a:buNone/>
            </a:pPr>
            <a:r>
              <a:rPr lang="en-US" sz="2200" b="1" dirty="0">
                <a:solidFill>
                  <a:srgbClr val="1D6FA5"/>
                </a:solidFill>
                <a:latin typeface="Aptos" pitchFamily="34" charset="0"/>
                <a:ea typeface="Aptos" pitchFamily="34" charset="-122"/>
                <a:cs typeface="Aptos" pitchFamily="34" charset="-120"/>
              </a:rPr>
              <a:t>≈ 99</a:t>
            </a:r>
            <a:endParaRPr lang="en-US" sz="2200" dirty="0"/>
          </a:p>
        </p:txBody>
      </p:sp>
      <p:sp>
        <p:nvSpPr>
          <p:cNvPr id="17" name="Text 15"/>
          <p:cNvSpPr txBox="1"/>
          <p:nvPr/>
        </p:nvSpPr>
        <p:spPr>
          <a:xfrm>
            <a:off x="1463040" y="4681728"/>
            <a:ext cx="3337560" cy="320040"/>
          </a:xfrm>
          <a:prstGeom prst="rect">
            <a:avLst/>
          </a:prstGeom>
          <a:noFill/>
          <a:ln/>
        </p:spPr>
        <p:txBody>
          <a:bodyPr wrap="square" lIns="0" tIns="0" rIns="0" bIns="0" rtlCol="0" anchor="ctr">
            <a:normAutofit/>
          </a:bodyPr>
          <a:lstStyle/>
          <a:p>
            <a:pPr algn="ctr" indent="0" marL="0">
              <a:buNone/>
            </a:pPr>
            <a:r>
              <a:rPr lang="en-US" sz="1700" b="1" dirty="0">
                <a:solidFill>
                  <a:srgbClr val="0B1F33"/>
                </a:solidFill>
                <a:latin typeface="Aptos" pitchFamily="34" charset="0"/>
                <a:ea typeface="Aptos" pitchFamily="34" charset="-122"/>
                <a:cs typeface="Aptos" pitchFamily="34" charset="-120"/>
              </a:rPr>
              <a:t>TOTAL ≈ 198 UNITS</a:t>
            </a:r>
            <a:endParaRPr lang="en-US" sz="1700" dirty="0"/>
          </a:p>
        </p:txBody>
      </p:sp>
      <p:sp>
        <p:nvSpPr>
          <p:cNvPr id="18" name="Shape 16"/>
          <p:cNvSpPr/>
          <p:nvPr/>
        </p:nvSpPr>
        <p:spPr>
          <a:xfrm>
            <a:off x="5989320" y="1645920"/>
            <a:ext cx="5285232" cy="3611880"/>
          </a:xfrm>
          <a:prstGeom prst="roundRect">
            <a:avLst>
              <a:gd name="adj" fmla="val 3038"/>
            </a:avLst>
          </a:prstGeom>
          <a:solidFill>
            <a:srgbClr val="EAF3F8"/>
          </a:solidFill>
          <a:ln w="12700">
            <a:solidFill>
              <a:srgbClr val="EAF3F8"/>
            </a:solidFill>
            <a:prstDash val="solid"/>
          </a:ln>
        </p:spPr>
      </p:sp>
      <p:sp>
        <p:nvSpPr>
          <p:cNvPr id="19" name="Text 17"/>
          <p:cNvSpPr txBox="1"/>
          <p:nvPr/>
        </p:nvSpPr>
        <p:spPr>
          <a:xfrm>
            <a:off x="6263640" y="1901952"/>
            <a:ext cx="1920240" cy="274320"/>
          </a:xfrm>
          <a:prstGeom prst="rect">
            <a:avLst/>
          </a:prstGeom>
          <a:noFill/>
          <a:ln/>
        </p:spPr>
        <p:txBody>
          <a:bodyPr wrap="square" lIns="0" tIns="0" rIns="0" bIns="0" rtlCol="0" anchor="ctr">
            <a:normAutofit/>
          </a:bodyPr>
          <a:lstStyle/>
          <a:p>
            <a:pPr algn="l" indent="0" marL="0">
              <a:buNone/>
            </a:pPr>
            <a:r>
              <a:rPr lang="en-US" sz="1100" b="1" dirty="0">
                <a:solidFill>
                  <a:srgbClr val="2A9D8F"/>
                </a:solidFill>
                <a:latin typeface="Aptos" pitchFamily="34" charset="0"/>
                <a:ea typeface="Aptos" pitchFamily="34" charset="-122"/>
                <a:cs typeface="Aptos" pitchFamily="34" charset="-120"/>
              </a:rPr>
              <a:t>CENTRALIZED</a:t>
            </a:r>
            <a:endParaRPr lang="en-US" sz="1100" dirty="0"/>
          </a:p>
        </p:txBody>
      </p:sp>
      <p:sp>
        <p:nvSpPr>
          <p:cNvPr id="20" name="Shape 18"/>
          <p:cNvSpPr/>
          <p:nvPr/>
        </p:nvSpPr>
        <p:spPr>
          <a:xfrm rot="16200000">
            <a:off x="7818120" y="2286000"/>
            <a:ext cx="1554480" cy="400050"/>
          </a:xfrm>
          <a:prstGeom prst="chevron">
            <a:avLst/>
          </a:prstGeom>
          <a:solidFill>
            <a:srgbClr val="173B57"/>
          </a:solidFill>
          <a:ln w="12700">
            <a:solidFill>
              <a:srgbClr val="173B57"/>
            </a:solidFill>
            <a:prstDash val="solid"/>
          </a:ln>
        </p:spPr>
      </p:sp>
      <p:sp>
        <p:nvSpPr>
          <p:cNvPr id="21" name="Shape 19"/>
          <p:cNvSpPr/>
          <p:nvPr/>
        </p:nvSpPr>
        <p:spPr>
          <a:xfrm>
            <a:off x="7818120" y="2571750"/>
            <a:ext cx="1554480" cy="857250"/>
          </a:xfrm>
          <a:prstGeom prst="rect">
            <a:avLst/>
          </a:prstGeom>
          <a:solidFill>
            <a:srgbClr val="EAF3F8"/>
          </a:solidFill>
          <a:ln w="12700">
            <a:solidFill>
              <a:srgbClr val="1D6FA5"/>
            </a:solidFill>
            <a:prstDash val="solid"/>
          </a:ln>
        </p:spPr>
      </p:sp>
      <p:sp>
        <p:nvSpPr>
          <p:cNvPr id="22" name="Shape 20"/>
          <p:cNvSpPr/>
          <p:nvPr/>
        </p:nvSpPr>
        <p:spPr>
          <a:xfrm>
            <a:off x="7964424" y="2834640"/>
            <a:ext cx="310896" cy="228600"/>
          </a:xfrm>
          <a:prstGeom prst="roundRect">
            <a:avLst>
              <a:gd name="adj" fmla="val 20000"/>
            </a:avLst>
          </a:prstGeom>
          <a:solidFill>
            <a:srgbClr val="1D6FA5"/>
          </a:solidFill>
          <a:ln w="12700">
            <a:solidFill>
              <a:srgbClr val="1D6FA5"/>
            </a:solidFill>
            <a:prstDash val="solid"/>
          </a:ln>
        </p:spPr>
      </p:sp>
      <p:sp>
        <p:nvSpPr>
          <p:cNvPr id="23" name="Shape 21"/>
          <p:cNvSpPr/>
          <p:nvPr/>
        </p:nvSpPr>
        <p:spPr>
          <a:xfrm>
            <a:off x="8119872" y="2834640"/>
            <a:ext cx="0" cy="228600"/>
          </a:xfrm>
          <a:prstGeom prst="line">
            <a:avLst/>
          </a:prstGeom>
          <a:noFill/>
          <a:ln w="12700">
            <a:solidFill>
              <a:srgbClr val="FFFFFF"/>
            </a:solidFill>
            <a:prstDash val="solid"/>
          </a:ln>
        </p:spPr>
      </p:sp>
      <p:sp>
        <p:nvSpPr>
          <p:cNvPr id="24" name="Shape 22"/>
          <p:cNvSpPr/>
          <p:nvPr/>
        </p:nvSpPr>
        <p:spPr>
          <a:xfrm>
            <a:off x="7964424" y="2937510"/>
            <a:ext cx="310896" cy="0"/>
          </a:xfrm>
          <a:prstGeom prst="line">
            <a:avLst/>
          </a:prstGeom>
          <a:noFill/>
          <a:ln w="12700">
            <a:solidFill>
              <a:srgbClr val="FFFFFF"/>
            </a:solidFill>
            <a:prstDash val="solid"/>
          </a:ln>
        </p:spPr>
      </p:sp>
      <p:sp>
        <p:nvSpPr>
          <p:cNvPr id="25" name="Shape 23"/>
          <p:cNvSpPr/>
          <p:nvPr/>
        </p:nvSpPr>
        <p:spPr>
          <a:xfrm>
            <a:off x="8384134" y="2834640"/>
            <a:ext cx="310896" cy="228600"/>
          </a:xfrm>
          <a:prstGeom prst="roundRect">
            <a:avLst>
              <a:gd name="adj" fmla="val 20000"/>
            </a:avLst>
          </a:prstGeom>
          <a:solidFill>
            <a:srgbClr val="1D6FA5"/>
          </a:solidFill>
          <a:ln w="12700">
            <a:solidFill>
              <a:srgbClr val="1D6FA5"/>
            </a:solidFill>
            <a:prstDash val="solid"/>
          </a:ln>
        </p:spPr>
      </p:sp>
      <p:sp>
        <p:nvSpPr>
          <p:cNvPr id="26" name="Shape 24"/>
          <p:cNvSpPr/>
          <p:nvPr/>
        </p:nvSpPr>
        <p:spPr>
          <a:xfrm>
            <a:off x="8539582" y="2834640"/>
            <a:ext cx="0" cy="228600"/>
          </a:xfrm>
          <a:prstGeom prst="line">
            <a:avLst/>
          </a:prstGeom>
          <a:noFill/>
          <a:ln w="12700">
            <a:solidFill>
              <a:srgbClr val="FFFFFF"/>
            </a:solidFill>
            <a:prstDash val="solid"/>
          </a:ln>
        </p:spPr>
      </p:sp>
      <p:sp>
        <p:nvSpPr>
          <p:cNvPr id="27" name="Shape 25"/>
          <p:cNvSpPr/>
          <p:nvPr/>
        </p:nvSpPr>
        <p:spPr>
          <a:xfrm>
            <a:off x="8384134" y="2937510"/>
            <a:ext cx="310896" cy="0"/>
          </a:xfrm>
          <a:prstGeom prst="line">
            <a:avLst/>
          </a:prstGeom>
          <a:noFill/>
          <a:ln w="12700">
            <a:solidFill>
              <a:srgbClr val="FFFFFF"/>
            </a:solidFill>
            <a:prstDash val="solid"/>
          </a:ln>
        </p:spPr>
      </p:sp>
      <p:sp>
        <p:nvSpPr>
          <p:cNvPr id="28" name="Shape 26"/>
          <p:cNvSpPr/>
          <p:nvPr/>
        </p:nvSpPr>
        <p:spPr>
          <a:xfrm>
            <a:off x="8803843" y="2834640"/>
            <a:ext cx="310896" cy="228600"/>
          </a:xfrm>
          <a:prstGeom prst="roundRect">
            <a:avLst>
              <a:gd name="adj" fmla="val 20000"/>
            </a:avLst>
          </a:prstGeom>
          <a:solidFill>
            <a:srgbClr val="F28E2B"/>
          </a:solidFill>
          <a:ln w="12700">
            <a:solidFill>
              <a:srgbClr val="F28E2B"/>
            </a:solidFill>
            <a:prstDash val="solid"/>
          </a:ln>
        </p:spPr>
      </p:sp>
      <p:sp>
        <p:nvSpPr>
          <p:cNvPr id="29" name="Shape 27"/>
          <p:cNvSpPr/>
          <p:nvPr/>
        </p:nvSpPr>
        <p:spPr>
          <a:xfrm>
            <a:off x="8959291" y="2834640"/>
            <a:ext cx="0" cy="228600"/>
          </a:xfrm>
          <a:prstGeom prst="line">
            <a:avLst/>
          </a:prstGeom>
          <a:noFill/>
          <a:ln w="12700">
            <a:solidFill>
              <a:srgbClr val="FFFFFF"/>
            </a:solidFill>
            <a:prstDash val="solid"/>
          </a:ln>
        </p:spPr>
      </p:sp>
      <p:sp>
        <p:nvSpPr>
          <p:cNvPr id="30" name="Shape 28"/>
          <p:cNvSpPr/>
          <p:nvPr/>
        </p:nvSpPr>
        <p:spPr>
          <a:xfrm>
            <a:off x="8803843" y="2937510"/>
            <a:ext cx="310896" cy="0"/>
          </a:xfrm>
          <a:prstGeom prst="line">
            <a:avLst/>
          </a:prstGeom>
          <a:noFill/>
          <a:ln w="12700">
            <a:solidFill>
              <a:srgbClr val="FFFFFF"/>
            </a:solidFill>
            <a:prstDash val="solid"/>
          </a:ln>
        </p:spPr>
      </p:sp>
      <p:sp>
        <p:nvSpPr>
          <p:cNvPr id="31" name="Text 29"/>
          <p:cNvSpPr txBox="1"/>
          <p:nvPr/>
        </p:nvSpPr>
        <p:spPr>
          <a:xfrm>
            <a:off x="6537960" y="3657600"/>
            <a:ext cx="4206240" cy="320040"/>
          </a:xfrm>
          <a:prstGeom prst="rect">
            <a:avLst/>
          </a:prstGeom>
          <a:noFill/>
          <a:ln/>
        </p:spPr>
        <p:txBody>
          <a:bodyPr wrap="square" lIns="0" tIns="0" rIns="0" bIns="0" rtlCol="0" anchor="ctr">
            <a:normAutofit/>
          </a:bodyPr>
          <a:lstStyle/>
          <a:p>
            <a:pPr algn="ctr" indent="0" marL="0">
              <a:buNone/>
            </a:pPr>
            <a:r>
              <a:rPr lang="en-US" sz="1500" b="1" dirty="0">
                <a:solidFill>
                  <a:srgbClr val="0B1F33"/>
                </a:solidFill>
                <a:latin typeface="Aptos" pitchFamily="34" charset="0"/>
                <a:ea typeface="Aptos" pitchFamily="34" charset="-122"/>
                <a:cs typeface="Aptos" pitchFamily="34" charset="-120"/>
              </a:rPr>
              <a:t>σpool = √(60² + 60²) = 84.85</a:t>
            </a:r>
            <a:endParaRPr lang="en-US" sz="1500" dirty="0"/>
          </a:p>
        </p:txBody>
      </p:sp>
      <p:sp>
        <p:nvSpPr>
          <p:cNvPr id="32" name="Text 30"/>
          <p:cNvSpPr txBox="1"/>
          <p:nvPr/>
        </p:nvSpPr>
        <p:spPr>
          <a:xfrm>
            <a:off x="6537960" y="4114800"/>
            <a:ext cx="4206240" cy="347472"/>
          </a:xfrm>
          <a:prstGeom prst="rect">
            <a:avLst/>
          </a:prstGeom>
          <a:noFill/>
          <a:ln/>
        </p:spPr>
        <p:txBody>
          <a:bodyPr wrap="square" lIns="0" tIns="0" rIns="0" bIns="0" rtlCol="0" anchor="ctr">
            <a:normAutofit/>
          </a:bodyPr>
          <a:lstStyle/>
          <a:p>
            <a:pPr algn="ctr" indent="0" marL="0">
              <a:buNone/>
            </a:pPr>
            <a:r>
              <a:rPr lang="en-US" sz="1800" b="1" dirty="0">
                <a:solidFill>
                  <a:srgbClr val="2A9D8F"/>
                </a:solidFill>
                <a:latin typeface="Aptos" pitchFamily="34" charset="0"/>
                <a:ea typeface="Aptos" pitchFamily="34" charset="-122"/>
                <a:cs typeface="Aptos" pitchFamily="34" charset="-120"/>
              </a:rPr>
              <a:t>SS = 1.645 × 84.85 ≈ 140</a:t>
            </a:r>
            <a:endParaRPr lang="en-US" sz="1800" dirty="0"/>
          </a:p>
        </p:txBody>
      </p:sp>
      <p:sp>
        <p:nvSpPr>
          <p:cNvPr id="33" name="Shape 31"/>
          <p:cNvSpPr/>
          <p:nvPr/>
        </p:nvSpPr>
        <p:spPr>
          <a:xfrm>
            <a:off x="7242048" y="4681728"/>
            <a:ext cx="2926080" cy="274320"/>
          </a:xfrm>
          <a:prstGeom prst="roundRect">
            <a:avLst>
              <a:gd name="adj" fmla="val 50000"/>
            </a:avLst>
          </a:prstGeom>
          <a:solidFill>
            <a:srgbClr val="2A9D8F"/>
          </a:solidFill>
          <a:ln w="12700">
            <a:solidFill>
              <a:srgbClr val="2A9D8F"/>
            </a:solidFill>
            <a:prstDash val="solid"/>
          </a:ln>
        </p:spPr>
      </p:sp>
      <p:sp>
        <p:nvSpPr>
          <p:cNvPr id="34" name="Text 32"/>
          <p:cNvSpPr txBox="1"/>
          <p:nvPr/>
        </p:nvSpPr>
        <p:spPr>
          <a:xfrm>
            <a:off x="7242048" y="4681728"/>
            <a:ext cx="2926080"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 29% LESS SAFETY STOCK</a:t>
            </a:r>
            <a:endParaRPr lang="en-US" sz="1000" dirty="0"/>
          </a:p>
        </p:txBody>
      </p:sp>
      <p:sp>
        <p:nvSpPr>
          <p:cNvPr id="35" name="Shape 33"/>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36" name="Text 34"/>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37" name="Text 35"/>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Pooling reduces safety stock because variances—not standard deviations—add when demands are independent.</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POOLING IS CONDITIONAL</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Correlation and response penalties can erase the gain</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Ask: what if both regions peak at the same time?</a:t>
            </a:r>
            <a:endParaRPr lang="en-US" sz="1350" dirty="0"/>
          </a:p>
        </p:txBody>
      </p:sp>
      <p:sp>
        <p:nvSpPr>
          <p:cNvPr id="5" name="Shape 3"/>
          <p:cNvSpPr/>
          <p:nvPr/>
        </p:nvSpPr>
        <p:spPr>
          <a:xfrm>
            <a:off x="640080" y="1627632"/>
            <a:ext cx="3456432" cy="2331720"/>
          </a:xfrm>
          <a:prstGeom prst="roundRect">
            <a:avLst>
              <a:gd name="adj" fmla="val 4706"/>
            </a:avLst>
          </a:prstGeom>
          <a:solidFill>
            <a:srgbClr val="FFFFFF"/>
          </a:solidFill>
          <a:ln w="12700">
            <a:solidFill>
              <a:srgbClr val="E8EDF2"/>
            </a:solidFill>
            <a:prstDash val="solid"/>
          </a:ln>
        </p:spPr>
      </p:sp>
      <p:sp>
        <p:nvSpPr>
          <p:cNvPr id="6" name="Text 4"/>
          <p:cNvSpPr txBox="1"/>
          <p:nvPr/>
        </p:nvSpPr>
        <p:spPr>
          <a:xfrm>
            <a:off x="859536" y="1847088"/>
            <a:ext cx="3017520" cy="411480"/>
          </a:xfrm>
          <a:prstGeom prst="rect">
            <a:avLst/>
          </a:prstGeom>
          <a:noFill/>
          <a:ln/>
        </p:spPr>
        <p:txBody>
          <a:bodyPr wrap="square" lIns="0" tIns="0" rIns="0" bIns="0" rtlCol="0" anchor="ctr">
            <a:normAutofit/>
          </a:bodyPr>
          <a:lstStyle/>
          <a:p>
            <a:pPr algn="ctr" indent="0" marL="0">
              <a:buNone/>
            </a:pPr>
            <a:r>
              <a:rPr lang="en-US" sz="2400" b="1" dirty="0">
                <a:solidFill>
                  <a:srgbClr val="2A9D8F"/>
                </a:solidFill>
                <a:latin typeface="Aptos" pitchFamily="34" charset="0"/>
                <a:ea typeface="Aptos" pitchFamily="34" charset="-122"/>
                <a:cs typeface="Aptos" pitchFamily="34" charset="-120"/>
              </a:rPr>
              <a:t>ρ = 0</a:t>
            </a:r>
            <a:endParaRPr lang="en-US" sz="2400" dirty="0"/>
          </a:p>
        </p:txBody>
      </p:sp>
      <p:sp>
        <p:nvSpPr>
          <p:cNvPr id="7" name="Text 5"/>
          <p:cNvSpPr txBox="1"/>
          <p:nvPr/>
        </p:nvSpPr>
        <p:spPr>
          <a:xfrm>
            <a:off x="859536" y="2331720"/>
            <a:ext cx="3017520" cy="274320"/>
          </a:xfrm>
          <a:prstGeom prst="rect">
            <a:avLst/>
          </a:prstGeom>
          <a:noFill/>
          <a:ln/>
        </p:spPr>
        <p:txBody>
          <a:bodyPr wrap="square" lIns="0" tIns="0" rIns="0" bIns="0" rtlCol="0" anchor="ctr">
            <a:normAutofit/>
          </a:bodyPr>
          <a:lstStyle/>
          <a:p>
            <a:pPr algn="ctr" indent="0" marL="0">
              <a:buNone/>
            </a:pPr>
            <a:r>
              <a:rPr lang="en-US" sz="1300" b="1" dirty="0">
                <a:solidFill>
                  <a:srgbClr val="0B1F33"/>
                </a:solidFill>
                <a:latin typeface="Aptos" pitchFamily="34" charset="0"/>
                <a:ea typeface="Aptos" pitchFamily="34" charset="-122"/>
                <a:cs typeface="Aptos" pitchFamily="34" charset="-120"/>
              </a:rPr>
              <a:t>Independent</a:t>
            </a:r>
            <a:endParaRPr lang="en-US" sz="1300" dirty="0"/>
          </a:p>
        </p:txBody>
      </p:sp>
      <p:sp>
        <p:nvSpPr>
          <p:cNvPr id="8" name="Text 6"/>
          <p:cNvSpPr txBox="1"/>
          <p:nvPr/>
        </p:nvSpPr>
        <p:spPr>
          <a:xfrm>
            <a:off x="859536" y="2788920"/>
            <a:ext cx="3017520" cy="310896"/>
          </a:xfrm>
          <a:prstGeom prst="rect">
            <a:avLst/>
          </a:prstGeom>
          <a:noFill/>
          <a:ln/>
        </p:spPr>
        <p:txBody>
          <a:bodyPr wrap="square" lIns="0" tIns="0" rIns="0" bIns="0" rtlCol="0" anchor="ctr">
            <a:normAutofit/>
          </a:bodyPr>
          <a:lstStyle/>
          <a:p>
            <a:pPr algn="ctr" indent="0" marL="0">
              <a:buNone/>
            </a:pPr>
            <a:r>
              <a:rPr lang="en-US" sz="1800" b="1" dirty="0">
                <a:solidFill>
                  <a:srgbClr val="152433"/>
                </a:solidFill>
                <a:latin typeface="Aptos" pitchFamily="34" charset="0"/>
                <a:ea typeface="Aptos" pitchFamily="34" charset="-122"/>
                <a:cs typeface="Aptos" pitchFamily="34" charset="-120"/>
              </a:rPr>
              <a:t>SS ≈ 140</a:t>
            </a:r>
            <a:endParaRPr lang="en-US" sz="1800" dirty="0"/>
          </a:p>
        </p:txBody>
      </p:sp>
      <p:sp>
        <p:nvSpPr>
          <p:cNvPr id="9" name="Shape 7"/>
          <p:cNvSpPr/>
          <p:nvPr/>
        </p:nvSpPr>
        <p:spPr>
          <a:xfrm>
            <a:off x="1325880" y="3310128"/>
            <a:ext cx="2084832" cy="274320"/>
          </a:xfrm>
          <a:prstGeom prst="roundRect">
            <a:avLst>
              <a:gd name="adj" fmla="val 50000"/>
            </a:avLst>
          </a:prstGeom>
          <a:solidFill>
            <a:srgbClr val="E7F5F2"/>
          </a:solidFill>
          <a:ln w="12700">
            <a:solidFill>
              <a:srgbClr val="E7F5F2"/>
            </a:solidFill>
            <a:prstDash val="solid"/>
          </a:ln>
        </p:spPr>
      </p:sp>
      <p:sp>
        <p:nvSpPr>
          <p:cNvPr id="10" name="Text 8"/>
          <p:cNvSpPr txBox="1"/>
          <p:nvPr/>
        </p:nvSpPr>
        <p:spPr>
          <a:xfrm>
            <a:off x="1325880" y="3310128"/>
            <a:ext cx="2084832" cy="274320"/>
          </a:xfrm>
          <a:prstGeom prst="rect">
            <a:avLst/>
          </a:prstGeom>
          <a:noFill/>
          <a:ln/>
        </p:spPr>
        <p:txBody>
          <a:bodyPr wrap="square" lIns="0" tIns="0" rIns="0" bIns="0" rtlCol="0" anchor="ctr">
            <a:normAutofit/>
          </a:bodyPr>
          <a:lstStyle/>
          <a:p>
            <a:pPr algn="ctr" indent="0" marL="0">
              <a:buNone/>
            </a:pPr>
            <a:r>
              <a:rPr lang="en-US" sz="1000" b="1" dirty="0">
                <a:solidFill>
                  <a:srgbClr val="2A9D8F"/>
                </a:solidFill>
                <a:latin typeface="Aptos" pitchFamily="34" charset="0"/>
                <a:ea typeface="Aptos" pitchFamily="34" charset="-122"/>
                <a:cs typeface="Aptos" pitchFamily="34" charset="-120"/>
              </a:rPr>
              <a:t>29.3% lower</a:t>
            </a:r>
            <a:endParaRPr lang="en-US" sz="1000" dirty="0"/>
          </a:p>
        </p:txBody>
      </p:sp>
      <p:sp>
        <p:nvSpPr>
          <p:cNvPr id="11" name="Shape 9"/>
          <p:cNvSpPr/>
          <p:nvPr/>
        </p:nvSpPr>
        <p:spPr>
          <a:xfrm>
            <a:off x="4407408" y="1627632"/>
            <a:ext cx="3456432" cy="2331720"/>
          </a:xfrm>
          <a:prstGeom prst="roundRect">
            <a:avLst>
              <a:gd name="adj" fmla="val 4706"/>
            </a:avLst>
          </a:prstGeom>
          <a:solidFill>
            <a:srgbClr val="FFFFFF"/>
          </a:solidFill>
          <a:ln w="12700">
            <a:solidFill>
              <a:srgbClr val="E8EDF2"/>
            </a:solidFill>
            <a:prstDash val="solid"/>
          </a:ln>
        </p:spPr>
      </p:sp>
      <p:sp>
        <p:nvSpPr>
          <p:cNvPr id="12" name="Text 10"/>
          <p:cNvSpPr txBox="1"/>
          <p:nvPr/>
        </p:nvSpPr>
        <p:spPr>
          <a:xfrm>
            <a:off x="4626864" y="1847088"/>
            <a:ext cx="3017520" cy="411480"/>
          </a:xfrm>
          <a:prstGeom prst="rect">
            <a:avLst/>
          </a:prstGeom>
          <a:noFill/>
          <a:ln/>
        </p:spPr>
        <p:txBody>
          <a:bodyPr wrap="square" lIns="0" tIns="0" rIns="0" bIns="0" rtlCol="0" anchor="ctr">
            <a:normAutofit/>
          </a:bodyPr>
          <a:lstStyle/>
          <a:p>
            <a:pPr algn="ctr" indent="0" marL="0">
              <a:buNone/>
            </a:pPr>
            <a:r>
              <a:rPr lang="en-US" sz="2400" b="1" dirty="0">
                <a:solidFill>
                  <a:srgbClr val="F28E2B"/>
                </a:solidFill>
                <a:latin typeface="Aptos" pitchFamily="34" charset="0"/>
                <a:ea typeface="Aptos" pitchFamily="34" charset="-122"/>
                <a:cs typeface="Aptos" pitchFamily="34" charset="-120"/>
              </a:rPr>
              <a:t>ρ = 0.5</a:t>
            </a:r>
            <a:endParaRPr lang="en-US" sz="2400" dirty="0"/>
          </a:p>
        </p:txBody>
      </p:sp>
      <p:sp>
        <p:nvSpPr>
          <p:cNvPr id="13" name="Text 11"/>
          <p:cNvSpPr txBox="1"/>
          <p:nvPr/>
        </p:nvSpPr>
        <p:spPr>
          <a:xfrm>
            <a:off x="4626864" y="2331720"/>
            <a:ext cx="3017520" cy="274320"/>
          </a:xfrm>
          <a:prstGeom prst="rect">
            <a:avLst/>
          </a:prstGeom>
          <a:noFill/>
          <a:ln/>
        </p:spPr>
        <p:txBody>
          <a:bodyPr wrap="square" lIns="0" tIns="0" rIns="0" bIns="0" rtlCol="0" anchor="ctr">
            <a:normAutofit/>
          </a:bodyPr>
          <a:lstStyle/>
          <a:p>
            <a:pPr algn="ctr" indent="0" marL="0">
              <a:buNone/>
            </a:pPr>
            <a:r>
              <a:rPr lang="en-US" sz="1300" b="1" dirty="0">
                <a:solidFill>
                  <a:srgbClr val="0B1F33"/>
                </a:solidFill>
                <a:latin typeface="Aptos" pitchFamily="34" charset="0"/>
                <a:ea typeface="Aptos" pitchFamily="34" charset="-122"/>
                <a:cs typeface="Aptos" pitchFamily="34" charset="-120"/>
              </a:rPr>
              <a:t>Partly correlated</a:t>
            </a:r>
            <a:endParaRPr lang="en-US" sz="1300" dirty="0"/>
          </a:p>
        </p:txBody>
      </p:sp>
      <p:sp>
        <p:nvSpPr>
          <p:cNvPr id="14" name="Text 12"/>
          <p:cNvSpPr txBox="1"/>
          <p:nvPr/>
        </p:nvSpPr>
        <p:spPr>
          <a:xfrm>
            <a:off x="4626864" y="2788920"/>
            <a:ext cx="3017520" cy="310896"/>
          </a:xfrm>
          <a:prstGeom prst="rect">
            <a:avLst/>
          </a:prstGeom>
          <a:noFill/>
          <a:ln/>
        </p:spPr>
        <p:txBody>
          <a:bodyPr wrap="square" lIns="0" tIns="0" rIns="0" bIns="0" rtlCol="0" anchor="ctr">
            <a:normAutofit/>
          </a:bodyPr>
          <a:lstStyle/>
          <a:p>
            <a:pPr algn="ctr" indent="0" marL="0">
              <a:buNone/>
            </a:pPr>
            <a:r>
              <a:rPr lang="en-US" sz="1800" b="1" dirty="0">
                <a:solidFill>
                  <a:srgbClr val="152433"/>
                </a:solidFill>
                <a:latin typeface="Aptos" pitchFamily="34" charset="0"/>
                <a:ea typeface="Aptos" pitchFamily="34" charset="-122"/>
                <a:cs typeface="Aptos" pitchFamily="34" charset="-120"/>
              </a:rPr>
              <a:t>SS ≈ 171</a:t>
            </a:r>
            <a:endParaRPr lang="en-US" sz="1800" dirty="0"/>
          </a:p>
        </p:txBody>
      </p:sp>
      <p:sp>
        <p:nvSpPr>
          <p:cNvPr id="15" name="Shape 13"/>
          <p:cNvSpPr/>
          <p:nvPr/>
        </p:nvSpPr>
        <p:spPr>
          <a:xfrm>
            <a:off x="5093208" y="3310128"/>
            <a:ext cx="2084832" cy="274320"/>
          </a:xfrm>
          <a:prstGeom prst="roundRect">
            <a:avLst>
              <a:gd name="adj" fmla="val 50000"/>
            </a:avLst>
          </a:prstGeom>
          <a:solidFill>
            <a:srgbClr val="FFF1E3"/>
          </a:solidFill>
          <a:ln w="12700">
            <a:solidFill>
              <a:srgbClr val="FFF1E3"/>
            </a:solidFill>
            <a:prstDash val="solid"/>
          </a:ln>
        </p:spPr>
      </p:sp>
      <p:sp>
        <p:nvSpPr>
          <p:cNvPr id="16" name="Text 14"/>
          <p:cNvSpPr txBox="1"/>
          <p:nvPr/>
        </p:nvSpPr>
        <p:spPr>
          <a:xfrm>
            <a:off x="5093208" y="3310128"/>
            <a:ext cx="2084832" cy="274320"/>
          </a:xfrm>
          <a:prstGeom prst="rect">
            <a:avLst/>
          </a:prstGeom>
          <a:noFill/>
          <a:ln/>
        </p:spPr>
        <p:txBody>
          <a:bodyPr wrap="square" lIns="0" tIns="0" rIns="0" bIns="0" rtlCol="0" anchor="ctr">
            <a:normAutofit/>
          </a:bodyPr>
          <a:lstStyle/>
          <a:p>
            <a:pPr algn="ctr" indent="0" marL="0">
              <a:buNone/>
            </a:pPr>
            <a:r>
              <a:rPr lang="en-US" sz="1000" b="1" dirty="0">
                <a:solidFill>
                  <a:srgbClr val="F28E2B"/>
                </a:solidFill>
                <a:latin typeface="Aptos" pitchFamily="34" charset="0"/>
                <a:ea typeface="Aptos" pitchFamily="34" charset="-122"/>
                <a:cs typeface="Aptos" pitchFamily="34" charset="-120"/>
              </a:rPr>
              <a:t>13.4% lower</a:t>
            </a:r>
            <a:endParaRPr lang="en-US" sz="1000" dirty="0"/>
          </a:p>
        </p:txBody>
      </p:sp>
      <p:sp>
        <p:nvSpPr>
          <p:cNvPr id="17" name="Shape 15"/>
          <p:cNvSpPr/>
          <p:nvPr/>
        </p:nvSpPr>
        <p:spPr>
          <a:xfrm>
            <a:off x="8174736" y="1627632"/>
            <a:ext cx="3456432" cy="2331720"/>
          </a:xfrm>
          <a:prstGeom prst="roundRect">
            <a:avLst>
              <a:gd name="adj" fmla="val 4706"/>
            </a:avLst>
          </a:prstGeom>
          <a:solidFill>
            <a:srgbClr val="FFFFFF"/>
          </a:solidFill>
          <a:ln w="12700">
            <a:solidFill>
              <a:srgbClr val="E8EDF2"/>
            </a:solidFill>
            <a:prstDash val="solid"/>
          </a:ln>
        </p:spPr>
      </p:sp>
      <p:sp>
        <p:nvSpPr>
          <p:cNvPr id="18" name="Text 16"/>
          <p:cNvSpPr txBox="1"/>
          <p:nvPr/>
        </p:nvSpPr>
        <p:spPr>
          <a:xfrm>
            <a:off x="8394192" y="1847088"/>
            <a:ext cx="3017520" cy="411480"/>
          </a:xfrm>
          <a:prstGeom prst="rect">
            <a:avLst/>
          </a:prstGeom>
          <a:noFill/>
          <a:ln/>
        </p:spPr>
        <p:txBody>
          <a:bodyPr wrap="square" lIns="0" tIns="0" rIns="0" bIns="0" rtlCol="0" anchor="ctr">
            <a:normAutofit/>
          </a:bodyPr>
          <a:lstStyle/>
          <a:p>
            <a:pPr algn="ctr" indent="0" marL="0">
              <a:buNone/>
            </a:pPr>
            <a:r>
              <a:rPr lang="en-US" sz="2400" b="1" dirty="0">
                <a:solidFill>
                  <a:srgbClr val="D1495B"/>
                </a:solidFill>
                <a:latin typeface="Aptos" pitchFamily="34" charset="0"/>
                <a:ea typeface="Aptos" pitchFamily="34" charset="-122"/>
                <a:cs typeface="Aptos" pitchFamily="34" charset="-120"/>
              </a:rPr>
              <a:t>ρ = 1</a:t>
            </a:r>
            <a:endParaRPr lang="en-US" sz="2400" dirty="0"/>
          </a:p>
        </p:txBody>
      </p:sp>
      <p:sp>
        <p:nvSpPr>
          <p:cNvPr id="19" name="Text 17"/>
          <p:cNvSpPr txBox="1"/>
          <p:nvPr/>
        </p:nvSpPr>
        <p:spPr>
          <a:xfrm>
            <a:off x="8394192" y="2331720"/>
            <a:ext cx="3017520" cy="274320"/>
          </a:xfrm>
          <a:prstGeom prst="rect">
            <a:avLst/>
          </a:prstGeom>
          <a:noFill/>
          <a:ln/>
        </p:spPr>
        <p:txBody>
          <a:bodyPr wrap="square" lIns="0" tIns="0" rIns="0" bIns="0" rtlCol="0" anchor="ctr">
            <a:normAutofit/>
          </a:bodyPr>
          <a:lstStyle/>
          <a:p>
            <a:pPr algn="ctr" indent="0" marL="0">
              <a:buNone/>
            </a:pPr>
            <a:r>
              <a:rPr lang="en-US" sz="1300" b="1" dirty="0">
                <a:solidFill>
                  <a:srgbClr val="0B1F33"/>
                </a:solidFill>
                <a:latin typeface="Aptos" pitchFamily="34" charset="0"/>
                <a:ea typeface="Aptos" pitchFamily="34" charset="-122"/>
                <a:cs typeface="Aptos" pitchFamily="34" charset="-120"/>
              </a:rPr>
              <a:t>Perfectly correlated</a:t>
            </a:r>
            <a:endParaRPr lang="en-US" sz="1300" dirty="0"/>
          </a:p>
        </p:txBody>
      </p:sp>
      <p:sp>
        <p:nvSpPr>
          <p:cNvPr id="20" name="Text 18"/>
          <p:cNvSpPr txBox="1"/>
          <p:nvPr/>
        </p:nvSpPr>
        <p:spPr>
          <a:xfrm>
            <a:off x="8394192" y="2788920"/>
            <a:ext cx="3017520" cy="310896"/>
          </a:xfrm>
          <a:prstGeom prst="rect">
            <a:avLst/>
          </a:prstGeom>
          <a:noFill/>
          <a:ln/>
        </p:spPr>
        <p:txBody>
          <a:bodyPr wrap="square" lIns="0" tIns="0" rIns="0" bIns="0" rtlCol="0" anchor="ctr">
            <a:normAutofit/>
          </a:bodyPr>
          <a:lstStyle/>
          <a:p>
            <a:pPr algn="ctr" indent="0" marL="0">
              <a:buNone/>
            </a:pPr>
            <a:r>
              <a:rPr lang="en-US" sz="1800" b="1" dirty="0">
                <a:solidFill>
                  <a:srgbClr val="152433"/>
                </a:solidFill>
                <a:latin typeface="Aptos" pitchFamily="34" charset="0"/>
                <a:ea typeface="Aptos" pitchFamily="34" charset="-122"/>
                <a:cs typeface="Aptos" pitchFamily="34" charset="-120"/>
              </a:rPr>
              <a:t>SS ≈ 197</a:t>
            </a:r>
            <a:endParaRPr lang="en-US" sz="1800" dirty="0"/>
          </a:p>
        </p:txBody>
      </p:sp>
      <p:sp>
        <p:nvSpPr>
          <p:cNvPr id="21" name="Shape 19"/>
          <p:cNvSpPr/>
          <p:nvPr/>
        </p:nvSpPr>
        <p:spPr>
          <a:xfrm>
            <a:off x="8860536" y="3310128"/>
            <a:ext cx="2084832" cy="274320"/>
          </a:xfrm>
          <a:prstGeom prst="roundRect">
            <a:avLst>
              <a:gd name="adj" fmla="val 50000"/>
            </a:avLst>
          </a:prstGeom>
          <a:solidFill>
            <a:srgbClr val="FBEAEC"/>
          </a:solidFill>
          <a:ln w="12700">
            <a:solidFill>
              <a:srgbClr val="FBEAEC"/>
            </a:solidFill>
            <a:prstDash val="solid"/>
          </a:ln>
        </p:spPr>
      </p:sp>
      <p:sp>
        <p:nvSpPr>
          <p:cNvPr id="22" name="Text 20"/>
          <p:cNvSpPr txBox="1"/>
          <p:nvPr/>
        </p:nvSpPr>
        <p:spPr>
          <a:xfrm>
            <a:off x="8860536" y="3310128"/>
            <a:ext cx="2084832" cy="274320"/>
          </a:xfrm>
          <a:prstGeom prst="rect">
            <a:avLst/>
          </a:prstGeom>
          <a:noFill/>
          <a:ln/>
        </p:spPr>
        <p:txBody>
          <a:bodyPr wrap="square" lIns="0" tIns="0" rIns="0" bIns="0" rtlCol="0" anchor="ctr">
            <a:normAutofit/>
          </a:bodyPr>
          <a:lstStyle/>
          <a:p>
            <a:pPr algn="ctr" indent="0" marL="0">
              <a:buNone/>
            </a:pPr>
            <a:r>
              <a:rPr lang="en-US" sz="1000" b="1" dirty="0">
                <a:solidFill>
                  <a:srgbClr val="D1495B"/>
                </a:solidFill>
                <a:latin typeface="Aptos" pitchFamily="34" charset="0"/>
                <a:ea typeface="Aptos" pitchFamily="34" charset="-122"/>
                <a:cs typeface="Aptos" pitchFamily="34" charset="-120"/>
              </a:rPr>
              <a:t>No pooling gain</a:t>
            </a:r>
            <a:endParaRPr lang="en-US" sz="1000" dirty="0"/>
          </a:p>
        </p:txBody>
      </p:sp>
      <p:sp>
        <p:nvSpPr>
          <p:cNvPr id="23" name="Shape 21"/>
          <p:cNvSpPr/>
          <p:nvPr/>
        </p:nvSpPr>
        <p:spPr>
          <a:xfrm>
            <a:off x="640080" y="4315968"/>
            <a:ext cx="10881360" cy="1024128"/>
          </a:xfrm>
          <a:prstGeom prst="roundRect">
            <a:avLst>
              <a:gd name="adj" fmla="val 8929"/>
            </a:avLst>
          </a:prstGeom>
          <a:solidFill>
            <a:srgbClr val="FFF1E3"/>
          </a:solidFill>
          <a:ln w="12700">
            <a:solidFill>
              <a:srgbClr val="FFF1E3"/>
            </a:solidFill>
            <a:prstDash val="solid"/>
          </a:ln>
        </p:spPr>
      </p:sp>
      <p:sp>
        <p:nvSpPr>
          <p:cNvPr id="24" name="Text 22"/>
          <p:cNvSpPr txBox="1"/>
          <p:nvPr/>
        </p:nvSpPr>
        <p:spPr>
          <a:xfrm>
            <a:off x="896112" y="4553712"/>
            <a:ext cx="1234440" cy="228600"/>
          </a:xfrm>
          <a:prstGeom prst="rect">
            <a:avLst/>
          </a:prstGeom>
          <a:noFill/>
          <a:ln/>
        </p:spPr>
        <p:txBody>
          <a:bodyPr wrap="square" lIns="0" tIns="0" rIns="0" bIns="0" rtlCol="0" anchor="ctr">
            <a:normAutofit/>
          </a:bodyPr>
          <a:lstStyle/>
          <a:p>
            <a:pPr algn="l" indent="0" marL="0">
              <a:buNone/>
            </a:pPr>
            <a:r>
              <a:rPr lang="en-US" sz="1100" b="1" dirty="0">
                <a:solidFill>
                  <a:srgbClr val="F28E2B"/>
                </a:solidFill>
                <a:latin typeface="Aptos" pitchFamily="34" charset="0"/>
                <a:ea typeface="Aptos" pitchFamily="34" charset="-122"/>
                <a:cs typeface="Aptos" pitchFamily="34" charset="-120"/>
              </a:rPr>
              <a:t>Offsets to test</a:t>
            </a:r>
            <a:endParaRPr lang="en-US" sz="1100" dirty="0"/>
          </a:p>
        </p:txBody>
      </p:sp>
      <p:sp>
        <p:nvSpPr>
          <p:cNvPr id="25" name="Text 23"/>
          <p:cNvSpPr txBox="1"/>
          <p:nvPr/>
        </p:nvSpPr>
        <p:spPr>
          <a:xfrm>
            <a:off x="2057400" y="4462272"/>
            <a:ext cx="8961120" cy="402336"/>
          </a:xfrm>
          <a:prstGeom prst="rect">
            <a:avLst/>
          </a:prstGeom>
          <a:noFill/>
          <a:ln/>
        </p:spPr>
        <p:txBody>
          <a:bodyPr wrap="square" lIns="0" tIns="0" rIns="0" bIns="0"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outbound transport • customer response time • concentration risk • allocation rules • local assortment • disruption exposure</a:t>
            </a:r>
            <a:endParaRPr lang="en-US" sz="1400" dirty="0"/>
          </a:p>
        </p:txBody>
      </p:sp>
      <p:sp>
        <p:nvSpPr>
          <p:cNvPr id="26" name="Shape 24"/>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27" name="Text 25"/>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28" name="Text 26"/>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Centralize only when inventory savings exceed service, logistics, and resilience penalties.</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MINI-CASE</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Northstar Components: four SKUs, four different policies</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Illustrative data • 300 working days/year • continuous review candidate • constant lead time</a:t>
            </a:r>
            <a:endParaRPr lang="en-US" sz="1350" dirty="0"/>
          </a:p>
        </p:txBody>
      </p:sp>
      <p:sp>
        <p:nvSpPr>
          <p:cNvPr id="5" name="Shape 3"/>
          <p:cNvSpPr/>
          <p:nvPr/>
        </p:nvSpPr>
        <p:spPr>
          <a:xfrm>
            <a:off x="576072" y="1600200"/>
            <a:ext cx="594360" cy="502920"/>
          </a:xfrm>
          <a:prstGeom prst="rect">
            <a:avLst/>
          </a:prstGeom>
          <a:solidFill>
            <a:srgbClr val="0B1F33"/>
          </a:solidFill>
          <a:ln w="12700">
            <a:solidFill>
              <a:srgbClr val="0B1F33"/>
            </a:solidFill>
            <a:prstDash val="solid"/>
          </a:ln>
        </p:spPr>
      </p:sp>
      <p:sp>
        <p:nvSpPr>
          <p:cNvPr id="6" name="Text 4"/>
          <p:cNvSpPr txBox="1"/>
          <p:nvPr/>
        </p:nvSpPr>
        <p:spPr>
          <a:xfrm>
            <a:off x="640080" y="1719072"/>
            <a:ext cx="466344" cy="246888"/>
          </a:xfrm>
          <a:prstGeom prst="rect">
            <a:avLst/>
          </a:prstGeom>
          <a:noFill/>
          <a:ln/>
        </p:spPr>
        <p:txBody>
          <a:bodyPr wrap="square" lIns="0" tIns="0" rIns="0" bIns="0" rtlCol="0" anchor="ctr">
            <a:normAutofit/>
          </a:bodyPr>
          <a:lstStyle/>
          <a:p>
            <a:pPr algn="l" indent="0" marL="0">
              <a:buNone/>
            </a:pPr>
            <a:r>
              <a:rPr lang="en-US" sz="900" b="1" dirty="0">
                <a:solidFill>
                  <a:srgbClr val="FFFFFF"/>
                </a:solidFill>
                <a:latin typeface="Aptos" pitchFamily="34" charset="0"/>
                <a:ea typeface="Aptos" pitchFamily="34" charset="-122"/>
                <a:cs typeface="Aptos" pitchFamily="34" charset="-120"/>
              </a:rPr>
              <a:t>SKU</a:t>
            </a:r>
            <a:endParaRPr lang="en-US" sz="900" dirty="0"/>
          </a:p>
        </p:txBody>
      </p:sp>
      <p:sp>
        <p:nvSpPr>
          <p:cNvPr id="7" name="Shape 5"/>
          <p:cNvSpPr/>
          <p:nvPr/>
        </p:nvSpPr>
        <p:spPr>
          <a:xfrm>
            <a:off x="1170432" y="1600200"/>
            <a:ext cx="2331720" cy="502920"/>
          </a:xfrm>
          <a:prstGeom prst="rect">
            <a:avLst/>
          </a:prstGeom>
          <a:solidFill>
            <a:srgbClr val="0B1F33"/>
          </a:solidFill>
          <a:ln w="12700">
            <a:solidFill>
              <a:srgbClr val="0B1F33"/>
            </a:solidFill>
            <a:prstDash val="solid"/>
          </a:ln>
        </p:spPr>
      </p:sp>
      <p:sp>
        <p:nvSpPr>
          <p:cNvPr id="8" name="Text 6"/>
          <p:cNvSpPr txBox="1"/>
          <p:nvPr/>
        </p:nvSpPr>
        <p:spPr>
          <a:xfrm>
            <a:off x="1234440" y="1719072"/>
            <a:ext cx="2203704" cy="246888"/>
          </a:xfrm>
          <a:prstGeom prst="rect">
            <a:avLst/>
          </a:prstGeom>
          <a:noFill/>
          <a:ln/>
        </p:spPr>
        <p:txBody>
          <a:bodyPr wrap="square" lIns="0" tIns="0" rIns="0" bIns="0" rtlCol="0" anchor="ctr">
            <a:normAutofit/>
          </a:bodyPr>
          <a:lstStyle/>
          <a:p>
            <a:pPr algn="l" indent="0" marL="0">
              <a:buNone/>
            </a:pPr>
            <a:r>
              <a:rPr lang="en-US" sz="900" b="1" dirty="0">
                <a:solidFill>
                  <a:srgbClr val="FFFFFF"/>
                </a:solidFill>
                <a:latin typeface="Aptos" pitchFamily="34" charset="0"/>
                <a:ea typeface="Aptos" pitchFamily="34" charset="-122"/>
                <a:cs typeface="Aptos" pitchFamily="34" charset="-120"/>
              </a:rPr>
              <a:t>ROLE / PATTERN</a:t>
            </a:r>
            <a:endParaRPr lang="en-US" sz="900" dirty="0"/>
          </a:p>
        </p:txBody>
      </p:sp>
      <p:sp>
        <p:nvSpPr>
          <p:cNvPr id="9" name="Shape 7"/>
          <p:cNvSpPr/>
          <p:nvPr/>
        </p:nvSpPr>
        <p:spPr>
          <a:xfrm>
            <a:off x="3502152" y="1600200"/>
            <a:ext cx="914400" cy="502920"/>
          </a:xfrm>
          <a:prstGeom prst="rect">
            <a:avLst/>
          </a:prstGeom>
          <a:solidFill>
            <a:srgbClr val="0B1F33"/>
          </a:solidFill>
          <a:ln w="12700">
            <a:solidFill>
              <a:srgbClr val="0B1F33"/>
            </a:solidFill>
            <a:prstDash val="solid"/>
          </a:ln>
        </p:spPr>
      </p:sp>
      <p:sp>
        <p:nvSpPr>
          <p:cNvPr id="10" name="Text 8"/>
          <p:cNvSpPr txBox="1"/>
          <p:nvPr/>
        </p:nvSpPr>
        <p:spPr>
          <a:xfrm>
            <a:off x="3566160" y="1719072"/>
            <a:ext cx="786384" cy="24688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D / YR</a:t>
            </a:r>
            <a:endParaRPr lang="en-US" sz="900" dirty="0"/>
          </a:p>
        </p:txBody>
      </p:sp>
      <p:sp>
        <p:nvSpPr>
          <p:cNvPr id="11" name="Shape 9"/>
          <p:cNvSpPr/>
          <p:nvPr/>
        </p:nvSpPr>
        <p:spPr>
          <a:xfrm>
            <a:off x="4416552" y="1600200"/>
            <a:ext cx="731520" cy="502920"/>
          </a:xfrm>
          <a:prstGeom prst="rect">
            <a:avLst/>
          </a:prstGeom>
          <a:solidFill>
            <a:srgbClr val="0B1F33"/>
          </a:solidFill>
          <a:ln w="12700">
            <a:solidFill>
              <a:srgbClr val="0B1F33"/>
            </a:solidFill>
            <a:prstDash val="solid"/>
          </a:ln>
        </p:spPr>
      </p:sp>
      <p:sp>
        <p:nvSpPr>
          <p:cNvPr id="12" name="Text 10"/>
          <p:cNvSpPr txBox="1"/>
          <p:nvPr/>
        </p:nvSpPr>
        <p:spPr>
          <a:xfrm>
            <a:off x="4480560" y="1719072"/>
            <a:ext cx="603504" cy="24688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S</a:t>
            </a:r>
            <a:endParaRPr lang="en-US" sz="900" dirty="0"/>
          </a:p>
        </p:txBody>
      </p:sp>
      <p:sp>
        <p:nvSpPr>
          <p:cNvPr id="13" name="Shape 11"/>
          <p:cNvSpPr/>
          <p:nvPr/>
        </p:nvSpPr>
        <p:spPr>
          <a:xfrm>
            <a:off x="5148072" y="1600200"/>
            <a:ext cx="1143000" cy="502920"/>
          </a:xfrm>
          <a:prstGeom prst="rect">
            <a:avLst/>
          </a:prstGeom>
          <a:solidFill>
            <a:srgbClr val="0B1F33"/>
          </a:solidFill>
          <a:ln w="12700">
            <a:solidFill>
              <a:srgbClr val="0B1F33"/>
            </a:solidFill>
            <a:prstDash val="solid"/>
          </a:ln>
        </p:spPr>
      </p:sp>
      <p:sp>
        <p:nvSpPr>
          <p:cNvPr id="14" name="Text 12"/>
          <p:cNvSpPr txBox="1"/>
          <p:nvPr/>
        </p:nvSpPr>
        <p:spPr>
          <a:xfrm>
            <a:off x="5212080" y="1719072"/>
            <a:ext cx="1014984" cy="24688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H / UNIT-YR</a:t>
            </a:r>
            <a:endParaRPr lang="en-US" sz="900" dirty="0"/>
          </a:p>
        </p:txBody>
      </p:sp>
      <p:sp>
        <p:nvSpPr>
          <p:cNvPr id="15" name="Shape 13"/>
          <p:cNvSpPr/>
          <p:nvPr/>
        </p:nvSpPr>
        <p:spPr>
          <a:xfrm>
            <a:off x="6291072" y="1600200"/>
            <a:ext cx="731520" cy="502920"/>
          </a:xfrm>
          <a:prstGeom prst="rect">
            <a:avLst/>
          </a:prstGeom>
          <a:solidFill>
            <a:srgbClr val="0B1F33"/>
          </a:solidFill>
          <a:ln w="12700">
            <a:solidFill>
              <a:srgbClr val="0B1F33"/>
            </a:solidFill>
            <a:prstDash val="solid"/>
          </a:ln>
        </p:spPr>
      </p:sp>
      <p:sp>
        <p:nvSpPr>
          <p:cNvPr id="16" name="Text 14"/>
          <p:cNvSpPr txBox="1"/>
          <p:nvPr/>
        </p:nvSpPr>
        <p:spPr>
          <a:xfrm>
            <a:off x="6355080" y="1719072"/>
            <a:ext cx="603504" cy="24688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L DAYS</a:t>
            </a:r>
            <a:endParaRPr lang="en-US" sz="900" dirty="0"/>
          </a:p>
        </p:txBody>
      </p:sp>
      <p:sp>
        <p:nvSpPr>
          <p:cNvPr id="17" name="Shape 15"/>
          <p:cNvSpPr/>
          <p:nvPr/>
        </p:nvSpPr>
        <p:spPr>
          <a:xfrm>
            <a:off x="7022592" y="1600200"/>
            <a:ext cx="1005840" cy="502920"/>
          </a:xfrm>
          <a:prstGeom prst="rect">
            <a:avLst/>
          </a:prstGeom>
          <a:solidFill>
            <a:srgbClr val="0B1F33"/>
          </a:solidFill>
          <a:ln w="12700">
            <a:solidFill>
              <a:srgbClr val="0B1F33"/>
            </a:solidFill>
            <a:prstDash val="solid"/>
          </a:ln>
        </p:spPr>
      </p:sp>
      <p:sp>
        <p:nvSpPr>
          <p:cNvPr id="18" name="Text 16"/>
          <p:cNvSpPr txBox="1"/>
          <p:nvPr/>
        </p:nvSpPr>
        <p:spPr>
          <a:xfrm>
            <a:off x="7086600" y="1719072"/>
            <a:ext cx="877824" cy="24688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σd / DAY</a:t>
            </a:r>
            <a:endParaRPr lang="en-US" sz="900" dirty="0"/>
          </a:p>
        </p:txBody>
      </p:sp>
      <p:sp>
        <p:nvSpPr>
          <p:cNvPr id="19" name="Shape 17"/>
          <p:cNvSpPr/>
          <p:nvPr/>
        </p:nvSpPr>
        <p:spPr>
          <a:xfrm>
            <a:off x="8028432" y="1600200"/>
            <a:ext cx="1325880" cy="502920"/>
          </a:xfrm>
          <a:prstGeom prst="rect">
            <a:avLst/>
          </a:prstGeom>
          <a:solidFill>
            <a:srgbClr val="0B1F33"/>
          </a:solidFill>
          <a:ln w="12700">
            <a:solidFill>
              <a:srgbClr val="0B1F33"/>
            </a:solidFill>
            <a:prstDash val="solid"/>
          </a:ln>
        </p:spPr>
      </p:sp>
      <p:sp>
        <p:nvSpPr>
          <p:cNvPr id="20" name="Text 18"/>
          <p:cNvSpPr txBox="1"/>
          <p:nvPr/>
        </p:nvSpPr>
        <p:spPr>
          <a:xfrm>
            <a:off x="8092440" y="1719072"/>
            <a:ext cx="1197864" cy="24688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TARGET CSL</a:t>
            </a:r>
            <a:endParaRPr lang="en-US" sz="900" dirty="0"/>
          </a:p>
        </p:txBody>
      </p:sp>
      <p:sp>
        <p:nvSpPr>
          <p:cNvPr id="21" name="Shape 19"/>
          <p:cNvSpPr/>
          <p:nvPr/>
        </p:nvSpPr>
        <p:spPr>
          <a:xfrm>
            <a:off x="576072" y="2103120"/>
            <a:ext cx="594360" cy="676656"/>
          </a:xfrm>
          <a:prstGeom prst="rect">
            <a:avLst/>
          </a:prstGeom>
          <a:solidFill>
            <a:srgbClr val="FFFFFF"/>
          </a:solidFill>
          <a:ln w="12700">
            <a:solidFill>
              <a:srgbClr val="E8EDF2"/>
            </a:solidFill>
            <a:prstDash val="solid"/>
          </a:ln>
        </p:spPr>
      </p:sp>
      <p:sp>
        <p:nvSpPr>
          <p:cNvPr id="22" name="Text 20"/>
          <p:cNvSpPr txBox="1"/>
          <p:nvPr/>
        </p:nvSpPr>
        <p:spPr>
          <a:xfrm>
            <a:off x="640080" y="2194560"/>
            <a:ext cx="466344" cy="493776"/>
          </a:xfrm>
          <a:prstGeom prst="rect">
            <a:avLst/>
          </a:prstGeom>
          <a:noFill/>
          <a:ln/>
        </p:spPr>
        <p:txBody>
          <a:bodyPr wrap="square" lIns="0" tIns="0" rIns="0" bIns="0" rtlCol="0" anchor="ctr">
            <a:normAutofit/>
          </a:bodyPr>
          <a:lstStyle/>
          <a:p>
            <a:pPr algn="l" indent="0" marL="0">
              <a:buNone/>
            </a:pPr>
            <a:r>
              <a:rPr lang="en-US" sz="1150" b="1" dirty="0">
                <a:solidFill>
                  <a:srgbClr val="1D6FA5"/>
                </a:solidFill>
                <a:latin typeface="Aptos" pitchFamily="34" charset="0"/>
                <a:ea typeface="Aptos" pitchFamily="34" charset="-122"/>
                <a:cs typeface="Aptos" pitchFamily="34" charset="-120"/>
              </a:rPr>
              <a:t>A</a:t>
            </a:r>
            <a:endParaRPr lang="en-US" sz="1150" dirty="0"/>
          </a:p>
        </p:txBody>
      </p:sp>
      <p:sp>
        <p:nvSpPr>
          <p:cNvPr id="23" name="Shape 21"/>
          <p:cNvSpPr/>
          <p:nvPr/>
        </p:nvSpPr>
        <p:spPr>
          <a:xfrm>
            <a:off x="1170432" y="2103120"/>
            <a:ext cx="2331720" cy="676656"/>
          </a:xfrm>
          <a:prstGeom prst="rect">
            <a:avLst/>
          </a:prstGeom>
          <a:solidFill>
            <a:srgbClr val="FFFFFF"/>
          </a:solidFill>
          <a:ln w="12700">
            <a:solidFill>
              <a:srgbClr val="E8EDF2"/>
            </a:solidFill>
            <a:prstDash val="solid"/>
          </a:ln>
        </p:spPr>
      </p:sp>
      <p:sp>
        <p:nvSpPr>
          <p:cNvPr id="24" name="Text 22"/>
          <p:cNvSpPr txBox="1"/>
          <p:nvPr/>
        </p:nvSpPr>
        <p:spPr>
          <a:xfrm>
            <a:off x="1234440" y="2194560"/>
            <a:ext cx="2203704" cy="493776"/>
          </a:xfrm>
          <a:prstGeom prst="rect">
            <a:avLst/>
          </a:prstGeom>
          <a:noFill/>
          <a:ln/>
        </p:spPr>
        <p:txBody>
          <a:bodyPr wrap="square" lIns="0" tIns="0" rIns="0" bIns="0" rtlCol="0" anchor="ctr">
            <a:normAutofit/>
          </a:bodyPr>
          <a:lstStyle/>
          <a:p>
            <a:pPr algn="l" indent="0" marL="0">
              <a:buNone/>
            </a:pPr>
            <a:r>
              <a:rPr lang="en-US" sz="1100" dirty="0">
                <a:solidFill>
                  <a:srgbClr val="152433"/>
                </a:solidFill>
                <a:latin typeface="Aptos" pitchFamily="34" charset="0"/>
                <a:ea typeface="Aptos" pitchFamily="34" charset="-122"/>
                <a:cs typeface="Aptos" pitchFamily="34" charset="-120"/>
              </a:rPr>
              <a:t>stable, high-volume</a:t>
            </a:r>
            <a:endParaRPr lang="en-US" sz="1100" dirty="0"/>
          </a:p>
        </p:txBody>
      </p:sp>
      <p:sp>
        <p:nvSpPr>
          <p:cNvPr id="25" name="Shape 23"/>
          <p:cNvSpPr/>
          <p:nvPr/>
        </p:nvSpPr>
        <p:spPr>
          <a:xfrm>
            <a:off x="3502152" y="2103120"/>
            <a:ext cx="914400" cy="676656"/>
          </a:xfrm>
          <a:prstGeom prst="rect">
            <a:avLst/>
          </a:prstGeom>
          <a:solidFill>
            <a:srgbClr val="FFFFFF"/>
          </a:solidFill>
          <a:ln w="12700">
            <a:solidFill>
              <a:srgbClr val="E8EDF2"/>
            </a:solidFill>
            <a:prstDash val="solid"/>
          </a:ln>
        </p:spPr>
      </p:sp>
      <p:sp>
        <p:nvSpPr>
          <p:cNvPr id="26" name="Text 24"/>
          <p:cNvSpPr txBox="1"/>
          <p:nvPr/>
        </p:nvSpPr>
        <p:spPr>
          <a:xfrm>
            <a:off x="3566160" y="2194560"/>
            <a:ext cx="78638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24,000</a:t>
            </a:r>
            <a:endParaRPr lang="en-US" sz="1150" dirty="0"/>
          </a:p>
        </p:txBody>
      </p:sp>
      <p:sp>
        <p:nvSpPr>
          <p:cNvPr id="27" name="Shape 25"/>
          <p:cNvSpPr/>
          <p:nvPr/>
        </p:nvSpPr>
        <p:spPr>
          <a:xfrm>
            <a:off x="4416552" y="2103120"/>
            <a:ext cx="731520" cy="676656"/>
          </a:xfrm>
          <a:prstGeom prst="rect">
            <a:avLst/>
          </a:prstGeom>
          <a:solidFill>
            <a:srgbClr val="FFFFFF"/>
          </a:solidFill>
          <a:ln w="12700">
            <a:solidFill>
              <a:srgbClr val="E8EDF2"/>
            </a:solidFill>
            <a:prstDash val="solid"/>
          </a:ln>
        </p:spPr>
      </p:sp>
      <p:sp>
        <p:nvSpPr>
          <p:cNvPr id="28" name="Text 26"/>
          <p:cNvSpPr txBox="1"/>
          <p:nvPr/>
        </p:nvSpPr>
        <p:spPr>
          <a:xfrm>
            <a:off x="4480560" y="2194560"/>
            <a:ext cx="60350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$150</a:t>
            </a:r>
            <a:endParaRPr lang="en-US" sz="1150" dirty="0"/>
          </a:p>
        </p:txBody>
      </p:sp>
      <p:sp>
        <p:nvSpPr>
          <p:cNvPr id="29" name="Shape 27"/>
          <p:cNvSpPr/>
          <p:nvPr/>
        </p:nvSpPr>
        <p:spPr>
          <a:xfrm>
            <a:off x="5148072" y="2103120"/>
            <a:ext cx="1143000" cy="676656"/>
          </a:xfrm>
          <a:prstGeom prst="rect">
            <a:avLst/>
          </a:prstGeom>
          <a:solidFill>
            <a:srgbClr val="FFFFFF"/>
          </a:solidFill>
          <a:ln w="12700">
            <a:solidFill>
              <a:srgbClr val="E8EDF2"/>
            </a:solidFill>
            <a:prstDash val="solid"/>
          </a:ln>
        </p:spPr>
      </p:sp>
      <p:sp>
        <p:nvSpPr>
          <p:cNvPr id="30" name="Text 28"/>
          <p:cNvSpPr txBox="1"/>
          <p:nvPr/>
        </p:nvSpPr>
        <p:spPr>
          <a:xfrm>
            <a:off x="5212080" y="2194560"/>
            <a:ext cx="101498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$20</a:t>
            </a:r>
            <a:endParaRPr lang="en-US" sz="1150" dirty="0"/>
          </a:p>
        </p:txBody>
      </p:sp>
      <p:sp>
        <p:nvSpPr>
          <p:cNvPr id="31" name="Shape 29"/>
          <p:cNvSpPr/>
          <p:nvPr/>
        </p:nvSpPr>
        <p:spPr>
          <a:xfrm>
            <a:off x="6291072" y="2103120"/>
            <a:ext cx="731520" cy="676656"/>
          </a:xfrm>
          <a:prstGeom prst="rect">
            <a:avLst/>
          </a:prstGeom>
          <a:solidFill>
            <a:srgbClr val="FFFFFF"/>
          </a:solidFill>
          <a:ln w="12700">
            <a:solidFill>
              <a:srgbClr val="E8EDF2"/>
            </a:solidFill>
            <a:prstDash val="solid"/>
          </a:ln>
        </p:spPr>
      </p:sp>
      <p:sp>
        <p:nvSpPr>
          <p:cNvPr id="32" name="Text 30"/>
          <p:cNvSpPr txBox="1"/>
          <p:nvPr/>
        </p:nvSpPr>
        <p:spPr>
          <a:xfrm>
            <a:off x="6355080" y="2194560"/>
            <a:ext cx="60350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5</a:t>
            </a:r>
            <a:endParaRPr lang="en-US" sz="1150" dirty="0"/>
          </a:p>
        </p:txBody>
      </p:sp>
      <p:sp>
        <p:nvSpPr>
          <p:cNvPr id="33" name="Shape 31"/>
          <p:cNvSpPr/>
          <p:nvPr/>
        </p:nvSpPr>
        <p:spPr>
          <a:xfrm>
            <a:off x="7022592" y="2103120"/>
            <a:ext cx="1005840" cy="676656"/>
          </a:xfrm>
          <a:prstGeom prst="rect">
            <a:avLst/>
          </a:prstGeom>
          <a:solidFill>
            <a:srgbClr val="FFFFFF"/>
          </a:solidFill>
          <a:ln w="12700">
            <a:solidFill>
              <a:srgbClr val="E8EDF2"/>
            </a:solidFill>
            <a:prstDash val="solid"/>
          </a:ln>
        </p:spPr>
      </p:sp>
      <p:sp>
        <p:nvSpPr>
          <p:cNvPr id="34" name="Text 32"/>
          <p:cNvSpPr txBox="1"/>
          <p:nvPr/>
        </p:nvSpPr>
        <p:spPr>
          <a:xfrm>
            <a:off x="7086600" y="2194560"/>
            <a:ext cx="87782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20</a:t>
            </a:r>
            <a:endParaRPr lang="en-US" sz="1150" dirty="0"/>
          </a:p>
        </p:txBody>
      </p:sp>
      <p:sp>
        <p:nvSpPr>
          <p:cNvPr id="35" name="Shape 33"/>
          <p:cNvSpPr/>
          <p:nvPr/>
        </p:nvSpPr>
        <p:spPr>
          <a:xfrm>
            <a:off x="8028432" y="2103120"/>
            <a:ext cx="1325880" cy="676656"/>
          </a:xfrm>
          <a:prstGeom prst="rect">
            <a:avLst/>
          </a:prstGeom>
          <a:solidFill>
            <a:srgbClr val="FFFFFF"/>
          </a:solidFill>
          <a:ln w="12700">
            <a:solidFill>
              <a:srgbClr val="E8EDF2"/>
            </a:solidFill>
            <a:prstDash val="solid"/>
          </a:ln>
        </p:spPr>
      </p:sp>
      <p:sp>
        <p:nvSpPr>
          <p:cNvPr id="36" name="Text 34"/>
          <p:cNvSpPr txBox="1"/>
          <p:nvPr/>
        </p:nvSpPr>
        <p:spPr>
          <a:xfrm>
            <a:off x="8092440" y="2194560"/>
            <a:ext cx="119786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95% • z 1.645</a:t>
            </a:r>
            <a:endParaRPr lang="en-US" sz="1150" dirty="0"/>
          </a:p>
        </p:txBody>
      </p:sp>
      <p:sp>
        <p:nvSpPr>
          <p:cNvPr id="37" name="Shape 35"/>
          <p:cNvSpPr/>
          <p:nvPr/>
        </p:nvSpPr>
        <p:spPr>
          <a:xfrm>
            <a:off x="576072" y="2779776"/>
            <a:ext cx="594360" cy="676656"/>
          </a:xfrm>
          <a:prstGeom prst="rect">
            <a:avLst/>
          </a:prstGeom>
          <a:solidFill>
            <a:srgbClr val="F7F8FA"/>
          </a:solidFill>
          <a:ln w="12700">
            <a:solidFill>
              <a:srgbClr val="E8EDF2"/>
            </a:solidFill>
            <a:prstDash val="solid"/>
          </a:ln>
        </p:spPr>
      </p:sp>
      <p:sp>
        <p:nvSpPr>
          <p:cNvPr id="38" name="Text 36"/>
          <p:cNvSpPr txBox="1"/>
          <p:nvPr/>
        </p:nvSpPr>
        <p:spPr>
          <a:xfrm>
            <a:off x="640080" y="2871216"/>
            <a:ext cx="466344" cy="493776"/>
          </a:xfrm>
          <a:prstGeom prst="rect">
            <a:avLst/>
          </a:prstGeom>
          <a:noFill/>
          <a:ln/>
        </p:spPr>
        <p:txBody>
          <a:bodyPr wrap="square" lIns="0" tIns="0" rIns="0" bIns="0" rtlCol="0" anchor="ctr">
            <a:normAutofit/>
          </a:bodyPr>
          <a:lstStyle/>
          <a:p>
            <a:pPr algn="l" indent="0" marL="0">
              <a:buNone/>
            </a:pPr>
            <a:r>
              <a:rPr lang="en-US" sz="1150" b="1" dirty="0">
                <a:solidFill>
                  <a:srgbClr val="4BB3C3"/>
                </a:solidFill>
                <a:latin typeface="Aptos" pitchFamily="34" charset="0"/>
                <a:ea typeface="Aptos" pitchFamily="34" charset="-122"/>
                <a:cs typeface="Aptos" pitchFamily="34" charset="-120"/>
              </a:rPr>
              <a:t>B</a:t>
            </a:r>
            <a:endParaRPr lang="en-US" sz="1150" dirty="0"/>
          </a:p>
        </p:txBody>
      </p:sp>
      <p:sp>
        <p:nvSpPr>
          <p:cNvPr id="39" name="Shape 37"/>
          <p:cNvSpPr/>
          <p:nvPr/>
        </p:nvSpPr>
        <p:spPr>
          <a:xfrm>
            <a:off x="1170432" y="2779776"/>
            <a:ext cx="2331720" cy="676656"/>
          </a:xfrm>
          <a:prstGeom prst="rect">
            <a:avLst/>
          </a:prstGeom>
          <a:solidFill>
            <a:srgbClr val="F7F8FA"/>
          </a:solidFill>
          <a:ln w="12700">
            <a:solidFill>
              <a:srgbClr val="E8EDF2"/>
            </a:solidFill>
            <a:prstDash val="solid"/>
          </a:ln>
        </p:spPr>
      </p:sp>
      <p:sp>
        <p:nvSpPr>
          <p:cNvPr id="40" name="Text 38"/>
          <p:cNvSpPr txBox="1"/>
          <p:nvPr/>
        </p:nvSpPr>
        <p:spPr>
          <a:xfrm>
            <a:off x="1234440" y="2871216"/>
            <a:ext cx="2203704" cy="493776"/>
          </a:xfrm>
          <a:prstGeom prst="rect">
            <a:avLst/>
          </a:prstGeom>
          <a:noFill/>
          <a:ln/>
        </p:spPr>
        <p:txBody>
          <a:bodyPr wrap="square" lIns="0" tIns="0" rIns="0" bIns="0" rtlCol="0" anchor="ctr">
            <a:normAutofit/>
          </a:bodyPr>
          <a:lstStyle/>
          <a:p>
            <a:pPr algn="l" indent="0" marL="0">
              <a:buNone/>
            </a:pPr>
            <a:r>
              <a:rPr lang="en-US" sz="1100" dirty="0">
                <a:solidFill>
                  <a:srgbClr val="152433"/>
                </a:solidFill>
                <a:latin typeface="Aptos" pitchFamily="34" charset="0"/>
                <a:ea typeface="Aptos" pitchFamily="34" charset="-122"/>
                <a:cs typeface="Aptos" pitchFamily="34" charset="-120"/>
              </a:rPr>
              <a:t>stable, standard</a:t>
            </a:r>
            <a:endParaRPr lang="en-US" sz="1100" dirty="0"/>
          </a:p>
        </p:txBody>
      </p:sp>
      <p:sp>
        <p:nvSpPr>
          <p:cNvPr id="41" name="Shape 39"/>
          <p:cNvSpPr/>
          <p:nvPr/>
        </p:nvSpPr>
        <p:spPr>
          <a:xfrm>
            <a:off x="3502152" y="2779776"/>
            <a:ext cx="914400" cy="676656"/>
          </a:xfrm>
          <a:prstGeom prst="rect">
            <a:avLst/>
          </a:prstGeom>
          <a:solidFill>
            <a:srgbClr val="F7F8FA"/>
          </a:solidFill>
          <a:ln w="12700">
            <a:solidFill>
              <a:srgbClr val="E8EDF2"/>
            </a:solidFill>
            <a:prstDash val="solid"/>
          </a:ln>
        </p:spPr>
      </p:sp>
      <p:sp>
        <p:nvSpPr>
          <p:cNvPr id="42" name="Text 40"/>
          <p:cNvSpPr txBox="1"/>
          <p:nvPr/>
        </p:nvSpPr>
        <p:spPr>
          <a:xfrm>
            <a:off x="3566160" y="2871216"/>
            <a:ext cx="78638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6,000</a:t>
            </a:r>
            <a:endParaRPr lang="en-US" sz="1150" dirty="0"/>
          </a:p>
        </p:txBody>
      </p:sp>
      <p:sp>
        <p:nvSpPr>
          <p:cNvPr id="43" name="Shape 41"/>
          <p:cNvSpPr/>
          <p:nvPr/>
        </p:nvSpPr>
        <p:spPr>
          <a:xfrm>
            <a:off x="4416552" y="2779776"/>
            <a:ext cx="731520" cy="676656"/>
          </a:xfrm>
          <a:prstGeom prst="rect">
            <a:avLst/>
          </a:prstGeom>
          <a:solidFill>
            <a:srgbClr val="F7F8FA"/>
          </a:solidFill>
          <a:ln w="12700">
            <a:solidFill>
              <a:srgbClr val="E8EDF2"/>
            </a:solidFill>
            <a:prstDash val="solid"/>
          </a:ln>
        </p:spPr>
      </p:sp>
      <p:sp>
        <p:nvSpPr>
          <p:cNvPr id="44" name="Text 42"/>
          <p:cNvSpPr txBox="1"/>
          <p:nvPr/>
        </p:nvSpPr>
        <p:spPr>
          <a:xfrm>
            <a:off x="4480560" y="2871216"/>
            <a:ext cx="60350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$80</a:t>
            </a:r>
            <a:endParaRPr lang="en-US" sz="1150" dirty="0"/>
          </a:p>
        </p:txBody>
      </p:sp>
      <p:sp>
        <p:nvSpPr>
          <p:cNvPr id="45" name="Shape 43"/>
          <p:cNvSpPr/>
          <p:nvPr/>
        </p:nvSpPr>
        <p:spPr>
          <a:xfrm>
            <a:off x="5148072" y="2779776"/>
            <a:ext cx="1143000" cy="676656"/>
          </a:xfrm>
          <a:prstGeom prst="rect">
            <a:avLst/>
          </a:prstGeom>
          <a:solidFill>
            <a:srgbClr val="F7F8FA"/>
          </a:solidFill>
          <a:ln w="12700">
            <a:solidFill>
              <a:srgbClr val="E8EDF2"/>
            </a:solidFill>
            <a:prstDash val="solid"/>
          </a:ln>
        </p:spPr>
      </p:sp>
      <p:sp>
        <p:nvSpPr>
          <p:cNvPr id="46" name="Text 44"/>
          <p:cNvSpPr txBox="1"/>
          <p:nvPr/>
        </p:nvSpPr>
        <p:spPr>
          <a:xfrm>
            <a:off x="5212080" y="2871216"/>
            <a:ext cx="101498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$10</a:t>
            </a:r>
            <a:endParaRPr lang="en-US" sz="1150" dirty="0"/>
          </a:p>
        </p:txBody>
      </p:sp>
      <p:sp>
        <p:nvSpPr>
          <p:cNvPr id="47" name="Shape 45"/>
          <p:cNvSpPr/>
          <p:nvPr/>
        </p:nvSpPr>
        <p:spPr>
          <a:xfrm>
            <a:off x="6291072" y="2779776"/>
            <a:ext cx="731520" cy="676656"/>
          </a:xfrm>
          <a:prstGeom prst="rect">
            <a:avLst/>
          </a:prstGeom>
          <a:solidFill>
            <a:srgbClr val="F7F8FA"/>
          </a:solidFill>
          <a:ln w="12700">
            <a:solidFill>
              <a:srgbClr val="E8EDF2"/>
            </a:solidFill>
            <a:prstDash val="solid"/>
          </a:ln>
        </p:spPr>
      </p:sp>
      <p:sp>
        <p:nvSpPr>
          <p:cNvPr id="48" name="Text 46"/>
          <p:cNvSpPr txBox="1"/>
          <p:nvPr/>
        </p:nvSpPr>
        <p:spPr>
          <a:xfrm>
            <a:off x="6355080" y="2871216"/>
            <a:ext cx="60350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10</a:t>
            </a:r>
            <a:endParaRPr lang="en-US" sz="1150" dirty="0"/>
          </a:p>
        </p:txBody>
      </p:sp>
      <p:sp>
        <p:nvSpPr>
          <p:cNvPr id="49" name="Shape 47"/>
          <p:cNvSpPr/>
          <p:nvPr/>
        </p:nvSpPr>
        <p:spPr>
          <a:xfrm>
            <a:off x="7022592" y="2779776"/>
            <a:ext cx="1005840" cy="676656"/>
          </a:xfrm>
          <a:prstGeom prst="rect">
            <a:avLst/>
          </a:prstGeom>
          <a:solidFill>
            <a:srgbClr val="F7F8FA"/>
          </a:solidFill>
          <a:ln w="12700">
            <a:solidFill>
              <a:srgbClr val="E8EDF2"/>
            </a:solidFill>
            <a:prstDash val="solid"/>
          </a:ln>
        </p:spPr>
      </p:sp>
      <p:sp>
        <p:nvSpPr>
          <p:cNvPr id="50" name="Text 48"/>
          <p:cNvSpPr txBox="1"/>
          <p:nvPr/>
        </p:nvSpPr>
        <p:spPr>
          <a:xfrm>
            <a:off x="7086600" y="2871216"/>
            <a:ext cx="87782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8</a:t>
            </a:r>
            <a:endParaRPr lang="en-US" sz="1150" dirty="0"/>
          </a:p>
        </p:txBody>
      </p:sp>
      <p:sp>
        <p:nvSpPr>
          <p:cNvPr id="51" name="Shape 49"/>
          <p:cNvSpPr/>
          <p:nvPr/>
        </p:nvSpPr>
        <p:spPr>
          <a:xfrm>
            <a:off x="8028432" y="2779776"/>
            <a:ext cx="1325880" cy="676656"/>
          </a:xfrm>
          <a:prstGeom prst="rect">
            <a:avLst/>
          </a:prstGeom>
          <a:solidFill>
            <a:srgbClr val="F7F8FA"/>
          </a:solidFill>
          <a:ln w="12700">
            <a:solidFill>
              <a:srgbClr val="E8EDF2"/>
            </a:solidFill>
            <a:prstDash val="solid"/>
          </a:ln>
        </p:spPr>
      </p:sp>
      <p:sp>
        <p:nvSpPr>
          <p:cNvPr id="52" name="Text 50"/>
          <p:cNvSpPr txBox="1"/>
          <p:nvPr/>
        </p:nvSpPr>
        <p:spPr>
          <a:xfrm>
            <a:off x="8092440" y="2871216"/>
            <a:ext cx="119786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90% • z 1.282</a:t>
            </a:r>
            <a:endParaRPr lang="en-US" sz="1150" dirty="0"/>
          </a:p>
        </p:txBody>
      </p:sp>
      <p:sp>
        <p:nvSpPr>
          <p:cNvPr id="53" name="Shape 51"/>
          <p:cNvSpPr/>
          <p:nvPr/>
        </p:nvSpPr>
        <p:spPr>
          <a:xfrm>
            <a:off x="576072" y="3456432"/>
            <a:ext cx="594360" cy="676656"/>
          </a:xfrm>
          <a:prstGeom prst="rect">
            <a:avLst/>
          </a:prstGeom>
          <a:solidFill>
            <a:srgbClr val="FFFFFF"/>
          </a:solidFill>
          <a:ln w="12700">
            <a:solidFill>
              <a:srgbClr val="E8EDF2"/>
            </a:solidFill>
            <a:prstDash val="solid"/>
          </a:ln>
        </p:spPr>
      </p:sp>
      <p:sp>
        <p:nvSpPr>
          <p:cNvPr id="54" name="Text 52"/>
          <p:cNvSpPr txBox="1"/>
          <p:nvPr/>
        </p:nvSpPr>
        <p:spPr>
          <a:xfrm>
            <a:off x="640080" y="3547872"/>
            <a:ext cx="466344" cy="493776"/>
          </a:xfrm>
          <a:prstGeom prst="rect">
            <a:avLst/>
          </a:prstGeom>
          <a:noFill/>
          <a:ln/>
        </p:spPr>
        <p:txBody>
          <a:bodyPr wrap="square" lIns="0" tIns="0" rIns="0" bIns="0" rtlCol="0" anchor="ctr">
            <a:normAutofit/>
          </a:bodyPr>
          <a:lstStyle/>
          <a:p>
            <a:pPr algn="l" indent="0" marL="0">
              <a:buNone/>
            </a:pPr>
            <a:r>
              <a:rPr lang="en-US" sz="1150" b="1" dirty="0">
                <a:solidFill>
                  <a:srgbClr val="F28E2B"/>
                </a:solidFill>
                <a:latin typeface="Aptos" pitchFamily="34" charset="0"/>
                <a:ea typeface="Aptos" pitchFamily="34" charset="-122"/>
                <a:cs typeface="Aptos" pitchFamily="34" charset="-120"/>
              </a:rPr>
              <a:t>C</a:t>
            </a:r>
            <a:endParaRPr lang="en-US" sz="1150" dirty="0"/>
          </a:p>
        </p:txBody>
      </p:sp>
      <p:sp>
        <p:nvSpPr>
          <p:cNvPr id="55" name="Shape 53"/>
          <p:cNvSpPr/>
          <p:nvPr/>
        </p:nvSpPr>
        <p:spPr>
          <a:xfrm>
            <a:off x="1170432" y="3456432"/>
            <a:ext cx="2331720" cy="676656"/>
          </a:xfrm>
          <a:prstGeom prst="rect">
            <a:avLst/>
          </a:prstGeom>
          <a:solidFill>
            <a:srgbClr val="FFFFFF"/>
          </a:solidFill>
          <a:ln w="12700">
            <a:solidFill>
              <a:srgbClr val="E8EDF2"/>
            </a:solidFill>
            <a:prstDash val="solid"/>
          </a:ln>
        </p:spPr>
      </p:sp>
      <p:sp>
        <p:nvSpPr>
          <p:cNvPr id="56" name="Text 54"/>
          <p:cNvSpPr txBox="1"/>
          <p:nvPr/>
        </p:nvSpPr>
        <p:spPr>
          <a:xfrm>
            <a:off x="1234440" y="3547872"/>
            <a:ext cx="2203704" cy="493776"/>
          </a:xfrm>
          <a:prstGeom prst="rect">
            <a:avLst/>
          </a:prstGeom>
          <a:noFill/>
          <a:ln/>
        </p:spPr>
        <p:txBody>
          <a:bodyPr wrap="square" lIns="0" tIns="0" rIns="0" bIns="0" rtlCol="0" anchor="ctr">
            <a:normAutofit/>
          </a:bodyPr>
          <a:lstStyle/>
          <a:p>
            <a:pPr algn="l" indent="0" marL="0">
              <a:buNone/>
            </a:pPr>
            <a:r>
              <a:rPr lang="en-US" sz="1100" dirty="0">
                <a:solidFill>
                  <a:srgbClr val="152433"/>
                </a:solidFill>
                <a:latin typeface="Aptos" pitchFamily="34" charset="0"/>
                <a:ea typeface="Aptos" pitchFamily="34" charset="-122"/>
                <a:cs typeface="Aptos" pitchFamily="34" charset="-120"/>
              </a:rPr>
              <a:t>slow, production-critical</a:t>
            </a:r>
            <a:endParaRPr lang="en-US" sz="1100" dirty="0"/>
          </a:p>
        </p:txBody>
      </p:sp>
      <p:sp>
        <p:nvSpPr>
          <p:cNvPr id="57" name="Shape 55"/>
          <p:cNvSpPr/>
          <p:nvPr/>
        </p:nvSpPr>
        <p:spPr>
          <a:xfrm>
            <a:off x="3502152" y="3456432"/>
            <a:ext cx="914400" cy="676656"/>
          </a:xfrm>
          <a:prstGeom prst="rect">
            <a:avLst/>
          </a:prstGeom>
          <a:solidFill>
            <a:srgbClr val="FFFFFF"/>
          </a:solidFill>
          <a:ln w="12700">
            <a:solidFill>
              <a:srgbClr val="E8EDF2"/>
            </a:solidFill>
            <a:prstDash val="solid"/>
          </a:ln>
        </p:spPr>
      </p:sp>
      <p:sp>
        <p:nvSpPr>
          <p:cNvPr id="58" name="Text 56"/>
          <p:cNvSpPr txBox="1"/>
          <p:nvPr/>
        </p:nvSpPr>
        <p:spPr>
          <a:xfrm>
            <a:off x="3566160" y="3547872"/>
            <a:ext cx="78638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1,200</a:t>
            </a:r>
            <a:endParaRPr lang="en-US" sz="1150" dirty="0"/>
          </a:p>
        </p:txBody>
      </p:sp>
      <p:sp>
        <p:nvSpPr>
          <p:cNvPr id="59" name="Shape 57"/>
          <p:cNvSpPr/>
          <p:nvPr/>
        </p:nvSpPr>
        <p:spPr>
          <a:xfrm>
            <a:off x="4416552" y="3456432"/>
            <a:ext cx="731520" cy="676656"/>
          </a:xfrm>
          <a:prstGeom prst="rect">
            <a:avLst/>
          </a:prstGeom>
          <a:solidFill>
            <a:srgbClr val="FFFFFF"/>
          </a:solidFill>
          <a:ln w="12700">
            <a:solidFill>
              <a:srgbClr val="E8EDF2"/>
            </a:solidFill>
            <a:prstDash val="solid"/>
          </a:ln>
        </p:spPr>
      </p:sp>
      <p:sp>
        <p:nvSpPr>
          <p:cNvPr id="60" name="Text 58"/>
          <p:cNvSpPr txBox="1"/>
          <p:nvPr/>
        </p:nvSpPr>
        <p:spPr>
          <a:xfrm>
            <a:off x="4480560" y="3547872"/>
            <a:ext cx="60350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$40</a:t>
            </a:r>
            <a:endParaRPr lang="en-US" sz="1150" dirty="0"/>
          </a:p>
        </p:txBody>
      </p:sp>
      <p:sp>
        <p:nvSpPr>
          <p:cNvPr id="61" name="Shape 59"/>
          <p:cNvSpPr/>
          <p:nvPr/>
        </p:nvSpPr>
        <p:spPr>
          <a:xfrm>
            <a:off x="5148072" y="3456432"/>
            <a:ext cx="1143000" cy="676656"/>
          </a:xfrm>
          <a:prstGeom prst="rect">
            <a:avLst/>
          </a:prstGeom>
          <a:solidFill>
            <a:srgbClr val="FFFFFF"/>
          </a:solidFill>
          <a:ln w="12700">
            <a:solidFill>
              <a:srgbClr val="E8EDF2"/>
            </a:solidFill>
            <a:prstDash val="solid"/>
          </a:ln>
        </p:spPr>
      </p:sp>
      <p:sp>
        <p:nvSpPr>
          <p:cNvPr id="62" name="Text 60"/>
          <p:cNvSpPr txBox="1"/>
          <p:nvPr/>
        </p:nvSpPr>
        <p:spPr>
          <a:xfrm>
            <a:off x="5212080" y="3547872"/>
            <a:ext cx="101498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$25</a:t>
            </a:r>
            <a:endParaRPr lang="en-US" sz="1150" dirty="0"/>
          </a:p>
        </p:txBody>
      </p:sp>
      <p:sp>
        <p:nvSpPr>
          <p:cNvPr id="63" name="Shape 61"/>
          <p:cNvSpPr/>
          <p:nvPr/>
        </p:nvSpPr>
        <p:spPr>
          <a:xfrm>
            <a:off x="6291072" y="3456432"/>
            <a:ext cx="731520" cy="676656"/>
          </a:xfrm>
          <a:prstGeom prst="rect">
            <a:avLst/>
          </a:prstGeom>
          <a:solidFill>
            <a:srgbClr val="FFFFFF"/>
          </a:solidFill>
          <a:ln w="12700">
            <a:solidFill>
              <a:srgbClr val="E8EDF2"/>
            </a:solidFill>
            <a:prstDash val="solid"/>
          </a:ln>
        </p:spPr>
      </p:sp>
      <p:sp>
        <p:nvSpPr>
          <p:cNvPr id="64" name="Text 62"/>
          <p:cNvSpPr txBox="1"/>
          <p:nvPr/>
        </p:nvSpPr>
        <p:spPr>
          <a:xfrm>
            <a:off x="6355080" y="3547872"/>
            <a:ext cx="60350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15</a:t>
            </a:r>
            <a:endParaRPr lang="en-US" sz="1150" dirty="0"/>
          </a:p>
        </p:txBody>
      </p:sp>
      <p:sp>
        <p:nvSpPr>
          <p:cNvPr id="65" name="Shape 63"/>
          <p:cNvSpPr/>
          <p:nvPr/>
        </p:nvSpPr>
        <p:spPr>
          <a:xfrm>
            <a:off x="7022592" y="3456432"/>
            <a:ext cx="1005840" cy="676656"/>
          </a:xfrm>
          <a:prstGeom prst="rect">
            <a:avLst/>
          </a:prstGeom>
          <a:solidFill>
            <a:srgbClr val="FFFFFF"/>
          </a:solidFill>
          <a:ln w="12700">
            <a:solidFill>
              <a:srgbClr val="E8EDF2"/>
            </a:solidFill>
            <a:prstDash val="solid"/>
          </a:ln>
        </p:spPr>
      </p:sp>
      <p:sp>
        <p:nvSpPr>
          <p:cNvPr id="66" name="Text 64"/>
          <p:cNvSpPr txBox="1"/>
          <p:nvPr/>
        </p:nvSpPr>
        <p:spPr>
          <a:xfrm>
            <a:off x="7086600" y="3547872"/>
            <a:ext cx="87782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2</a:t>
            </a:r>
            <a:endParaRPr lang="en-US" sz="1150" dirty="0"/>
          </a:p>
        </p:txBody>
      </p:sp>
      <p:sp>
        <p:nvSpPr>
          <p:cNvPr id="67" name="Shape 65"/>
          <p:cNvSpPr/>
          <p:nvPr/>
        </p:nvSpPr>
        <p:spPr>
          <a:xfrm>
            <a:off x="8028432" y="3456432"/>
            <a:ext cx="1325880" cy="676656"/>
          </a:xfrm>
          <a:prstGeom prst="rect">
            <a:avLst/>
          </a:prstGeom>
          <a:solidFill>
            <a:srgbClr val="FFFFFF"/>
          </a:solidFill>
          <a:ln w="12700">
            <a:solidFill>
              <a:srgbClr val="E8EDF2"/>
            </a:solidFill>
            <a:prstDash val="solid"/>
          </a:ln>
        </p:spPr>
      </p:sp>
      <p:sp>
        <p:nvSpPr>
          <p:cNvPr id="68" name="Text 66"/>
          <p:cNvSpPr txBox="1"/>
          <p:nvPr/>
        </p:nvSpPr>
        <p:spPr>
          <a:xfrm>
            <a:off x="8092440" y="3547872"/>
            <a:ext cx="119786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98% • z 2.054</a:t>
            </a:r>
            <a:endParaRPr lang="en-US" sz="1150" dirty="0"/>
          </a:p>
        </p:txBody>
      </p:sp>
      <p:sp>
        <p:nvSpPr>
          <p:cNvPr id="69" name="Shape 67"/>
          <p:cNvSpPr/>
          <p:nvPr/>
        </p:nvSpPr>
        <p:spPr>
          <a:xfrm>
            <a:off x="576072" y="4133088"/>
            <a:ext cx="594360" cy="676656"/>
          </a:xfrm>
          <a:prstGeom prst="rect">
            <a:avLst/>
          </a:prstGeom>
          <a:solidFill>
            <a:srgbClr val="F7F8FA"/>
          </a:solidFill>
          <a:ln w="12700">
            <a:solidFill>
              <a:srgbClr val="E8EDF2"/>
            </a:solidFill>
            <a:prstDash val="solid"/>
          </a:ln>
        </p:spPr>
      </p:sp>
      <p:sp>
        <p:nvSpPr>
          <p:cNvPr id="70" name="Text 68"/>
          <p:cNvSpPr txBox="1"/>
          <p:nvPr/>
        </p:nvSpPr>
        <p:spPr>
          <a:xfrm>
            <a:off x="640080" y="4224528"/>
            <a:ext cx="466344" cy="493776"/>
          </a:xfrm>
          <a:prstGeom prst="rect">
            <a:avLst/>
          </a:prstGeom>
          <a:noFill/>
          <a:ln/>
        </p:spPr>
        <p:txBody>
          <a:bodyPr wrap="square" lIns="0" tIns="0" rIns="0" bIns="0" rtlCol="0" anchor="ctr">
            <a:normAutofit/>
          </a:bodyPr>
          <a:lstStyle/>
          <a:p>
            <a:pPr algn="l" indent="0" marL="0">
              <a:buNone/>
            </a:pPr>
            <a:r>
              <a:rPr lang="en-US" sz="1150" b="1" dirty="0">
                <a:solidFill>
                  <a:srgbClr val="D1495B"/>
                </a:solidFill>
                <a:latin typeface="Aptos" pitchFamily="34" charset="0"/>
                <a:ea typeface="Aptos" pitchFamily="34" charset="-122"/>
                <a:cs typeface="Aptos" pitchFamily="34" charset="-120"/>
              </a:rPr>
              <a:t>D</a:t>
            </a:r>
            <a:endParaRPr lang="en-US" sz="1150" dirty="0"/>
          </a:p>
        </p:txBody>
      </p:sp>
      <p:sp>
        <p:nvSpPr>
          <p:cNvPr id="71" name="Shape 69"/>
          <p:cNvSpPr/>
          <p:nvPr/>
        </p:nvSpPr>
        <p:spPr>
          <a:xfrm>
            <a:off x="1170432" y="4133088"/>
            <a:ext cx="2331720" cy="676656"/>
          </a:xfrm>
          <a:prstGeom prst="rect">
            <a:avLst/>
          </a:prstGeom>
          <a:solidFill>
            <a:srgbClr val="F7F8FA"/>
          </a:solidFill>
          <a:ln w="12700">
            <a:solidFill>
              <a:srgbClr val="E8EDF2"/>
            </a:solidFill>
            <a:prstDash val="solid"/>
          </a:ln>
        </p:spPr>
      </p:sp>
      <p:sp>
        <p:nvSpPr>
          <p:cNvPr id="72" name="Text 70"/>
          <p:cNvSpPr txBox="1"/>
          <p:nvPr/>
        </p:nvSpPr>
        <p:spPr>
          <a:xfrm>
            <a:off x="1234440" y="4224528"/>
            <a:ext cx="2203704" cy="493776"/>
          </a:xfrm>
          <a:prstGeom prst="rect">
            <a:avLst/>
          </a:prstGeom>
          <a:noFill/>
          <a:ln/>
        </p:spPr>
        <p:txBody>
          <a:bodyPr wrap="square" lIns="0" tIns="0" rIns="0" bIns="0" rtlCol="0" anchor="ctr">
            <a:normAutofit/>
          </a:bodyPr>
          <a:lstStyle/>
          <a:p>
            <a:pPr algn="l" indent="0" marL="0">
              <a:buNone/>
            </a:pPr>
            <a:r>
              <a:rPr lang="en-US" sz="1100" dirty="0">
                <a:solidFill>
                  <a:srgbClr val="152433"/>
                </a:solidFill>
                <a:latin typeface="Aptos" pitchFamily="34" charset="0"/>
                <a:ea typeface="Aptos" pitchFamily="34" charset="-122"/>
                <a:cs typeface="Aptos" pitchFamily="34" charset="-120"/>
              </a:rPr>
              <a:t>intermittent, obsolescence risk</a:t>
            </a:r>
            <a:endParaRPr lang="en-US" sz="1100" dirty="0"/>
          </a:p>
        </p:txBody>
      </p:sp>
      <p:sp>
        <p:nvSpPr>
          <p:cNvPr id="73" name="Shape 71"/>
          <p:cNvSpPr/>
          <p:nvPr/>
        </p:nvSpPr>
        <p:spPr>
          <a:xfrm>
            <a:off x="3502152" y="4133088"/>
            <a:ext cx="914400" cy="676656"/>
          </a:xfrm>
          <a:prstGeom prst="rect">
            <a:avLst/>
          </a:prstGeom>
          <a:solidFill>
            <a:srgbClr val="F7F8FA"/>
          </a:solidFill>
          <a:ln w="12700">
            <a:solidFill>
              <a:srgbClr val="E8EDF2"/>
            </a:solidFill>
            <a:prstDash val="solid"/>
          </a:ln>
        </p:spPr>
      </p:sp>
      <p:sp>
        <p:nvSpPr>
          <p:cNvPr id="74" name="Text 72"/>
          <p:cNvSpPr txBox="1"/>
          <p:nvPr/>
        </p:nvSpPr>
        <p:spPr>
          <a:xfrm>
            <a:off x="3566160" y="4224528"/>
            <a:ext cx="78638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300</a:t>
            </a:r>
            <a:endParaRPr lang="en-US" sz="1150" dirty="0"/>
          </a:p>
        </p:txBody>
      </p:sp>
      <p:sp>
        <p:nvSpPr>
          <p:cNvPr id="75" name="Shape 73"/>
          <p:cNvSpPr/>
          <p:nvPr/>
        </p:nvSpPr>
        <p:spPr>
          <a:xfrm>
            <a:off x="4416552" y="4133088"/>
            <a:ext cx="731520" cy="676656"/>
          </a:xfrm>
          <a:prstGeom prst="rect">
            <a:avLst/>
          </a:prstGeom>
          <a:solidFill>
            <a:srgbClr val="F7F8FA"/>
          </a:solidFill>
          <a:ln w="12700">
            <a:solidFill>
              <a:srgbClr val="E8EDF2"/>
            </a:solidFill>
            <a:prstDash val="solid"/>
          </a:ln>
        </p:spPr>
      </p:sp>
      <p:sp>
        <p:nvSpPr>
          <p:cNvPr id="76" name="Text 74"/>
          <p:cNvSpPr txBox="1"/>
          <p:nvPr/>
        </p:nvSpPr>
        <p:spPr>
          <a:xfrm>
            <a:off x="4480560" y="4224528"/>
            <a:ext cx="60350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$30</a:t>
            </a:r>
            <a:endParaRPr lang="en-US" sz="1150" dirty="0"/>
          </a:p>
        </p:txBody>
      </p:sp>
      <p:sp>
        <p:nvSpPr>
          <p:cNvPr id="77" name="Shape 75"/>
          <p:cNvSpPr/>
          <p:nvPr/>
        </p:nvSpPr>
        <p:spPr>
          <a:xfrm>
            <a:off x="5148072" y="4133088"/>
            <a:ext cx="1143000" cy="676656"/>
          </a:xfrm>
          <a:prstGeom prst="rect">
            <a:avLst/>
          </a:prstGeom>
          <a:solidFill>
            <a:srgbClr val="F7F8FA"/>
          </a:solidFill>
          <a:ln w="12700">
            <a:solidFill>
              <a:srgbClr val="E8EDF2"/>
            </a:solidFill>
            <a:prstDash val="solid"/>
          </a:ln>
        </p:spPr>
      </p:sp>
      <p:sp>
        <p:nvSpPr>
          <p:cNvPr id="78" name="Text 76"/>
          <p:cNvSpPr txBox="1"/>
          <p:nvPr/>
        </p:nvSpPr>
        <p:spPr>
          <a:xfrm>
            <a:off x="5212080" y="4224528"/>
            <a:ext cx="101498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$60</a:t>
            </a:r>
            <a:endParaRPr lang="en-US" sz="1150" dirty="0"/>
          </a:p>
        </p:txBody>
      </p:sp>
      <p:sp>
        <p:nvSpPr>
          <p:cNvPr id="79" name="Shape 77"/>
          <p:cNvSpPr/>
          <p:nvPr/>
        </p:nvSpPr>
        <p:spPr>
          <a:xfrm>
            <a:off x="6291072" y="4133088"/>
            <a:ext cx="731520" cy="676656"/>
          </a:xfrm>
          <a:prstGeom prst="rect">
            <a:avLst/>
          </a:prstGeom>
          <a:solidFill>
            <a:srgbClr val="F7F8FA"/>
          </a:solidFill>
          <a:ln w="12700">
            <a:solidFill>
              <a:srgbClr val="E8EDF2"/>
            </a:solidFill>
            <a:prstDash val="solid"/>
          </a:ln>
        </p:spPr>
      </p:sp>
      <p:sp>
        <p:nvSpPr>
          <p:cNvPr id="80" name="Text 78"/>
          <p:cNvSpPr txBox="1"/>
          <p:nvPr/>
        </p:nvSpPr>
        <p:spPr>
          <a:xfrm>
            <a:off x="6355080" y="4224528"/>
            <a:ext cx="60350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20</a:t>
            </a:r>
            <a:endParaRPr lang="en-US" sz="1150" dirty="0"/>
          </a:p>
        </p:txBody>
      </p:sp>
      <p:sp>
        <p:nvSpPr>
          <p:cNvPr id="81" name="Shape 79"/>
          <p:cNvSpPr/>
          <p:nvPr/>
        </p:nvSpPr>
        <p:spPr>
          <a:xfrm>
            <a:off x="7022592" y="4133088"/>
            <a:ext cx="1005840" cy="676656"/>
          </a:xfrm>
          <a:prstGeom prst="rect">
            <a:avLst/>
          </a:prstGeom>
          <a:solidFill>
            <a:srgbClr val="F7F8FA"/>
          </a:solidFill>
          <a:ln w="12700">
            <a:solidFill>
              <a:srgbClr val="E8EDF2"/>
            </a:solidFill>
            <a:prstDash val="solid"/>
          </a:ln>
        </p:spPr>
      </p:sp>
      <p:sp>
        <p:nvSpPr>
          <p:cNvPr id="82" name="Text 80"/>
          <p:cNvSpPr txBox="1"/>
          <p:nvPr/>
        </p:nvSpPr>
        <p:spPr>
          <a:xfrm>
            <a:off x="7086600" y="4224528"/>
            <a:ext cx="87782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1*</a:t>
            </a:r>
            <a:endParaRPr lang="en-US" sz="1150" dirty="0"/>
          </a:p>
        </p:txBody>
      </p:sp>
      <p:sp>
        <p:nvSpPr>
          <p:cNvPr id="83" name="Shape 81"/>
          <p:cNvSpPr/>
          <p:nvPr/>
        </p:nvSpPr>
        <p:spPr>
          <a:xfrm>
            <a:off x="8028432" y="4133088"/>
            <a:ext cx="1325880" cy="676656"/>
          </a:xfrm>
          <a:prstGeom prst="rect">
            <a:avLst/>
          </a:prstGeom>
          <a:solidFill>
            <a:srgbClr val="F7F8FA"/>
          </a:solidFill>
          <a:ln w="12700">
            <a:solidFill>
              <a:srgbClr val="E8EDF2"/>
            </a:solidFill>
            <a:prstDash val="solid"/>
          </a:ln>
        </p:spPr>
      </p:sp>
      <p:sp>
        <p:nvSpPr>
          <p:cNvPr id="84" name="Text 82"/>
          <p:cNvSpPr txBox="1"/>
          <p:nvPr/>
        </p:nvSpPr>
        <p:spPr>
          <a:xfrm>
            <a:off x="8092440" y="4224528"/>
            <a:ext cx="1197864" cy="493776"/>
          </a:xfrm>
          <a:prstGeom prst="rect">
            <a:avLst/>
          </a:prstGeom>
          <a:noFill/>
          <a:ln/>
        </p:spPr>
        <p:txBody>
          <a:bodyPr wrap="square" lIns="0" tIns="0" rIns="0" bIns="0" rtlCol="0" anchor="ctr">
            <a:normAutofit/>
          </a:bodyPr>
          <a:lstStyle/>
          <a:p>
            <a:pPr algn="ctr" indent="0" marL="0">
              <a:buNone/>
            </a:pPr>
            <a:r>
              <a:rPr lang="en-US" sz="1150" dirty="0">
                <a:solidFill>
                  <a:srgbClr val="152433"/>
                </a:solidFill>
                <a:latin typeface="Aptos" pitchFamily="34" charset="0"/>
                <a:ea typeface="Aptos" pitchFamily="34" charset="-122"/>
                <a:cs typeface="Aptos" pitchFamily="34" charset="-120"/>
              </a:rPr>
              <a:t>95% • z 1.645</a:t>
            </a:r>
            <a:endParaRPr lang="en-US" sz="1150" dirty="0"/>
          </a:p>
        </p:txBody>
      </p:sp>
      <p:sp>
        <p:nvSpPr>
          <p:cNvPr id="85" name="Shape 83"/>
          <p:cNvSpPr/>
          <p:nvPr/>
        </p:nvSpPr>
        <p:spPr>
          <a:xfrm>
            <a:off x="594360" y="4956048"/>
            <a:ext cx="10561320" cy="594360"/>
          </a:xfrm>
          <a:prstGeom prst="roundRect">
            <a:avLst>
              <a:gd name="adj" fmla="val 15385"/>
            </a:avLst>
          </a:prstGeom>
          <a:solidFill>
            <a:srgbClr val="FFF1E3"/>
          </a:solidFill>
          <a:ln w="12700">
            <a:solidFill>
              <a:srgbClr val="FFF1E3"/>
            </a:solidFill>
            <a:prstDash val="solid"/>
          </a:ln>
        </p:spPr>
      </p:sp>
      <p:sp>
        <p:nvSpPr>
          <p:cNvPr id="86" name="Text 84"/>
          <p:cNvSpPr txBox="1"/>
          <p:nvPr/>
        </p:nvSpPr>
        <p:spPr>
          <a:xfrm>
            <a:off x="850392" y="5111496"/>
            <a:ext cx="10012680" cy="256032"/>
          </a:xfrm>
          <a:prstGeom prst="rect">
            <a:avLst/>
          </a:prstGeom>
          <a:noFill/>
          <a:ln/>
        </p:spPr>
        <p:txBody>
          <a:bodyPr wrap="square" lIns="0" tIns="0" rIns="0" bIns="0" rtlCol="0" anchor="ctr">
            <a:normAutofit/>
          </a:bodyPr>
          <a:lstStyle/>
          <a:p>
            <a:pPr algn="l" indent="0" marL="0">
              <a:buNone/>
            </a:pPr>
            <a:r>
              <a:rPr lang="en-US" sz="1200" b="1" dirty="0">
                <a:solidFill>
                  <a:srgbClr val="D1495B"/>
                </a:solidFill>
                <a:latin typeface="Aptos" pitchFamily="34" charset="0"/>
                <a:ea typeface="Aptos" pitchFamily="34" charset="-122"/>
                <a:cs typeface="Aptos" pitchFamily="34" charset="-120"/>
              </a:rPr>
              <a:t>* SKU D’s σ estimate is rough. Normal demand may be a poor model because many periods have zero demand.</a:t>
            </a:r>
            <a:endParaRPr lang="en-US" sz="1200" dirty="0"/>
          </a:p>
        </p:txBody>
      </p:sp>
      <p:sp>
        <p:nvSpPr>
          <p:cNvPr id="87" name="Shape 85"/>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88" name="Text 86"/>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89" name="Text 87"/>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The case tests both calculation and model fit: a mechanically correct answer may still be a poor policy.</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TEAM CHALLENGE</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Recommend—not merely calculate</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5 minutes • one spokesperson • prepare one challenge to your own answer</a:t>
            </a:r>
            <a:endParaRPr lang="en-US" sz="1350" dirty="0"/>
          </a:p>
        </p:txBody>
      </p:sp>
      <p:sp>
        <p:nvSpPr>
          <p:cNvPr id="5" name="Shape 3"/>
          <p:cNvSpPr/>
          <p:nvPr/>
        </p:nvSpPr>
        <p:spPr>
          <a:xfrm>
            <a:off x="640080" y="1600200"/>
            <a:ext cx="5303520" cy="1234440"/>
          </a:xfrm>
          <a:prstGeom prst="roundRect">
            <a:avLst>
              <a:gd name="adj" fmla="val 7407"/>
            </a:avLst>
          </a:prstGeom>
          <a:solidFill>
            <a:srgbClr val="FFFFFF"/>
          </a:solidFill>
          <a:ln w="12700">
            <a:solidFill>
              <a:srgbClr val="E8EDF2"/>
            </a:solidFill>
            <a:prstDash val="solid"/>
          </a:ln>
        </p:spPr>
      </p:sp>
      <p:sp>
        <p:nvSpPr>
          <p:cNvPr id="6" name="Shape 4"/>
          <p:cNvSpPr/>
          <p:nvPr/>
        </p:nvSpPr>
        <p:spPr>
          <a:xfrm>
            <a:off x="841248" y="1883664"/>
            <a:ext cx="658368" cy="658368"/>
          </a:xfrm>
          <a:prstGeom prst="ellipse">
            <a:avLst/>
          </a:prstGeom>
          <a:solidFill>
            <a:srgbClr val="1D6FA5"/>
          </a:solidFill>
          <a:ln w="12700">
            <a:solidFill>
              <a:srgbClr val="1D6FA5"/>
            </a:solidFill>
            <a:prstDash val="solid"/>
          </a:ln>
        </p:spPr>
      </p:sp>
      <p:sp>
        <p:nvSpPr>
          <p:cNvPr id="7" name="Text 5"/>
          <p:cNvSpPr txBox="1"/>
          <p:nvPr/>
        </p:nvSpPr>
        <p:spPr>
          <a:xfrm>
            <a:off x="841248" y="1883664"/>
            <a:ext cx="658368" cy="65836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01</a:t>
            </a:r>
            <a:endParaRPr lang="en-US" sz="1100" dirty="0"/>
          </a:p>
        </p:txBody>
      </p:sp>
      <p:sp>
        <p:nvSpPr>
          <p:cNvPr id="8" name="Text 6"/>
          <p:cNvSpPr txBox="1"/>
          <p:nvPr/>
        </p:nvSpPr>
        <p:spPr>
          <a:xfrm>
            <a:off x="1664208" y="1764792"/>
            <a:ext cx="1417320" cy="310896"/>
          </a:xfrm>
          <a:prstGeom prst="rect">
            <a:avLst/>
          </a:prstGeom>
          <a:noFill/>
          <a:ln/>
        </p:spPr>
        <p:txBody>
          <a:bodyPr wrap="square" lIns="0" tIns="0" rIns="0" bIns="0" rtlCol="0" anchor="ctr">
            <a:normAutofit/>
          </a:bodyPr>
          <a:lstStyle/>
          <a:p>
            <a:pPr algn="l" indent="0" marL="0">
              <a:buNone/>
            </a:pPr>
            <a:r>
              <a:rPr lang="en-US" sz="1500" b="1" dirty="0">
                <a:solidFill>
                  <a:srgbClr val="0B1F33"/>
                </a:solidFill>
                <a:latin typeface="Aptos" pitchFamily="34" charset="0"/>
                <a:ea typeface="Aptos" pitchFamily="34" charset="-122"/>
                <a:cs typeface="Aptos" pitchFamily="34" charset="-120"/>
              </a:rPr>
              <a:t>CLASSIFY</a:t>
            </a:r>
            <a:endParaRPr lang="en-US" sz="1500" dirty="0"/>
          </a:p>
        </p:txBody>
      </p:sp>
      <p:sp>
        <p:nvSpPr>
          <p:cNvPr id="9" name="Text 7"/>
          <p:cNvSpPr txBox="1"/>
          <p:nvPr/>
        </p:nvSpPr>
        <p:spPr>
          <a:xfrm>
            <a:off x="1664208" y="2130552"/>
            <a:ext cx="3840480" cy="502920"/>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Apply ABC/VED/FSN logic from the qualitative data.</a:t>
            </a:r>
            <a:endParaRPr lang="en-US" sz="1250" dirty="0"/>
          </a:p>
        </p:txBody>
      </p:sp>
      <p:sp>
        <p:nvSpPr>
          <p:cNvPr id="10" name="Shape 8"/>
          <p:cNvSpPr/>
          <p:nvPr/>
        </p:nvSpPr>
        <p:spPr>
          <a:xfrm>
            <a:off x="6217920" y="1600200"/>
            <a:ext cx="5303520" cy="1234440"/>
          </a:xfrm>
          <a:prstGeom prst="roundRect">
            <a:avLst>
              <a:gd name="adj" fmla="val 7407"/>
            </a:avLst>
          </a:prstGeom>
          <a:solidFill>
            <a:srgbClr val="FFFFFF"/>
          </a:solidFill>
          <a:ln w="12700">
            <a:solidFill>
              <a:srgbClr val="E8EDF2"/>
            </a:solidFill>
            <a:prstDash val="solid"/>
          </a:ln>
        </p:spPr>
      </p:sp>
      <p:sp>
        <p:nvSpPr>
          <p:cNvPr id="11" name="Shape 9"/>
          <p:cNvSpPr/>
          <p:nvPr/>
        </p:nvSpPr>
        <p:spPr>
          <a:xfrm>
            <a:off x="6419088" y="1883664"/>
            <a:ext cx="658368" cy="658368"/>
          </a:xfrm>
          <a:prstGeom prst="ellipse">
            <a:avLst/>
          </a:prstGeom>
          <a:solidFill>
            <a:srgbClr val="F28E2B"/>
          </a:solidFill>
          <a:ln w="12700">
            <a:solidFill>
              <a:srgbClr val="F28E2B"/>
            </a:solidFill>
            <a:prstDash val="solid"/>
          </a:ln>
        </p:spPr>
      </p:sp>
      <p:sp>
        <p:nvSpPr>
          <p:cNvPr id="12" name="Text 10"/>
          <p:cNvSpPr txBox="1"/>
          <p:nvPr/>
        </p:nvSpPr>
        <p:spPr>
          <a:xfrm>
            <a:off x="6419088" y="1883664"/>
            <a:ext cx="658368" cy="65836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02</a:t>
            </a:r>
            <a:endParaRPr lang="en-US" sz="1100" dirty="0"/>
          </a:p>
        </p:txBody>
      </p:sp>
      <p:sp>
        <p:nvSpPr>
          <p:cNvPr id="13" name="Text 11"/>
          <p:cNvSpPr txBox="1"/>
          <p:nvPr/>
        </p:nvSpPr>
        <p:spPr>
          <a:xfrm>
            <a:off x="7242048" y="1764792"/>
            <a:ext cx="1417320" cy="310896"/>
          </a:xfrm>
          <a:prstGeom prst="rect">
            <a:avLst/>
          </a:prstGeom>
          <a:noFill/>
          <a:ln/>
        </p:spPr>
        <p:txBody>
          <a:bodyPr wrap="square" lIns="0" tIns="0" rIns="0" bIns="0" rtlCol="0" anchor="ctr">
            <a:normAutofit/>
          </a:bodyPr>
          <a:lstStyle/>
          <a:p>
            <a:pPr algn="l" indent="0" marL="0">
              <a:buNone/>
            </a:pPr>
            <a:r>
              <a:rPr lang="en-US" sz="1500" b="1" dirty="0">
                <a:solidFill>
                  <a:srgbClr val="0B1F33"/>
                </a:solidFill>
                <a:latin typeface="Aptos" pitchFamily="34" charset="0"/>
                <a:ea typeface="Aptos" pitchFamily="34" charset="-122"/>
                <a:cs typeface="Aptos" pitchFamily="34" charset="-120"/>
              </a:rPr>
              <a:t>CALCULATE</a:t>
            </a:r>
            <a:endParaRPr lang="en-US" sz="1500" dirty="0"/>
          </a:p>
        </p:txBody>
      </p:sp>
      <p:sp>
        <p:nvSpPr>
          <p:cNvPr id="14" name="Text 12"/>
          <p:cNvSpPr txBox="1"/>
          <p:nvPr/>
        </p:nvSpPr>
        <p:spPr>
          <a:xfrm>
            <a:off x="7242048" y="2130552"/>
            <a:ext cx="3840480" cy="502920"/>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Q* = √(2DS/H)  |  SS = zσd√L  |  R = (D/300)L + SS</a:t>
            </a:r>
            <a:endParaRPr lang="en-US" sz="1250" dirty="0"/>
          </a:p>
        </p:txBody>
      </p:sp>
      <p:sp>
        <p:nvSpPr>
          <p:cNvPr id="15" name="Shape 13"/>
          <p:cNvSpPr/>
          <p:nvPr/>
        </p:nvSpPr>
        <p:spPr>
          <a:xfrm>
            <a:off x="640080" y="3081528"/>
            <a:ext cx="5303520" cy="1234440"/>
          </a:xfrm>
          <a:prstGeom prst="roundRect">
            <a:avLst>
              <a:gd name="adj" fmla="val 7407"/>
            </a:avLst>
          </a:prstGeom>
          <a:solidFill>
            <a:srgbClr val="FFFFFF"/>
          </a:solidFill>
          <a:ln w="12700">
            <a:solidFill>
              <a:srgbClr val="E8EDF2"/>
            </a:solidFill>
            <a:prstDash val="solid"/>
          </a:ln>
        </p:spPr>
      </p:sp>
      <p:sp>
        <p:nvSpPr>
          <p:cNvPr id="16" name="Shape 14"/>
          <p:cNvSpPr/>
          <p:nvPr/>
        </p:nvSpPr>
        <p:spPr>
          <a:xfrm>
            <a:off x="841248" y="3364992"/>
            <a:ext cx="658368" cy="658368"/>
          </a:xfrm>
          <a:prstGeom prst="ellipse">
            <a:avLst/>
          </a:prstGeom>
          <a:solidFill>
            <a:srgbClr val="2A9D8F"/>
          </a:solidFill>
          <a:ln w="12700">
            <a:solidFill>
              <a:srgbClr val="2A9D8F"/>
            </a:solidFill>
            <a:prstDash val="solid"/>
          </a:ln>
        </p:spPr>
      </p:sp>
      <p:sp>
        <p:nvSpPr>
          <p:cNvPr id="17" name="Text 15"/>
          <p:cNvSpPr txBox="1"/>
          <p:nvPr/>
        </p:nvSpPr>
        <p:spPr>
          <a:xfrm>
            <a:off x="841248" y="3364992"/>
            <a:ext cx="658368" cy="65836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03</a:t>
            </a:r>
            <a:endParaRPr lang="en-US" sz="1100" dirty="0"/>
          </a:p>
        </p:txBody>
      </p:sp>
      <p:sp>
        <p:nvSpPr>
          <p:cNvPr id="18" name="Text 16"/>
          <p:cNvSpPr txBox="1"/>
          <p:nvPr/>
        </p:nvSpPr>
        <p:spPr>
          <a:xfrm>
            <a:off x="1664208" y="3246120"/>
            <a:ext cx="1417320" cy="310896"/>
          </a:xfrm>
          <a:prstGeom prst="rect">
            <a:avLst/>
          </a:prstGeom>
          <a:noFill/>
          <a:ln/>
        </p:spPr>
        <p:txBody>
          <a:bodyPr wrap="square" lIns="0" tIns="0" rIns="0" bIns="0" rtlCol="0" anchor="ctr">
            <a:normAutofit/>
          </a:bodyPr>
          <a:lstStyle/>
          <a:p>
            <a:pPr algn="l" indent="0" marL="0">
              <a:buNone/>
            </a:pPr>
            <a:r>
              <a:rPr lang="en-US" sz="1500" b="1" dirty="0">
                <a:solidFill>
                  <a:srgbClr val="0B1F33"/>
                </a:solidFill>
                <a:latin typeface="Aptos" pitchFamily="34" charset="0"/>
                <a:ea typeface="Aptos" pitchFamily="34" charset="-122"/>
                <a:cs typeface="Aptos" pitchFamily="34" charset="-120"/>
              </a:rPr>
              <a:t>CHOOSE</a:t>
            </a:r>
            <a:endParaRPr lang="en-US" sz="1500" dirty="0"/>
          </a:p>
        </p:txBody>
      </p:sp>
      <p:sp>
        <p:nvSpPr>
          <p:cNvPr id="19" name="Text 17"/>
          <p:cNvSpPr txBox="1"/>
          <p:nvPr/>
        </p:nvSpPr>
        <p:spPr>
          <a:xfrm>
            <a:off x="1664208" y="3611880"/>
            <a:ext cx="3840480" cy="502920"/>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Continuous review, periodic review, lot-for-lot, or supplier intervention?</a:t>
            </a:r>
            <a:endParaRPr lang="en-US" sz="1250" dirty="0"/>
          </a:p>
        </p:txBody>
      </p:sp>
      <p:sp>
        <p:nvSpPr>
          <p:cNvPr id="20" name="Shape 18"/>
          <p:cNvSpPr/>
          <p:nvPr/>
        </p:nvSpPr>
        <p:spPr>
          <a:xfrm>
            <a:off x="6217920" y="3081528"/>
            <a:ext cx="5303520" cy="1234440"/>
          </a:xfrm>
          <a:prstGeom prst="roundRect">
            <a:avLst>
              <a:gd name="adj" fmla="val 7407"/>
            </a:avLst>
          </a:prstGeom>
          <a:solidFill>
            <a:srgbClr val="FFFFFF"/>
          </a:solidFill>
          <a:ln w="12700">
            <a:solidFill>
              <a:srgbClr val="E8EDF2"/>
            </a:solidFill>
            <a:prstDash val="solid"/>
          </a:ln>
        </p:spPr>
      </p:sp>
      <p:sp>
        <p:nvSpPr>
          <p:cNvPr id="21" name="Shape 19"/>
          <p:cNvSpPr/>
          <p:nvPr/>
        </p:nvSpPr>
        <p:spPr>
          <a:xfrm>
            <a:off x="6419088" y="3364992"/>
            <a:ext cx="658368" cy="658368"/>
          </a:xfrm>
          <a:prstGeom prst="ellipse">
            <a:avLst/>
          </a:prstGeom>
          <a:solidFill>
            <a:srgbClr val="D1495B"/>
          </a:solidFill>
          <a:ln w="12700">
            <a:solidFill>
              <a:srgbClr val="D1495B"/>
            </a:solidFill>
            <a:prstDash val="solid"/>
          </a:ln>
        </p:spPr>
      </p:sp>
      <p:sp>
        <p:nvSpPr>
          <p:cNvPr id="22" name="Text 20"/>
          <p:cNvSpPr txBox="1"/>
          <p:nvPr/>
        </p:nvSpPr>
        <p:spPr>
          <a:xfrm>
            <a:off x="6419088" y="3364992"/>
            <a:ext cx="658368" cy="65836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04</a:t>
            </a:r>
            <a:endParaRPr lang="en-US" sz="1100" dirty="0"/>
          </a:p>
        </p:txBody>
      </p:sp>
      <p:sp>
        <p:nvSpPr>
          <p:cNvPr id="23" name="Text 21"/>
          <p:cNvSpPr txBox="1"/>
          <p:nvPr/>
        </p:nvSpPr>
        <p:spPr>
          <a:xfrm>
            <a:off x="7242048" y="3246120"/>
            <a:ext cx="1417320" cy="310896"/>
          </a:xfrm>
          <a:prstGeom prst="rect">
            <a:avLst/>
          </a:prstGeom>
          <a:noFill/>
          <a:ln/>
        </p:spPr>
        <p:txBody>
          <a:bodyPr wrap="square" lIns="0" tIns="0" rIns="0" bIns="0" rtlCol="0" anchor="ctr">
            <a:normAutofit/>
          </a:bodyPr>
          <a:lstStyle/>
          <a:p>
            <a:pPr algn="l" indent="0" marL="0">
              <a:buNone/>
            </a:pPr>
            <a:r>
              <a:rPr lang="en-US" sz="1500" b="1" dirty="0">
                <a:solidFill>
                  <a:srgbClr val="0B1F33"/>
                </a:solidFill>
                <a:latin typeface="Aptos" pitchFamily="34" charset="0"/>
                <a:ea typeface="Aptos" pitchFamily="34" charset="-122"/>
                <a:cs typeface="Aptos" pitchFamily="34" charset="-120"/>
              </a:rPr>
              <a:t>CHALLENGE</a:t>
            </a:r>
            <a:endParaRPr lang="en-US" sz="1500" dirty="0"/>
          </a:p>
        </p:txBody>
      </p:sp>
      <p:sp>
        <p:nvSpPr>
          <p:cNvPr id="24" name="Text 22"/>
          <p:cNvSpPr txBox="1"/>
          <p:nvPr/>
        </p:nvSpPr>
        <p:spPr>
          <a:xfrm>
            <a:off x="7242048" y="3611880"/>
            <a:ext cx="3840480" cy="502920"/>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Which SKU’s formula result is least decision-ready—and why?</a:t>
            </a:r>
            <a:endParaRPr lang="en-US" sz="1250" dirty="0"/>
          </a:p>
        </p:txBody>
      </p:sp>
      <p:sp>
        <p:nvSpPr>
          <p:cNvPr id="25" name="Shape 23"/>
          <p:cNvSpPr/>
          <p:nvPr/>
        </p:nvSpPr>
        <p:spPr>
          <a:xfrm>
            <a:off x="640080" y="4800600"/>
            <a:ext cx="10881360" cy="731520"/>
          </a:xfrm>
          <a:prstGeom prst="roundRect">
            <a:avLst>
              <a:gd name="adj" fmla="val 12500"/>
            </a:avLst>
          </a:prstGeom>
          <a:solidFill>
            <a:srgbClr val="0B1F33"/>
          </a:solidFill>
          <a:ln w="12700">
            <a:solidFill>
              <a:srgbClr val="0B1F33"/>
            </a:solidFill>
            <a:prstDash val="solid"/>
          </a:ln>
        </p:spPr>
      </p:sp>
      <p:sp>
        <p:nvSpPr>
          <p:cNvPr id="26" name="Text 24"/>
          <p:cNvSpPr txBox="1"/>
          <p:nvPr/>
        </p:nvSpPr>
        <p:spPr>
          <a:xfrm>
            <a:off x="896112" y="5029200"/>
            <a:ext cx="685800" cy="219456"/>
          </a:xfrm>
          <a:prstGeom prst="rect">
            <a:avLst/>
          </a:prstGeom>
          <a:noFill/>
          <a:ln/>
        </p:spPr>
        <p:txBody>
          <a:bodyPr wrap="square" lIns="0" tIns="0" rIns="0" bIns="0" rtlCol="0" anchor="ctr">
            <a:normAutofit/>
          </a:bodyPr>
          <a:lstStyle/>
          <a:p>
            <a:pPr algn="l" indent="0" marL="0">
              <a:buNone/>
            </a:pPr>
            <a:r>
              <a:rPr lang="en-US" sz="1000" b="1" dirty="0">
                <a:solidFill>
                  <a:srgbClr val="F4C95D"/>
                </a:solidFill>
                <a:latin typeface="Aptos" pitchFamily="34" charset="0"/>
                <a:ea typeface="Aptos" pitchFamily="34" charset="-122"/>
                <a:cs typeface="Aptos" pitchFamily="34" charset="-120"/>
              </a:rPr>
              <a:t>OUTPUT</a:t>
            </a:r>
            <a:endParaRPr lang="en-US" sz="1000" dirty="0"/>
          </a:p>
        </p:txBody>
      </p:sp>
      <p:sp>
        <p:nvSpPr>
          <p:cNvPr id="27" name="Text 25"/>
          <p:cNvSpPr txBox="1"/>
          <p:nvPr/>
        </p:nvSpPr>
        <p:spPr>
          <a:xfrm>
            <a:off x="1554480" y="4928616"/>
            <a:ext cx="9326880" cy="365760"/>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Aptos" pitchFamily="34" charset="0"/>
                <a:ea typeface="Aptos" pitchFamily="34" charset="-122"/>
                <a:cs typeface="Aptos" pitchFamily="34" charset="-120"/>
              </a:rPr>
              <a:t>One policy card per SKU: classification • Q • R • service rationale • one non-inventory lever</a:t>
            </a:r>
            <a:endParaRPr lang="en-US" sz="1600" dirty="0"/>
          </a:p>
        </p:txBody>
      </p:sp>
      <p:sp>
        <p:nvSpPr>
          <p:cNvPr id="28" name="Shape 26"/>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29" name="Text 27"/>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30" name="Text 28"/>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A recommendation must name the policy, the service metric, the assumptions, and the next managerial action.</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SUGGESTED ANSWER</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The calculations are inputs; the recommendation is the output</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Rounded as specified • illustrative data</a:t>
            </a:r>
            <a:endParaRPr lang="en-US" sz="1350" dirty="0"/>
          </a:p>
        </p:txBody>
      </p:sp>
      <p:sp>
        <p:nvSpPr>
          <p:cNvPr id="5" name="Shape 3"/>
          <p:cNvSpPr/>
          <p:nvPr/>
        </p:nvSpPr>
        <p:spPr>
          <a:xfrm>
            <a:off x="576072" y="1600200"/>
            <a:ext cx="594360" cy="475488"/>
          </a:xfrm>
          <a:prstGeom prst="rect">
            <a:avLst/>
          </a:prstGeom>
          <a:solidFill>
            <a:srgbClr val="0B1F33"/>
          </a:solidFill>
          <a:ln w="12700">
            <a:solidFill>
              <a:srgbClr val="0B1F33"/>
            </a:solidFill>
            <a:prstDash val="solid"/>
          </a:ln>
        </p:spPr>
      </p:sp>
      <p:sp>
        <p:nvSpPr>
          <p:cNvPr id="6" name="Text 4"/>
          <p:cNvSpPr txBox="1"/>
          <p:nvPr/>
        </p:nvSpPr>
        <p:spPr>
          <a:xfrm>
            <a:off x="649224" y="1709928"/>
            <a:ext cx="448056" cy="228600"/>
          </a:xfrm>
          <a:prstGeom prst="rect">
            <a:avLst/>
          </a:prstGeom>
          <a:noFill/>
          <a:ln/>
        </p:spPr>
        <p:txBody>
          <a:bodyPr wrap="square" lIns="0" tIns="0" rIns="0" bIns="0" rtlCol="0" anchor="ctr">
            <a:normAutofit/>
          </a:bodyPr>
          <a:lstStyle/>
          <a:p>
            <a:pPr algn="l" indent="0" marL="0">
              <a:buNone/>
            </a:pPr>
            <a:r>
              <a:rPr lang="en-US" sz="900" b="1" dirty="0">
                <a:solidFill>
                  <a:srgbClr val="FFFFFF"/>
                </a:solidFill>
                <a:latin typeface="Aptos" pitchFamily="34" charset="0"/>
                <a:ea typeface="Aptos" pitchFamily="34" charset="-122"/>
                <a:cs typeface="Aptos" pitchFamily="34" charset="-120"/>
              </a:rPr>
              <a:t>SKU</a:t>
            </a:r>
            <a:endParaRPr lang="en-US" sz="900" dirty="0"/>
          </a:p>
        </p:txBody>
      </p:sp>
      <p:sp>
        <p:nvSpPr>
          <p:cNvPr id="7" name="Shape 5"/>
          <p:cNvSpPr/>
          <p:nvPr/>
        </p:nvSpPr>
        <p:spPr>
          <a:xfrm>
            <a:off x="1170432" y="1600200"/>
            <a:ext cx="1051560" cy="475488"/>
          </a:xfrm>
          <a:prstGeom prst="rect">
            <a:avLst/>
          </a:prstGeom>
          <a:solidFill>
            <a:srgbClr val="0B1F33"/>
          </a:solidFill>
          <a:ln w="12700">
            <a:solidFill>
              <a:srgbClr val="0B1F33"/>
            </a:solidFill>
            <a:prstDash val="solid"/>
          </a:ln>
        </p:spPr>
      </p:sp>
      <p:sp>
        <p:nvSpPr>
          <p:cNvPr id="8" name="Text 6"/>
          <p:cNvSpPr txBox="1"/>
          <p:nvPr/>
        </p:nvSpPr>
        <p:spPr>
          <a:xfrm>
            <a:off x="1243584" y="1709928"/>
            <a:ext cx="905256" cy="22860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EOQ Q*</a:t>
            </a:r>
            <a:endParaRPr lang="en-US" sz="900" dirty="0"/>
          </a:p>
        </p:txBody>
      </p:sp>
      <p:sp>
        <p:nvSpPr>
          <p:cNvPr id="9" name="Shape 7"/>
          <p:cNvSpPr/>
          <p:nvPr/>
        </p:nvSpPr>
        <p:spPr>
          <a:xfrm>
            <a:off x="2221992" y="1600200"/>
            <a:ext cx="1508760" cy="475488"/>
          </a:xfrm>
          <a:prstGeom prst="rect">
            <a:avLst/>
          </a:prstGeom>
          <a:solidFill>
            <a:srgbClr val="0B1F33"/>
          </a:solidFill>
          <a:ln w="12700">
            <a:solidFill>
              <a:srgbClr val="0B1F33"/>
            </a:solidFill>
            <a:prstDash val="solid"/>
          </a:ln>
        </p:spPr>
      </p:sp>
      <p:sp>
        <p:nvSpPr>
          <p:cNvPr id="10" name="Text 8"/>
          <p:cNvSpPr txBox="1"/>
          <p:nvPr/>
        </p:nvSpPr>
        <p:spPr>
          <a:xfrm>
            <a:off x="2295144" y="1709928"/>
            <a:ext cx="1362456" cy="22860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MEAN LT DEMAND</a:t>
            </a:r>
            <a:endParaRPr lang="en-US" sz="900" dirty="0"/>
          </a:p>
        </p:txBody>
      </p:sp>
      <p:sp>
        <p:nvSpPr>
          <p:cNvPr id="11" name="Shape 9"/>
          <p:cNvSpPr/>
          <p:nvPr/>
        </p:nvSpPr>
        <p:spPr>
          <a:xfrm>
            <a:off x="3730752" y="1600200"/>
            <a:ext cx="822960" cy="475488"/>
          </a:xfrm>
          <a:prstGeom prst="rect">
            <a:avLst/>
          </a:prstGeom>
          <a:solidFill>
            <a:srgbClr val="0B1F33"/>
          </a:solidFill>
          <a:ln w="12700">
            <a:solidFill>
              <a:srgbClr val="0B1F33"/>
            </a:solidFill>
            <a:prstDash val="solid"/>
          </a:ln>
        </p:spPr>
      </p:sp>
      <p:sp>
        <p:nvSpPr>
          <p:cNvPr id="12" name="Text 10"/>
          <p:cNvSpPr txBox="1"/>
          <p:nvPr/>
        </p:nvSpPr>
        <p:spPr>
          <a:xfrm>
            <a:off x="3803904" y="1709928"/>
            <a:ext cx="676656" cy="22860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SS</a:t>
            </a:r>
            <a:endParaRPr lang="en-US" sz="900" dirty="0"/>
          </a:p>
        </p:txBody>
      </p:sp>
      <p:sp>
        <p:nvSpPr>
          <p:cNvPr id="13" name="Shape 11"/>
          <p:cNvSpPr/>
          <p:nvPr/>
        </p:nvSpPr>
        <p:spPr>
          <a:xfrm>
            <a:off x="4553712" y="1600200"/>
            <a:ext cx="960120" cy="475488"/>
          </a:xfrm>
          <a:prstGeom prst="rect">
            <a:avLst/>
          </a:prstGeom>
          <a:solidFill>
            <a:srgbClr val="0B1F33"/>
          </a:solidFill>
          <a:ln w="12700">
            <a:solidFill>
              <a:srgbClr val="0B1F33"/>
            </a:solidFill>
            <a:prstDash val="solid"/>
          </a:ln>
        </p:spPr>
      </p:sp>
      <p:sp>
        <p:nvSpPr>
          <p:cNvPr id="14" name="Text 12"/>
          <p:cNvSpPr txBox="1"/>
          <p:nvPr/>
        </p:nvSpPr>
        <p:spPr>
          <a:xfrm>
            <a:off x="4626864" y="1709928"/>
            <a:ext cx="813816" cy="22860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ROP R</a:t>
            </a:r>
            <a:endParaRPr lang="en-US" sz="900" dirty="0"/>
          </a:p>
        </p:txBody>
      </p:sp>
      <p:sp>
        <p:nvSpPr>
          <p:cNvPr id="15" name="Shape 13"/>
          <p:cNvSpPr/>
          <p:nvPr/>
        </p:nvSpPr>
        <p:spPr>
          <a:xfrm>
            <a:off x="5513832" y="1600200"/>
            <a:ext cx="5486400" cy="475488"/>
          </a:xfrm>
          <a:prstGeom prst="rect">
            <a:avLst/>
          </a:prstGeom>
          <a:solidFill>
            <a:srgbClr val="0B1F33"/>
          </a:solidFill>
          <a:ln w="12700">
            <a:solidFill>
              <a:srgbClr val="0B1F33"/>
            </a:solidFill>
            <a:prstDash val="solid"/>
          </a:ln>
        </p:spPr>
      </p:sp>
      <p:sp>
        <p:nvSpPr>
          <p:cNvPr id="16" name="Text 14"/>
          <p:cNvSpPr txBox="1"/>
          <p:nvPr/>
        </p:nvSpPr>
        <p:spPr>
          <a:xfrm>
            <a:off x="5586984" y="1709928"/>
            <a:ext cx="5340096" cy="228600"/>
          </a:xfrm>
          <a:prstGeom prst="rect">
            <a:avLst/>
          </a:prstGeom>
          <a:noFill/>
          <a:ln/>
        </p:spPr>
        <p:txBody>
          <a:bodyPr wrap="square" lIns="0" tIns="0" rIns="0" bIns="0" rtlCol="0" anchor="ctr">
            <a:normAutofit/>
          </a:bodyPr>
          <a:lstStyle/>
          <a:p>
            <a:pPr algn="l" indent="0" marL="0">
              <a:buNone/>
            </a:pPr>
            <a:r>
              <a:rPr lang="en-US" sz="900" b="1" dirty="0">
                <a:solidFill>
                  <a:srgbClr val="FFFFFF"/>
                </a:solidFill>
                <a:latin typeface="Aptos" pitchFamily="34" charset="0"/>
                <a:ea typeface="Aptos" pitchFamily="34" charset="-122"/>
                <a:cs typeface="Aptos" pitchFamily="34" charset="-120"/>
              </a:rPr>
              <a:t>POLICY / MODEL-FIT REASONING</a:t>
            </a:r>
            <a:endParaRPr lang="en-US" sz="900" dirty="0"/>
          </a:p>
        </p:txBody>
      </p:sp>
      <p:sp>
        <p:nvSpPr>
          <p:cNvPr id="17" name="Shape 15"/>
          <p:cNvSpPr/>
          <p:nvPr/>
        </p:nvSpPr>
        <p:spPr>
          <a:xfrm>
            <a:off x="576072" y="2075688"/>
            <a:ext cx="594360" cy="822960"/>
          </a:xfrm>
          <a:prstGeom prst="rect">
            <a:avLst/>
          </a:prstGeom>
          <a:solidFill>
            <a:srgbClr val="FFFFFF"/>
          </a:solidFill>
          <a:ln w="12700">
            <a:solidFill>
              <a:srgbClr val="E8EDF2"/>
            </a:solidFill>
            <a:prstDash val="solid"/>
          </a:ln>
        </p:spPr>
      </p:sp>
      <p:sp>
        <p:nvSpPr>
          <p:cNvPr id="18" name="Text 16"/>
          <p:cNvSpPr txBox="1"/>
          <p:nvPr/>
        </p:nvSpPr>
        <p:spPr>
          <a:xfrm>
            <a:off x="649224" y="2176272"/>
            <a:ext cx="448056" cy="621792"/>
          </a:xfrm>
          <a:prstGeom prst="rect">
            <a:avLst/>
          </a:prstGeom>
          <a:noFill/>
          <a:ln/>
        </p:spPr>
        <p:txBody>
          <a:bodyPr wrap="square" lIns="0" tIns="0" rIns="0" bIns="0" rtlCol="0" anchor="t">
            <a:normAutofit/>
          </a:bodyPr>
          <a:lstStyle/>
          <a:p>
            <a:pPr algn="l" indent="0" marL="0">
              <a:buNone/>
            </a:pPr>
            <a:r>
              <a:rPr lang="en-US" sz="1300" b="1" dirty="0">
                <a:solidFill>
                  <a:srgbClr val="1D6FA5"/>
                </a:solidFill>
                <a:latin typeface="Aptos" pitchFamily="34" charset="0"/>
                <a:ea typeface="Aptos" pitchFamily="34" charset="-122"/>
                <a:cs typeface="Aptos" pitchFamily="34" charset="-120"/>
              </a:rPr>
              <a:t>A</a:t>
            </a:r>
            <a:endParaRPr lang="en-US" sz="1300" dirty="0"/>
          </a:p>
        </p:txBody>
      </p:sp>
      <p:sp>
        <p:nvSpPr>
          <p:cNvPr id="19" name="Shape 17"/>
          <p:cNvSpPr/>
          <p:nvPr/>
        </p:nvSpPr>
        <p:spPr>
          <a:xfrm>
            <a:off x="1170432" y="2075688"/>
            <a:ext cx="1051560" cy="822960"/>
          </a:xfrm>
          <a:prstGeom prst="rect">
            <a:avLst/>
          </a:prstGeom>
          <a:solidFill>
            <a:srgbClr val="FFFFFF"/>
          </a:solidFill>
          <a:ln w="12700">
            <a:solidFill>
              <a:srgbClr val="E8EDF2"/>
            </a:solidFill>
            <a:prstDash val="solid"/>
          </a:ln>
        </p:spPr>
      </p:sp>
      <p:sp>
        <p:nvSpPr>
          <p:cNvPr id="20" name="Text 18"/>
          <p:cNvSpPr txBox="1"/>
          <p:nvPr/>
        </p:nvSpPr>
        <p:spPr>
          <a:xfrm>
            <a:off x="1243584" y="2176272"/>
            <a:ext cx="905256" cy="621792"/>
          </a:xfrm>
          <a:prstGeom prst="rect">
            <a:avLst/>
          </a:prstGeom>
          <a:noFill/>
          <a:ln/>
        </p:spPr>
        <p:txBody>
          <a:bodyPr wrap="square" lIns="0" tIns="0" rIns="0" bIns="0" rtlCol="0" anchor="t">
            <a:normAutofit/>
          </a:bodyPr>
          <a:lstStyle/>
          <a:p>
            <a:pPr algn="ctr" indent="0" marL="0">
              <a:buNone/>
            </a:pPr>
            <a:r>
              <a:rPr lang="en-US" sz="1300" dirty="0">
                <a:solidFill>
                  <a:srgbClr val="152433"/>
                </a:solidFill>
                <a:latin typeface="Aptos" pitchFamily="34" charset="0"/>
                <a:ea typeface="Aptos" pitchFamily="34" charset="-122"/>
                <a:cs typeface="Aptos" pitchFamily="34" charset="-120"/>
              </a:rPr>
              <a:t>600</a:t>
            </a:r>
            <a:endParaRPr lang="en-US" sz="1300" dirty="0"/>
          </a:p>
        </p:txBody>
      </p:sp>
      <p:sp>
        <p:nvSpPr>
          <p:cNvPr id="21" name="Shape 19"/>
          <p:cNvSpPr/>
          <p:nvPr/>
        </p:nvSpPr>
        <p:spPr>
          <a:xfrm>
            <a:off x="2221992" y="2075688"/>
            <a:ext cx="1508760" cy="822960"/>
          </a:xfrm>
          <a:prstGeom prst="rect">
            <a:avLst/>
          </a:prstGeom>
          <a:solidFill>
            <a:srgbClr val="FFFFFF"/>
          </a:solidFill>
          <a:ln w="12700">
            <a:solidFill>
              <a:srgbClr val="E8EDF2"/>
            </a:solidFill>
            <a:prstDash val="solid"/>
          </a:ln>
        </p:spPr>
      </p:sp>
      <p:sp>
        <p:nvSpPr>
          <p:cNvPr id="22" name="Text 20"/>
          <p:cNvSpPr txBox="1"/>
          <p:nvPr/>
        </p:nvSpPr>
        <p:spPr>
          <a:xfrm>
            <a:off x="2295144" y="2176272"/>
            <a:ext cx="1362456" cy="621792"/>
          </a:xfrm>
          <a:prstGeom prst="rect">
            <a:avLst/>
          </a:prstGeom>
          <a:noFill/>
          <a:ln/>
        </p:spPr>
        <p:txBody>
          <a:bodyPr wrap="square" lIns="0" tIns="0" rIns="0" bIns="0" rtlCol="0" anchor="t">
            <a:normAutofit/>
          </a:bodyPr>
          <a:lstStyle/>
          <a:p>
            <a:pPr algn="ctr" indent="0" marL="0">
              <a:buNone/>
            </a:pPr>
            <a:r>
              <a:rPr lang="en-US" sz="1300" dirty="0">
                <a:solidFill>
                  <a:srgbClr val="152433"/>
                </a:solidFill>
                <a:latin typeface="Aptos" pitchFamily="34" charset="0"/>
                <a:ea typeface="Aptos" pitchFamily="34" charset="-122"/>
                <a:cs typeface="Aptos" pitchFamily="34" charset="-120"/>
              </a:rPr>
              <a:t>400</a:t>
            </a:r>
            <a:endParaRPr lang="en-US" sz="1300" dirty="0"/>
          </a:p>
        </p:txBody>
      </p:sp>
      <p:sp>
        <p:nvSpPr>
          <p:cNvPr id="23" name="Shape 21"/>
          <p:cNvSpPr/>
          <p:nvPr/>
        </p:nvSpPr>
        <p:spPr>
          <a:xfrm>
            <a:off x="3730752" y="2075688"/>
            <a:ext cx="822960" cy="822960"/>
          </a:xfrm>
          <a:prstGeom prst="rect">
            <a:avLst/>
          </a:prstGeom>
          <a:solidFill>
            <a:srgbClr val="FFFFFF"/>
          </a:solidFill>
          <a:ln w="12700">
            <a:solidFill>
              <a:srgbClr val="E8EDF2"/>
            </a:solidFill>
            <a:prstDash val="solid"/>
          </a:ln>
        </p:spPr>
      </p:sp>
      <p:sp>
        <p:nvSpPr>
          <p:cNvPr id="24" name="Text 22"/>
          <p:cNvSpPr txBox="1"/>
          <p:nvPr/>
        </p:nvSpPr>
        <p:spPr>
          <a:xfrm>
            <a:off x="3803904" y="2176272"/>
            <a:ext cx="676656" cy="621792"/>
          </a:xfrm>
          <a:prstGeom prst="rect">
            <a:avLst/>
          </a:prstGeom>
          <a:noFill/>
          <a:ln/>
        </p:spPr>
        <p:txBody>
          <a:bodyPr wrap="square" lIns="0" tIns="0" rIns="0" bIns="0" rtlCol="0" anchor="t">
            <a:normAutofit/>
          </a:bodyPr>
          <a:lstStyle/>
          <a:p>
            <a:pPr algn="ctr" indent="0" marL="0">
              <a:buNone/>
            </a:pPr>
            <a:r>
              <a:rPr lang="en-US" sz="1300" dirty="0">
                <a:solidFill>
                  <a:srgbClr val="152433"/>
                </a:solidFill>
                <a:latin typeface="Aptos" pitchFamily="34" charset="0"/>
                <a:ea typeface="Aptos" pitchFamily="34" charset="-122"/>
                <a:cs typeface="Aptos" pitchFamily="34" charset="-120"/>
              </a:rPr>
              <a:t>74</a:t>
            </a:r>
            <a:endParaRPr lang="en-US" sz="1300" dirty="0"/>
          </a:p>
        </p:txBody>
      </p:sp>
      <p:sp>
        <p:nvSpPr>
          <p:cNvPr id="25" name="Shape 23"/>
          <p:cNvSpPr/>
          <p:nvPr/>
        </p:nvSpPr>
        <p:spPr>
          <a:xfrm>
            <a:off x="4553712" y="2075688"/>
            <a:ext cx="960120" cy="822960"/>
          </a:xfrm>
          <a:prstGeom prst="rect">
            <a:avLst/>
          </a:prstGeom>
          <a:solidFill>
            <a:srgbClr val="FFFFFF"/>
          </a:solidFill>
          <a:ln w="12700">
            <a:solidFill>
              <a:srgbClr val="E8EDF2"/>
            </a:solidFill>
            <a:prstDash val="solid"/>
          </a:ln>
        </p:spPr>
      </p:sp>
      <p:sp>
        <p:nvSpPr>
          <p:cNvPr id="26" name="Text 24"/>
          <p:cNvSpPr txBox="1"/>
          <p:nvPr/>
        </p:nvSpPr>
        <p:spPr>
          <a:xfrm>
            <a:off x="4626864" y="2176272"/>
            <a:ext cx="813816" cy="621792"/>
          </a:xfrm>
          <a:prstGeom prst="rect">
            <a:avLst/>
          </a:prstGeom>
          <a:noFill/>
          <a:ln/>
        </p:spPr>
        <p:txBody>
          <a:bodyPr wrap="square" lIns="0" tIns="0" rIns="0" bIns="0" rtlCol="0" anchor="t">
            <a:normAutofit/>
          </a:bodyPr>
          <a:lstStyle/>
          <a:p>
            <a:pPr algn="ctr" indent="0" marL="0">
              <a:buNone/>
            </a:pPr>
            <a:r>
              <a:rPr lang="en-US" sz="1300" b="1" dirty="0">
                <a:solidFill>
                  <a:srgbClr val="152433"/>
                </a:solidFill>
                <a:latin typeface="Aptos" pitchFamily="34" charset="0"/>
                <a:ea typeface="Aptos" pitchFamily="34" charset="-122"/>
                <a:cs typeface="Aptos" pitchFamily="34" charset="-120"/>
              </a:rPr>
              <a:t>474</a:t>
            </a:r>
            <a:endParaRPr lang="en-US" sz="1300" dirty="0"/>
          </a:p>
        </p:txBody>
      </p:sp>
      <p:sp>
        <p:nvSpPr>
          <p:cNvPr id="27" name="Shape 25"/>
          <p:cNvSpPr/>
          <p:nvPr/>
        </p:nvSpPr>
        <p:spPr>
          <a:xfrm>
            <a:off x="5513832" y="2075688"/>
            <a:ext cx="5486400" cy="822960"/>
          </a:xfrm>
          <a:prstGeom prst="rect">
            <a:avLst/>
          </a:prstGeom>
          <a:solidFill>
            <a:srgbClr val="FFFFFF"/>
          </a:solidFill>
          <a:ln w="12700">
            <a:solidFill>
              <a:srgbClr val="E8EDF2"/>
            </a:solidFill>
            <a:prstDash val="solid"/>
          </a:ln>
        </p:spPr>
      </p:sp>
      <p:sp>
        <p:nvSpPr>
          <p:cNvPr id="28" name="Text 26"/>
          <p:cNvSpPr txBox="1"/>
          <p:nvPr/>
        </p:nvSpPr>
        <p:spPr>
          <a:xfrm>
            <a:off x="5586984" y="2176272"/>
            <a:ext cx="5340096" cy="62179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Automate continuous review; reduce ordering friction. High-volume A / fast item.</a:t>
            </a:r>
            <a:endParaRPr lang="en-US" sz="1150" dirty="0"/>
          </a:p>
        </p:txBody>
      </p:sp>
      <p:sp>
        <p:nvSpPr>
          <p:cNvPr id="29" name="Shape 27"/>
          <p:cNvSpPr/>
          <p:nvPr/>
        </p:nvSpPr>
        <p:spPr>
          <a:xfrm>
            <a:off x="576072" y="2898648"/>
            <a:ext cx="594360" cy="822960"/>
          </a:xfrm>
          <a:prstGeom prst="rect">
            <a:avLst/>
          </a:prstGeom>
          <a:solidFill>
            <a:srgbClr val="F7F8FA"/>
          </a:solidFill>
          <a:ln w="12700">
            <a:solidFill>
              <a:srgbClr val="E8EDF2"/>
            </a:solidFill>
            <a:prstDash val="solid"/>
          </a:ln>
        </p:spPr>
      </p:sp>
      <p:sp>
        <p:nvSpPr>
          <p:cNvPr id="30" name="Text 28"/>
          <p:cNvSpPr txBox="1"/>
          <p:nvPr/>
        </p:nvSpPr>
        <p:spPr>
          <a:xfrm>
            <a:off x="649224" y="2999232"/>
            <a:ext cx="448056" cy="621792"/>
          </a:xfrm>
          <a:prstGeom prst="rect">
            <a:avLst/>
          </a:prstGeom>
          <a:noFill/>
          <a:ln/>
        </p:spPr>
        <p:txBody>
          <a:bodyPr wrap="square" lIns="0" tIns="0" rIns="0" bIns="0" rtlCol="0" anchor="t">
            <a:normAutofit/>
          </a:bodyPr>
          <a:lstStyle/>
          <a:p>
            <a:pPr algn="l" indent="0" marL="0">
              <a:buNone/>
            </a:pPr>
            <a:r>
              <a:rPr lang="en-US" sz="1300" b="1" dirty="0">
                <a:solidFill>
                  <a:srgbClr val="4BB3C3"/>
                </a:solidFill>
                <a:latin typeface="Aptos" pitchFamily="34" charset="0"/>
                <a:ea typeface="Aptos" pitchFamily="34" charset="-122"/>
                <a:cs typeface="Aptos" pitchFamily="34" charset="-120"/>
              </a:rPr>
              <a:t>B</a:t>
            </a:r>
            <a:endParaRPr lang="en-US" sz="1300" dirty="0"/>
          </a:p>
        </p:txBody>
      </p:sp>
      <p:sp>
        <p:nvSpPr>
          <p:cNvPr id="31" name="Shape 29"/>
          <p:cNvSpPr/>
          <p:nvPr/>
        </p:nvSpPr>
        <p:spPr>
          <a:xfrm>
            <a:off x="1170432" y="2898648"/>
            <a:ext cx="1051560" cy="822960"/>
          </a:xfrm>
          <a:prstGeom prst="rect">
            <a:avLst/>
          </a:prstGeom>
          <a:solidFill>
            <a:srgbClr val="F7F8FA"/>
          </a:solidFill>
          <a:ln w="12700">
            <a:solidFill>
              <a:srgbClr val="E8EDF2"/>
            </a:solidFill>
            <a:prstDash val="solid"/>
          </a:ln>
        </p:spPr>
      </p:sp>
      <p:sp>
        <p:nvSpPr>
          <p:cNvPr id="32" name="Text 30"/>
          <p:cNvSpPr txBox="1"/>
          <p:nvPr/>
        </p:nvSpPr>
        <p:spPr>
          <a:xfrm>
            <a:off x="1243584" y="2999232"/>
            <a:ext cx="905256" cy="621792"/>
          </a:xfrm>
          <a:prstGeom prst="rect">
            <a:avLst/>
          </a:prstGeom>
          <a:noFill/>
          <a:ln/>
        </p:spPr>
        <p:txBody>
          <a:bodyPr wrap="square" lIns="0" tIns="0" rIns="0" bIns="0" rtlCol="0" anchor="t">
            <a:normAutofit/>
          </a:bodyPr>
          <a:lstStyle/>
          <a:p>
            <a:pPr algn="ctr" indent="0" marL="0">
              <a:buNone/>
            </a:pPr>
            <a:r>
              <a:rPr lang="en-US" sz="1300" dirty="0">
                <a:solidFill>
                  <a:srgbClr val="152433"/>
                </a:solidFill>
                <a:latin typeface="Aptos" pitchFamily="34" charset="0"/>
                <a:ea typeface="Aptos" pitchFamily="34" charset="-122"/>
                <a:cs typeface="Aptos" pitchFamily="34" charset="-120"/>
              </a:rPr>
              <a:t>310</a:t>
            </a:r>
            <a:endParaRPr lang="en-US" sz="1300" dirty="0"/>
          </a:p>
        </p:txBody>
      </p:sp>
      <p:sp>
        <p:nvSpPr>
          <p:cNvPr id="33" name="Shape 31"/>
          <p:cNvSpPr/>
          <p:nvPr/>
        </p:nvSpPr>
        <p:spPr>
          <a:xfrm>
            <a:off x="2221992" y="2898648"/>
            <a:ext cx="1508760" cy="822960"/>
          </a:xfrm>
          <a:prstGeom prst="rect">
            <a:avLst/>
          </a:prstGeom>
          <a:solidFill>
            <a:srgbClr val="F7F8FA"/>
          </a:solidFill>
          <a:ln w="12700">
            <a:solidFill>
              <a:srgbClr val="E8EDF2"/>
            </a:solidFill>
            <a:prstDash val="solid"/>
          </a:ln>
        </p:spPr>
      </p:sp>
      <p:sp>
        <p:nvSpPr>
          <p:cNvPr id="34" name="Text 32"/>
          <p:cNvSpPr txBox="1"/>
          <p:nvPr/>
        </p:nvSpPr>
        <p:spPr>
          <a:xfrm>
            <a:off x="2295144" y="2999232"/>
            <a:ext cx="1362456" cy="621792"/>
          </a:xfrm>
          <a:prstGeom prst="rect">
            <a:avLst/>
          </a:prstGeom>
          <a:noFill/>
          <a:ln/>
        </p:spPr>
        <p:txBody>
          <a:bodyPr wrap="square" lIns="0" tIns="0" rIns="0" bIns="0" rtlCol="0" anchor="t">
            <a:normAutofit/>
          </a:bodyPr>
          <a:lstStyle/>
          <a:p>
            <a:pPr algn="ctr" indent="0" marL="0">
              <a:buNone/>
            </a:pPr>
            <a:r>
              <a:rPr lang="en-US" sz="1300" dirty="0">
                <a:solidFill>
                  <a:srgbClr val="152433"/>
                </a:solidFill>
                <a:latin typeface="Aptos" pitchFamily="34" charset="0"/>
                <a:ea typeface="Aptos" pitchFamily="34" charset="-122"/>
                <a:cs typeface="Aptos" pitchFamily="34" charset="-120"/>
              </a:rPr>
              <a:t>200</a:t>
            </a:r>
            <a:endParaRPr lang="en-US" sz="1300" dirty="0"/>
          </a:p>
        </p:txBody>
      </p:sp>
      <p:sp>
        <p:nvSpPr>
          <p:cNvPr id="35" name="Shape 33"/>
          <p:cNvSpPr/>
          <p:nvPr/>
        </p:nvSpPr>
        <p:spPr>
          <a:xfrm>
            <a:off x="3730752" y="2898648"/>
            <a:ext cx="822960" cy="822960"/>
          </a:xfrm>
          <a:prstGeom prst="rect">
            <a:avLst/>
          </a:prstGeom>
          <a:solidFill>
            <a:srgbClr val="F7F8FA"/>
          </a:solidFill>
          <a:ln w="12700">
            <a:solidFill>
              <a:srgbClr val="E8EDF2"/>
            </a:solidFill>
            <a:prstDash val="solid"/>
          </a:ln>
        </p:spPr>
      </p:sp>
      <p:sp>
        <p:nvSpPr>
          <p:cNvPr id="36" name="Text 34"/>
          <p:cNvSpPr txBox="1"/>
          <p:nvPr/>
        </p:nvSpPr>
        <p:spPr>
          <a:xfrm>
            <a:off x="3803904" y="2999232"/>
            <a:ext cx="676656" cy="621792"/>
          </a:xfrm>
          <a:prstGeom prst="rect">
            <a:avLst/>
          </a:prstGeom>
          <a:noFill/>
          <a:ln/>
        </p:spPr>
        <p:txBody>
          <a:bodyPr wrap="square" lIns="0" tIns="0" rIns="0" bIns="0" rtlCol="0" anchor="t">
            <a:normAutofit/>
          </a:bodyPr>
          <a:lstStyle/>
          <a:p>
            <a:pPr algn="ctr" indent="0" marL="0">
              <a:buNone/>
            </a:pPr>
            <a:r>
              <a:rPr lang="en-US" sz="1300" dirty="0">
                <a:solidFill>
                  <a:srgbClr val="152433"/>
                </a:solidFill>
                <a:latin typeface="Aptos" pitchFamily="34" charset="0"/>
                <a:ea typeface="Aptos" pitchFamily="34" charset="-122"/>
                <a:cs typeface="Aptos" pitchFamily="34" charset="-120"/>
              </a:rPr>
              <a:t>33</a:t>
            </a:r>
            <a:endParaRPr lang="en-US" sz="1300" dirty="0"/>
          </a:p>
        </p:txBody>
      </p:sp>
      <p:sp>
        <p:nvSpPr>
          <p:cNvPr id="37" name="Shape 35"/>
          <p:cNvSpPr/>
          <p:nvPr/>
        </p:nvSpPr>
        <p:spPr>
          <a:xfrm>
            <a:off x="4553712" y="2898648"/>
            <a:ext cx="960120" cy="822960"/>
          </a:xfrm>
          <a:prstGeom prst="rect">
            <a:avLst/>
          </a:prstGeom>
          <a:solidFill>
            <a:srgbClr val="F7F8FA"/>
          </a:solidFill>
          <a:ln w="12700">
            <a:solidFill>
              <a:srgbClr val="E8EDF2"/>
            </a:solidFill>
            <a:prstDash val="solid"/>
          </a:ln>
        </p:spPr>
      </p:sp>
      <p:sp>
        <p:nvSpPr>
          <p:cNvPr id="38" name="Text 36"/>
          <p:cNvSpPr txBox="1"/>
          <p:nvPr/>
        </p:nvSpPr>
        <p:spPr>
          <a:xfrm>
            <a:off x="4626864" y="2999232"/>
            <a:ext cx="813816" cy="621792"/>
          </a:xfrm>
          <a:prstGeom prst="rect">
            <a:avLst/>
          </a:prstGeom>
          <a:noFill/>
          <a:ln/>
        </p:spPr>
        <p:txBody>
          <a:bodyPr wrap="square" lIns="0" tIns="0" rIns="0" bIns="0" rtlCol="0" anchor="t">
            <a:normAutofit/>
          </a:bodyPr>
          <a:lstStyle/>
          <a:p>
            <a:pPr algn="ctr" indent="0" marL="0">
              <a:buNone/>
            </a:pPr>
            <a:r>
              <a:rPr lang="en-US" sz="1300" b="1" dirty="0">
                <a:solidFill>
                  <a:srgbClr val="152433"/>
                </a:solidFill>
                <a:latin typeface="Aptos" pitchFamily="34" charset="0"/>
                <a:ea typeface="Aptos" pitchFamily="34" charset="-122"/>
                <a:cs typeface="Aptos" pitchFamily="34" charset="-120"/>
              </a:rPr>
              <a:t>233</a:t>
            </a:r>
            <a:endParaRPr lang="en-US" sz="1300" dirty="0"/>
          </a:p>
        </p:txBody>
      </p:sp>
      <p:sp>
        <p:nvSpPr>
          <p:cNvPr id="39" name="Shape 37"/>
          <p:cNvSpPr/>
          <p:nvPr/>
        </p:nvSpPr>
        <p:spPr>
          <a:xfrm>
            <a:off x="5513832" y="2898648"/>
            <a:ext cx="5486400" cy="822960"/>
          </a:xfrm>
          <a:prstGeom prst="rect">
            <a:avLst/>
          </a:prstGeom>
          <a:solidFill>
            <a:srgbClr val="F7F8FA"/>
          </a:solidFill>
          <a:ln w="12700">
            <a:solidFill>
              <a:srgbClr val="E8EDF2"/>
            </a:solidFill>
            <a:prstDash val="solid"/>
          </a:ln>
        </p:spPr>
      </p:sp>
      <p:sp>
        <p:nvSpPr>
          <p:cNvPr id="40" name="Text 38"/>
          <p:cNvSpPr txBox="1"/>
          <p:nvPr/>
        </p:nvSpPr>
        <p:spPr>
          <a:xfrm>
            <a:off x="5586984" y="2999232"/>
            <a:ext cx="5340096" cy="62179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Plausible (Q,R); test whether 90% CSL matches customer economics.</a:t>
            </a:r>
            <a:endParaRPr lang="en-US" sz="1150" dirty="0"/>
          </a:p>
        </p:txBody>
      </p:sp>
      <p:sp>
        <p:nvSpPr>
          <p:cNvPr id="41" name="Shape 39"/>
          <p:cNvSpPr/>
          <p:nvPr/>
        </p:nvSpPr>
        <p:spPr>
          <a:xfrm>
            <a:off x="576072" y="3721608"/>
            <a:ext cx="594360" cy="822960"/>
          </a:xfrm>
          <a:prstGeom prst="rect">
            <a:avLst/>
          </a:prstGeom>
          <a:solidFill>
            <a:srgbClr val="FFFFFF"/>
          </a:solidFill>
          <a:ln w="12700">
            <a:solidFill>
              <a:srgbClr val="E8EDF2"/>
            </a:solidFill>
            <a:prstDash val="solid"/>
          </a:ln>
        </p:spPr>
      </p:sp>
      <p:sp>
        <p:nvSpPr>
          <p:cNvPr id="42" name="Text 40"/>
          <p:cNvSpPr txBox="1"/>
          <p:nvPr/>
        </p:nvSpPr>
        <p:spPr>
          <a:xfrm>
            <a:off x="649224" y="3822192"/>
            <a:ext cx="448056" cy="621792"/>
          </a:xfrm>
          <a:prstGeom prst="rect">
            <a:avLst/>
          </a:prstGeom>
          <a:noFill/>
          <a:ln/>
        </p:spPr>
        <p:txBody>
          <a:bodyPr wrap="square" lIns="0" tIns="0" rIns="0" bIns="0" rtlCol="0" anchor="t">
            <a:normAutofit/>
          </a:bodyPr>
          <a:lstStyle/>
          <a:p>
            <a:pPr algn="l" indent="0" marL="0">
              <a:buNone/>
            </a:pPr>
            <a:r>
              <a:rPr lang="en-US" sz="1300" b="1" dirty="0">
                <a:solidFill>
                  <a:srgbClr val="F28E2B"/>
                </a:solidFill>
                <a:latin typeface="Aptos" pitchFamily="34" charset="0"/>
                <a:ea typeface="Aptos" pitchFamily="34" charset="-122"/>
                <a:cs typeface="Aptos" pitchFamily="34" charset="-120"/>
              </a:rPr>
              <a:t>C</a:t>
            </a:r>
            <a:endParaRPr lang="en-US" sz="1300" dirty="0"/>
          </a:p>
        </p:txBody>
      </p:sp>
      <p:sp>
        <p:nvSpPr>
          <p:cNvPr id="43" name="Shape 41"/>
          <p:cNvSpPr/>
          <p:nvPr/>
        </p:nvSpPr>
        <p:spPr>
          <a:xfrm>
            <a:off x="1170432" y="3721608"/>
            <a:ext cx="1051560" cy="822960"/>
          </a:xfrm>
          <a:prstGeom prst="rect">
            <a:avLst/>
          </a:prstGeom>
          <a:solidFill>
            <a:srgbClr val="FFFFFF"/>
          </a:solidFill>
          <a:ln w="12700">
            <a:solidFill>
              <a:srgbClr val="E8EDF2"/>
            </a:solidFill>
            <a:prstDash val="solid"/>
          </a:ln>
        </p:spPr>
      </p:sp>
      <p:sp>
        <p:nvSpPr>
          <p:cNvPr id="44" name="Text 42"/>
          <p:cNvSpPr txBox="1"/>
          <p:nvPr/>
        </p:nvSpPr>
        <p:spPr>
          <a:xfrm>
            <a:off x="1243584" y="3822192"/>
            <a:ext cx="905256" cy="621792"/>
          </a:xfrm>
          <a:prstGeom prst="rect">
            <a:avLst/>
          </a:prstGeom>
          <a:noFill/>
          <a:ln/>
        </p:spPr>
        <p:txBody>
          <a:bodyPr wrap="square" lIns="0" tIns="0" rIns="0" bIns="0" rtlCol="0" anchor="t">
            <a:normAutofit/>
          </a:bodyPr>
          <a:lstStyle/>
          <a:p>
            <a:pPr algn="ctr" indent="0" marL="0">
              <a:buNone/>
            </a:pPr>
            <a:r>
              <a:rPr lang="en-US" sz="1300" dirty="0">
                <a:solidFill>
                  <a:srgbClr val="152433"/>
                </a:solidFill>
                <a:latin typeface="Aptos" pitchFamily="34" charset="0"/>
                <a:ea typeface="Aptos" pitchFamily="34" charset="-122"/>
                <a:cs typeface="Aptos" pitchFamily="34" charset="-120"/>
              </a:rPr>
              <a:t>62</a:t>
            </a:r>
            <a:endParaRPr lang="en-US" sz="1300" dirty="0"/>
          </a:p>
        </p:txBody>
      </p:sp>
      <p:sp>
        <p:nvSpPr>
          <p:cNvPr id="45" name="Shape 43"/>
          <p:cNvSpPr/>
          <p:nvPr/>
        </p:nvSpPr>
        <p:spPr>
          <a:xfrm>
            <a:off x="2221992" y="3721608"/>
            <a:ext cx="1508760" cy="822960"/>
          </a:xfrm>
          <a:prstGeom prst="rect">
            <a:avLst/>
          </a:prstGeom>
          <a:solidFill>
            <a:srgbClr val="FFFFFF"/>
          </a:solidFill>
          <a:ln w="12700">
            <a:solidFill>
              <a:srgbClr val="E8EDF2"/>
            </a:solidFill>
            <a:prstDash val="solid"/>
          </a:ln>
        </p:spPr>
      </p:sp>
      <p:sp>
        <p:nvSpPr>
          <p:cNvPr id="46" name="Text 44"/>
          <p:cNvSpPr txBox="1"/>
          <p:nvPr/>
        </p:nvSpPr>
        <p:spPr>
          <a:xfrm>
            <a:off x="2295144" y="3822192"/>
            <a:ext cx="1362456" cy="621792"/>
          </a:xfrm>
          <a:prstGeom prst="rect">
            <a:avLst/>
          </a:prstGeom>
          <a:noFill/>
          <a:ln/>
        </p:spPr>
        <p:txBody>
          <a:bodyPr wrap="square" lIns="0" tIns="0" rIns="0" bIns="0" rtlCol="0" anchor="t">
            <a:normAutofit/>
          </a:bodyPr>
          <a:lstStyle/>
          <a:p>
            <a:pPr algn="ctr" indent="0" marL="0">
              <a:buNone/>
            </a:pPr>
            <a:r>
              <a:rPr lang="en-US" sz="1300" dirty="0">
                <a:solidFill>
                  <a:srgbClr val="152433"/>
                </a:solidFill>
                <a:latin typeface="Aptos" pitchFamily="34" charset="0"/>
                <a:ea typeface="Aptos" pitchFamily="34" charset="-122"/>
                <a:cs typeface="Aptos" pitchFamily="34" charset="-120"/>
              </a:rPr>
              <a:t>60</a:t>
            </a:r>
            <a:endParaRPr lang="en-US" sz="1300" dirty="0"/>
          </a:p>
        </p:txBody>
      </p:sp>
      <p:sp>
        <p:nvSpPr>
          <p:cNvPr id="47" name="Shape 45"/>
          <p:cNvSpPr/>
          <p:nvPr/>
        </p:nvSpPr>
        <p:spPr>
          <a:xfrm>
            <a:off x="3730752" y="3721608"/>
            <a:ext cx="822960" cy="822960"/>
          </a:xfrm>
          <a:prstGeom prst="rect">
            <a:avLst/>
          </a:prstGeom>
          <a:solidFill>
            <a:srgbClr val="FFFFFF"/>
          </a:solidFill>
          <a:ln w="12700">
            <a:solidFill>
              <a:srgbClr val="E8EDF2"/>
            </a:solidFill>
            <a:prstDash val="solid"/>
          </a:ln>
        </p:spPr>
      </p:sp>
      <p:sp>
        <p:nvSpPr>
          <p:cNvPr id="48" name="Text 46"/>
          <p:cNvSpPr txBox="1"/>
          <p:nvPr/>
        </p:nvSpPr>
        <p:spPr>
          <a:xfrm>
            <a:off x="3803904" y="3822192"/>
            <a:ext cx="676656" cy="621792"/>
          </a:xfrm>
          <a:prstGeom prst="rect">
            <a:avLst/>
          </a:prstGeom>
          <a:noFill/>
          <a:ln/>
        </p:spPr>
        <p:txBody>
          <a:bodyPr wrap="square" lIns="0" tIns="0" rIns="0" bIns="0" rtlCol="0" anchor="t">
            <a:normAutofit/>
          </a:bodyPr>
          <a:lstStyle/>
          <a:p>
            <a:pPr algn="ctr" indent="0" marL="0">
              <a:buNone/>
            </a:pPr>
            <a:r>
              <a:rPr lang="en-US" sz="1300" dirty="0">
                <a:solidFill>
                  <a:srgbClr val="152433"/>
                </a:solidFill>
                <a:latin typeface="Aptos" pitchFamily="34" charset="0"/>
                <a:ea typeface="Aptos" pitchFamily="34" charset="-122"/>
                <a:cs typeface="Aptos" pitchFamily="34" charset="-120"/>
              </a:rPr>
              <a:t>16</a:t>
            </a:r>
            <a:endParaRPr lang="en-US" sz="1300" dirty="0"/>
          </a:p>
        </p:txBody>
      </p:sp>
      <p:sp>
        <p:nvSpPr>
          <p:cNvPr id="49" name="Shape 47"/>
          <p:cNvSpPr/>
          <p:nvPr/>
        </p:nvSpPr>
        <p:spPr>
          <a:xfrm>
            <a:off x="4553712" y="3721608"/>
            <a:ext cx="960120" cy="822960"/>
          </a:xfrm>
          <a:prstGeom prst="rect">
            <a:avLst/>
          </a:prstGeom>
          <a:solidFill>
            <a:srgbClr val="FFFFFF"/>
          </a:solidFill>
          <a:ln w="12700">
            <a:solidFill>
              <a:srgbClr val="E8EDF2"/>
            </a:solidFill>
            <a:prstDash val="solid"/>
          </a:ln>
        </p:spPr>
      </p:sp>
      <p:sp>
        <p:nvSpPr>
          <p:cNvPr id="50" name="Text 48"/>
          <p:cNvSpPr txBox="1"/>
          <p:nvPr/>
        </p:nvSpPr>
        <p:spPr>
          <a:xfrm>
            <a:off x="4626864" y="3822192"/>
            <a:ext cx="813816" cy="621792"/>
          </a:xfrm>
          <a:prstGeom prst="rect">
            <a:avLst/>
          </a:prstGeom>
          <a:noFill/>
          <a:ln/>
        </p:spPr>
        <p:txBody>
          <a:bodyPr wrap="square" lIns="0" tIns="0" rIns="0" bIns="0" rtlCol="0" anchor="t">
            <a:normAutofit/>
          </a:bodyPr>
          <a:lstStyle/>
          <a:p>
            <a:pPr algn="ctr" indent="0" marL="0">
              <a:buNone/>
            </a:pPr>
            <a:r>
              <a:rPr lang="en-US" sz="1300" b="1" dirty="0">
                <a:solidFill>
                  <a:srgbClr val="152433"/>
                </a:solidFill>
                <a:latin typeface="Aptos" pitchFamily="34" charset="0"/>
                <a:ea typeface="Aptos" pitchFamily="34" charset="-122"/>
                <a:cs typeface="Aptos" pitchFamily="34" charset="-120"/>
              </a:rPr>
              <a:t>76</a:t>
            </a:r>
            <a:endParaRPr lang="en-US" sz="1300" dirty="0"/>
          </a:p>
        </p:txBody>
      </p:sp>
      <p:sp>
        <p:nvSpPr>
          <p:cNvPr id="51" name="Shape 49"/>
          <p:cNvSpPr/>
          <p:nvPr/>
        </p:nvSpPr>
        <p:spPr>
          <a:xfrm>
            <a:off x="5513832" y="3721608"/>
            <a:ext cx="5486400" cy="822960"/>
          </a:xfrm>
          <a:prstGeom prst="rect">
            <a:avLst/>
          </a:prstGeom>
          <a:solidFill>
            <a:srgbClr val="FFFFFF"/>
          </a:solidFill>
          <a:ln w="12700">
            <a:solidFill>
              <a:srgbClr val="E8EDF2"/>
            </a:solidFill>
            <a:prstDash val="solid"/>
          </a:ln>
        </p:spPr>
      </p:sp>
      <p:sp>
        <p:nvSpPr>
          <p:cNvPr id="52" name="Text 50"/>
          <p:cNvSpPr txBox="1"/>
          <p:nvPr/>
        </p:nvSpPr>
        <p:spPr>
          <a:xfrm>
            <a:off x="5586984" y="3822192"/>
            <a:ext cx="5340096" cy="621792"/>
          </a:xfrm>
          <a:prstGeom prst="rect">
            <a:avLst/>
          </a:prstGeom>
          <a:noFill/>
          <a:ln/>
        </p:spPr>
        <p:txBody>
          <a:bodyPr wrap="square" lIns="0" tIns="0" rIns="0" bIns="0" rtlCol="0" anchor="t">
            <a:normAutofit/>
          </a:bodyPr>
          <a:lstStyle/>
          <a:p>
            <a:pPr algn="l" indent="0" marL="0">
              <a:buNone/>
            </a:pPr>
            <a:r>
              <a:rPr lang="en-US" sz="1150" dirty="0">
                <a:solidFill>
                  <a:srgbClr val="152433"/>
                </a:solidFill>
                <a:latin typeface="Aptos" pitchFamily="34" charset="0"/>
                <a:ea typeface="Aptos" pitchFamily="34" charset="-122"/>
                <a:cs typeface="Aptos" pitchFamily="34" charset="-120"/>
              </a:rPr>
              <a:t>Vital/slow: protect availability, but compare stock with lead-time reduction.</a:t>
            </a:r>
            <a:endParaRPr lang="en-US" sz="1150" dirty="0"/>
          </a:p>
        </p:txBody>
      </p:sp>
      <p:sp>
        <p:nvSpPr>
          <p:cNvPr id="53" name="Shape 51"/>
          <p:cNvSpPr/>
          <p:nvPr/>
        </p:nvSpPr>
        <p:spPr>
          <a:xfrm>
            <a:off x="576072" y="4544568"/>
            <a:ext cx="594360" cy="822960"/>
          </a:xfrm>
          <a:prstGeom prst="rect">
            <a:avLst/>
          </a:prstGeom>
          <a:solidFill>
            <a:srgbClr val="FBEAEC"/>
          </a:solidFill>
          <a:ln w="12700">
            <a:solidFill>
              <a:srgbClr val="E8EDF2"/>
            </a:solidFill>
            <a:prstDash val="solid"/>
          </a:ln>
        </p:spPr>
      </p:sp>
      <p:sp>
        <p:nvSpPr>
          <p:cNvPr id="54" name="Text 52"/>
          <p:cNvSpPr txBox="1"/>
          <p:nvPr/>
        </p:nvSpPr>
        <p:spPr>
          <a:xfrm>
            <a:off x="649224" y="4645152"/>
            <a:ext cx="448056" cy="621792"/>
          </a:xfrm>
          <a:prstGeom prst="rect">
            <a:avLst/>
          </a:prstGeom>
          <a:noFill/>
          <a:ln/>
        </p:spPr>
        <p:txBody>
          <a:bodyPr wrap="square" lIns="0" tIns="0" rIns="0" bIns="0" rtlCol="0" anchor="t">
            <a:normAutofit/>
          </a:bodyPr>
          <a:lstStyle/>
          <a:p>
            <a:pPr algn="l" indent="0" marL="0">
              <a:buNone/>
            </a:pPr>
            <a:r>
              <a:rPr lang="en-US" sz="1300" b="1" dirty="0">
                <a:solidFill>
                  <a:srgbClr val="D1495B"/>
                </a:solidFill>
                <a:latin typeface="Aptos" pitchFamily="34" charset="0"/>
                <a:ea typeface="Aptos" pitchFamily="34" charset="-122"/>
                <a:cs typeface="Aptos" pitchFamily="34" charset="-120"/>
              </a:rPr>
              <a:t>D</a:t>
            </a:r>
            <a:endParaRPr lang="en-US" sz="1300" dirty="0"/>
          </a:p>
        </p:txBody>
      </p:sp>
      <p:sp>
        <p:nvSpPr>
          <p:cNvPr id="55" name="Shape 53"/>
          <p:cNvSpPr/>
          <p:nvPr/>
        </p:nvSpPr>
        <p:spPr>
          <a:xfrm>
            <a:off x="1170432" y="4544568"/>
            <a:ext cx="1051560" cy="822960"/>
          </a:xfrm>
          <a:prstGeom prst="rect">
            <a:avLst/>
          </a:prstGeom>
          <a:solidFill>
            <a:srgbClr val="FBEAEC"/>
          </a:solidFill>
          <a:ln w="12700">
            <a:solidFill>
              <a:srgbClr val="E8EDF2"/>
            </a:solidFill>
            <a:prstDash val="solid"/>
          </a:ln>
        </p:spPr>
      </p:sp>
      <p:sp>
        <p:nvSpPr>
          <p:cNvPr id="56" name="Text 54"/>
          <p:cNvSpPr txBox="1"/>
          <p:nvPr/>
        </p:nvSpPr>
        <p:spPr>
          <a:xfrm>
            <a:off x="1243584" y="4645152"/>
            <a:ext cx="905256" cy="621792"/>
          </a:xfrm>
          <a:prstGeom prst="rect">
            <a:avLst/>
          </a:prstGeom>
          <a:noFill/>
          <a:ln/>
        </p:spPr>
        <p:txBody>
          <a:bodyPr wrap="square" lIns="0" tIns="0" rIns="0" bIns="0" rtlCol="0" anchor="t">
            <a:normAutofit/>
          </a:bodyPr>
          <a:lstStyle/>
          <a:p>
            <a:pPr algn="ctr" indent="0" marL="0">
              <a:buNone/>
            </a:pPr>
            <a:r>
              <a:rPr lang="en-US" sz="1300" dirty="0">
                <a:solidFill>
                  <a:srgbClr val="152433"/>
                </a:solidFill>
                <a:latin typeface="Aptos" pitchFamily="34" charset="0"/>
                <a:ea typeface="Aptos" pitchFamily="34" charset="-122"/>
                <a:cs typeface="Aptos" pitchFamily="34" charset="-120"/>
              </a:rPr>
              <a:t>17</a:t>
            </a:r>
            <a:endParaRPr lang="en-US" sz="1300" dirty="0"/>
          </a:p>
        </p:txBody>
      </p:sp>
      <p:sp>
        <p:nvSpPr>
          <p:cNvPr id="57" name="Shape 55"/>
          <p:cNvSpPr/>
          <p:nvPr/>
        </p:nvSpPr>
        <p:spPr>
          <a:xfrm>
            <a:off x="2221992" y="4544568"/>
            <a:ext cx="1508760" cy="822960"/>
          </a:xfrm>
          <a:prstGeom prst="rect">
            <a:avLst/>
          </a:prstGeom>
          <a:solidFill>
            <a:srgbClr val="FBEAEC"/>
          </a:solidFill>
          <a:ln w="12700">
            <a:solidFill>
              <a:srgbClr val="E8EDF2"/>
            </a:solidFill>
            <a:prstDash val="solid"/>
          </a:ln>
        </p:spPr>
      </p:sp>
      <p:sp>
        <p:nvSpPr>
          <p:cNvPr id="58" name="Text 56"/>
          <p:cNvSpPr txBox="1"/>
          <p:nvPr/>
        </p:nvSpPr>
        <p:spPr>
          <a:xfrm>
            <a:off x="2295144" y="4645152"/>
            <a:ext cx="1362456" cy="621792"/>
          </a:xfrm>
          <a:prstGeom prst="rect">
            <a:avLst/>
          </a:prstGeom>
          <a:noFill/>
          <a:ln/>
        </p:spPr>
        <p:txBody>
          <a:bodyPr wrap="square" lIns="0" tIns="0" rIns="0" bIns="0" rtlCol="0" anchor="t">
            <a:normAutofit/>
          </a:bodyPr>
          <a:lstStyle/>
          <a:p>
            <a:pPr algn="ctr" indent="0" marL="0">
              <a:buNone/>
            </a:pPr>
            <a:r>
              <a:rPr lang="en-US" sz="1300" dirty="0">
                <a:solidFill>
                  <a:srgbClr val="152433"/>
                </a:solidFill>
                <a:latin typeface="Aptos" pitchFamily="34" charset="0"/>
                <a:ea typeface="Aptos" pitchFamily="34" charset="-122"/>
                <a:cs typeface="Aptos" pitchFamily="34" charset="-120"/>
              </a:rPr>
              <a:t>20</a:t>
            </a:r>
            <a:endParaRPr lang="en-US" sz="1300" dirty="0"/>
          </a:p>
        </p:txBody>
      </p:sp>
      <p:sp>
        <p:nvSpPr>
          <p:cNvPr id="59" name="Shape 57"/>
          <p:cNvSpPr/>
          <p:nvPr/>
        </p:nvSpPr>
        <p:spPr>
          <a:xfrm>
            <a:off x="3730752" y="4544568"/>
            <a:ext cx="822960" cy="822960"/>
          </a:xfrm>
          <a:prstGeom prst="rect">
            <a:avLst/>
          </a:prstGeom>
          <a:solidFill>
            <a:srgbClr val="FBEAEC"/>
          </a:solidFill>
          <a:ln w="12700">
            <a:solidFill>
              <a:srgbClr val="E8EDF2"/>
            </a:solidFill>
            <a:prstDash val="solid"/>
          </a:ln>
        </p:spPr>
      </p:sp>
      <p:sp>
        <p:nvSpPr>
          <p:cNvPr id="60" name="Text 58"/>
          <p:cNvSpPr txBox="1"/>
          <p:nvPr/>
        </p:nvSpPr>
        <p:spPr>
          <a:xfrm>
            <a:off x="3803904" y="4645152"/>
            <a:ext cx="676656" cy="621792"/>
          </a:xfrm>
          <a:prstGeom prst="rect">
            <a:avLst/>
          </a:prstGeom>
          <a:noFill/>
          <a:ln/>
        </p:spPr>
        <p:txBody>
          <a:bodyPr wrap="square" lIns="0" tIns="0" rIns="0" bIns="0" rtlCol="0" anchor="t">
            <a:normAutofit/>
          </a:bodyPr>
          <a:lstStyle/>
          <a:p>
            <a:pPr algn="ctr" indent="0" marL="0">
              <a:buNone/>
            </a:pPr>
            <a:r>
              <a:rPr lang="en-US" sz="1300" dirty="0">
                <a:solidFill>
                  <a:srgbClr val="152433"/>
                </a:solidFill>
                <a:latin typeface="Aptos" pitchFamily="34" charset="0"/>
                <a:ea typeface="Aptos" pitchFamily="34" charset="-122"/>
                <a:cs typeface="Aptos" pitchFamily="34" charset="-120"/>
              </a:rPr>
              <a:t>8</a:t>
            </a:r>
            <a:endParaRPr lang="en-US" sz="1300" dirty="0"/>
          </a:p>
        </p:txBody>
      </p:sp>
      <p:sp>
        <p:nvSpPr>
          <p:cNvPr id="61" name="Shape 59"/>
          <p:cNvSpPr/>
          <p:nvPr/>
        </p:nvSpPr>
        <p:spPr>
          <a:xfrm>
            <a:off x="4553712" y="4544568"/>
            <a:ext cx="960120" cy="822960"/>
          </a:xfrm>
          <a:prstGeom prst="rect">
            <a:avLst/>
          </a:prstGeom>
          <a:solidFill>
            <a:srgbClr val="FBEAEC"/>
          </a:solidFill>
          <a:ln w="12700">
            <a:solidFill>
              <a:srgbClr val="E8EDF2"/>
            </a:solidFill>
            <a:prstDash val="solid"/>
          </a:ln>
        </p:spPr>
      </p:sp>
      <p:sp>
        <p:nvSpPr>
          <p:cNvPr id="62" name="Text 60"/>
          <p:cNvSpPr txBox="1"/>
          <p:nvPr/>
        </p:nvSpPr>
        <p:spPr>
          <a:xfrm>
            <a:off x="4626864" y="4645152"/>
            <a:ext cx="813816" cy="621792"/>
          </a:xfrm>
          <a:prstGeom prst="rect">
            <a:avLst/>
          </a:prstGeom>
          <a:noFill/>
          <a:ln/>
        </p:spPr>
        <p:txBody>
          <a:bodyPr wrap="square" lIns="0" tIns="0" rIns="0" bIns="0" rtlCol="0" anchor="t">
            <a:normAutofit/>
          </a:bodyPr>
          <a:lstStyle/>
          <a:p>
            <a:pPr algn="ctr" indent="0" marL="0">
              <a:buNone/>
            </a:pPr>
            <a:r>
              <a:rPr lang="en-US" sz="1300" b="1" dirty="0">
                <a:solidFill>
                  <a:srgbClr val="152433"/>
                </a:solidFill>
                <a:latin typeface="Aptos" pitchFamily="34" charset="0"/>
                <a:ea typeface="Aptos" pitchFamily="34" charset="-122"/>
                <a:cs typeface="Aptos" pitchFamily="34" charset="-120"/>
              </a:rPr>
              <a:t>28</a:t>
            </a:r>
            <a:endParaRPr lang="en-US" sz="1300" dirty="0"/>
          </a:p>
        </p:txBody>
      </p:sp>
      <p:sp>
        <p:nvSpPr>
          <p:cNvPr id="63" name="Shape 61"/>
          <p:cNvSpPr/>
          <p:nvPr/>
        </p:nvSpPr>
        <p:spPr>
          <a:xfrm>
            <a:off x="5513832" y="4544568"/>
            <a:ext cx="5486400" cy="822960"/>
          </a:xfrm>
          <a:prstGeom prst="rect">
            <a:avLst/>
          </a:prstGeom>
          <a:solidFill>
            <a:srgbClr val="FBEAEC"/>
          </a:solidFill>
          <a:ln w="12700">
            <a:solidFill>
              <a:srgbClr val="E8EDF2"/>
            </a:solidFill>
            <a:prstDash val="solid"/>
          </a:ln>
        </p:spPr>
      </p:sp>
      <p:sp>
        <p:nvSpPr>
          <p:cNvPr id="64" name="Text 62"/>
          <p:cNvSpPr txBox="1"/>
          <p:nvPr/>
        </p:nvSpPr>
        <p:spPr>
          <a:xfrm>
            <a:off x="5586984" y="4645152"/>
            <a:ext cx="5340096" cy="621792"/>
          </a:xfrm>
          <a:prstGeom prst="rect">
            <a:avLst/>
          </a:prstGeom>
          <a:noFill/>
          <a:ln/>
        </p:spPr>
        <p:txBody>
          <a:bodyPr wrap="square" lIns="0" tIns="0" rIns="0" bIns="0" rtlCol="0" anchor="t">
            <a:normAutofit/>
          </a:bodyPr>
          <a:lstStyle/>
          <a:p>
            <a:pPr algn="l" indent="0" marL="0">
              <a:buNone/>
            </a:pPr>
            <a:r>
              <a:rPr lang="en-US" sz="1150" dirty="0">
                <a:solidFill>
                  <a:srgbClr val="D1495B"/>
                </a:solidFill>
                <a:latin typeface="Aptos" pitchFamily="34" charset="0"/>
                <a:ea typeface="Aptos" pitchFamily="34" charset="-122"/>
                <a:cs typeface="Aptos" pitchFamily="34" charset="-120"/>
              </a:rPr>
              <a:t>Red flag: intermittent demand + obsolescence. Validate empirical lead-time demand; consider periodic review and smaller commitments.</a:t>
            </a:r>
            <a:endParaRPr lang="en-US" sz="1150" dirty="0"/>
          </a:p>
        </p:txBody>
      </p:sp>
      <p:sp>
        <p:nvSpPr>
          <p:cNvPr id="65" name="Shape 63"/>
          <p:cNvSpPr/>
          <p:nvPr/>
        </p:nvSpPr>
        <p:spPr>
          <a:xfrm>
            <a:off x="594360" y="5486400"/>
            <a:ext cx="10561320" cy="347472"/>
          </a:xfrm>
          <a:prstGeom prst="roundRect">
            <a:avLst>
              <a:gd name="adj" fmla="val 21053"/>
            </a:avLst>
          </a:prstGeom>
          <a:solidFill>
            <a:srgbClr val="EAF3F8"/>
          </a:solidFill>
          <a:ln w="12700">
            <a:solidFill>
              <a:srgbClr val="EAF3F8"/>
            </a:solidFill>
            <a:prstDash val="solid"/>
          </a:ln>
        </p:spPr>
      </p:sp>
      <p:sp>
        <p:nvSpPr>
          <p:cNvPr id="66" name="Text 64"/>
          <p:cNvSpPr txBox="1"/>
          <p:nvPr/>
        </p:nvSpPr>
        <p:spPr>
          <a:xfrm>
            <a:off x="777240" y="5559552"/>
            <a:ext cx="10195560" cy="192024"/>
          </a:xfrm>
          <a:prstGeom prst="rect">
            <a:avLst/>
          </a:prstGeom>
          <a:noFill/>
          <a:ln/>
        </p:spPr>
        <p:txBody>
          <a:bodyPr wrap="square" lIns="0" tIns="0" rIns="0" bIns="0" rtlCol="0" anchor="ctr">
            <a:normAutofit/>
          </a:bodyPr>
          <a:lstStyle/>
          <a:p>
            <a:pPr algn="ctr" indent="0" marL="0">
              <a:buNone/>
            </a:pPr>
            <a:r>
              <a:rPr lang="en-US" sz="950" b="1" dirty="0">
                <a:solidFill>
                  <a:srgbClr val="0B1F33"/>
                </a:solidFill>
                <a:latin typeface="Aptos" pitchFamily="34" charset="0"/>
                <a:ea typeface="Aptos" pitchFamily="34" charset="-122"/>
                <a:cs typeface="Aptos" pitchFamily="34" charset="-120"/>
              </a:rPr>
              <a:t>Check: B SS = 1.282×8√10 = 32.43→33  |  C SS = 2.054×2√15 = 15.91→16  |  D mechanical SS = 7.36→8</a:t>
            </a:r>
            <a:endParaRPr lang="en-US" sz="950" dirty="0"/>
          </a:p>
        </p:txBody>
      </p:sp>
      <p:sp>
        <p:nvSpPr>
          <p:cNvPr id="67" name="Shape 65"/>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68" name="Text 66"/>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69" name="Text 67"/>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SKU D is the model-fit warning: Normal-demand safety stock can look precise while being operationally misleading.</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IMPLEMENTATION</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Monitor the policy as a system—not one metric at a time</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A good dashboard links service, cash, uncertainty, and ageing.</a:t>
            </a:r>
            <a:endParaRPr lang="en-US" sz="1350" dirty="0"/>
          </a:p>
        </p:txBody>
      </p:sp>
      <p:sp>
        <p:nvSpPr>
          <p:cNvPr id="5" name="Shape 3"/>
          <p:cNvSpPr/>
          <p:nvPr/>
        </p:nvSpPr>
        <p:spPr>
          <a:xfrm>
            <a:off x="566928" y="1572768"/>
            <a:ext cx="3584448" cy="1719072"/>
          </a:xfrm>
          <a:prstGeom prst="roundRect">
            <a:avLst>
              <a:gd name="adj" fmla="val 5319"/>
            </a:avLst>
          </a:prstGeom>
          <a:solidFill>
            <a:srgbClr val="FFFFFF"/>
          </a:solidFill>
          <a:ln w="12700">
            <a:solidFill>
              <a:srgbClr val="E8EDF2"/>
            </a:solidFill>
            <a:prstDash val="solid"/>
          </a:ln>
        </p:spPr>
      </p:sp>
      <p:sp>
        <p:nvSpPr>
          <p:cNvPr id="6" name="Shape 4"/>
          <p:cNvSpPr/>
          <p:nvPr/>
        </p:nvSpPr>
        <p:spPr>
          <a:xfrm>
            <a:off x="731520" y="1719072"/>
            <a:ext cx="1325880" cy="274320"/>
          </a:xfrm>
          <a:prstGeom prst="roundRect">
            <a:avLst>
              <a:gd name="adj" fmla="val 50000"/>
            </a:avLst>
          </a:prstGeom>
          <a:solidFill>
            <a:srgbClr val="EAF3F8"/>
          </a:solidFill>
          <a:ln w="12700">
            <a:solidFill>
              <a:srgbClr val="EAF3F8"/>
            </a:solidFill>
            <a:prstDash val="solid"/>
          </a:ln>
        </p:spPr>
      </p:sp>
      <p:sp>
        <p:nvSpPr>
          <p:cNvPr id="7" name="Text 5"/>
          <p:cNvSpPr txBox="1"/>
          <p:nvPr/>
        </p:nvSpPr>
        <p:spPr>
          <a:xfrm>
            <a:off x="731520" y="1719072"/>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1D6FA5"/>
                </a:solidFill>
                <a:latin typeface="Aptos" pitchFamily="34" charset="0"/>
                <a:ea typeface="Aptos" pitchFamily="34" charset="-122"/>
                <a:cs typeface="Aptos" pitchFamily="34" charset="-120"/>
              </a:rPr>
              <a:t>INVENTORY TURNS</a:t>
            </a:r>
            <a:endParaRPr lang="en-US" sz="1000" dirty="0"/>
          </a:p>
        </p:txBody>
      </p:sp>
      <p:sp>
        <p:nvSpPr>
          <p:cNvPr id="8" name="Text 6"/>
          <p:cNvSpPr txBox="1"/>
          <p:nvPr/>
        </p:nvSpPr>
        <p:spPr>
          <a:xfrm>
            <a:off x="731520" y="2139696"/>
            <a:ext cx="3182112" cy="329184"/>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COGS ÷ average inventory</a:t>
            </a:r>
            <a:endParaRPr lang="en-US" sz="1250" dirty="0"/>
          </a:p>
        </p:txBody>
      </p:sp>
      <p:sp>
        <p:nvSpPr>
          <p:cNvPr id="9" name="Text 7"/>
          <p:cNvSpPr txBox="1"/>
          <p:nvPr/>
        </p:nvSpPr>
        <p:spPr>
          <a:xfrm>
            <a:off x="731520" y="2532888"/>
            <a:ext cx="1298448" cy="228600"/>
          </a:xfrm>
          <a:prstGeom prst="rect">
            <a:avLst/>
          </a:prstGeom>
          <a:noFill/>
          <a:ln/>
        </p:spPr>
        <p:txBody>
          <a:bodyPr wrap="square" lIns="0" tIns="0" rIns="0" bIns="0" rtlCol="0" anchor="ctr">
            <a:normAutofit/>
          </a:bodyPr>
          <a:lstStyle/>
          <a:p>
            <a:pPr algn="l" indent="0" marL="0">
              <a:buNone/>
            </a:pPr>
            <a:r>
              <a:rPr lang="en-US" sz="1000" b="1" dirty="0">
                <a:solidFill>
                  <a:srgbClr val="1D6FA5"/>
                </a:solidFill>
                <a:latin typeface="Aptos" pitchFamily="34" charset="0"/>
                <a:ea typeface="Aptos" pitchFamily="34" charset="-122"/>
                <a:cs typeface="Aptos" pitchFamily="34" charset="-120"/>
              </a:rPr>
              <a:t>Cash efficiency</a:t>
            </a:r>
            <a:endParaRPr lang="en-US" sz="1000" dirty="0"/>
          </a:p>
        </p:txBody>
      </p:sp>
      <p:sp>
        <p:nvSpPr>
          <p:cNvPr id="10" name="Text 8"/>
          <p:cNvSpPr txBox="1"/>
          <p:nvPr/>
        </p:nvSpPr>
        <p:spPr>
          <a:xfrm>
            <a:off x="2011680" y="2468880"/>
            <a:ext cx="1901952" cy="502920"/>
          </a:xfrm>
          <a:prstGeom prst="rect">
            <a:avLst/>
          </a:prstGeom>
          <a:noFill/>
          <a:ln/>
        </p:spPr>
        <p:txBody>
          <a:bodyPr wrap="square" lIns="0" tIns="0" rIns="0" bIns="0" rtlCol="0" anchor="ctr">
            <a:normAutofit/>
          </a:bodyPr>
          <a:lstStyle/>
          <a:p>
            <a:pPr algn="l" indent="0" marL="0">
              <a:buNone/>
            </a:pPr>
            <a:r>
              <a:rPr lang="en-US" sz="1050" dirty="0">
                <a:solidFill>
                  <a:srgbClr val="6B7785"/>
                </a:solidFill>
                <a:latin typeface="Aptos" pitchFamily="34" charset="0"/>
                <a:ea typeface="Aptos" pitchFamily="34" charset="-122"/>
                <a:cs typeface="Aptos" pitchFamily="34" charset="-120"/>
              </a:rPr>
              <a:t>Can reward understocking</a:t>
            </a:r>
            <a:endParaRPr lang="en-US" sz="1050" dirty="0"/>
          </a:p>
        </p:txBody>
      </p:sp>
      <p:sp>
        <p:nvSpPr>
          <p:cNvPr id="11" name="Shape 9"/>
          <p:cNvSpPr/>
          <p:nvPr/>
        </p:nvSpPr>
        <p:spPr>
          <a:xfrm>
            <a:off x="4389120" y="1572768"/>
            <a:ext cx="3584448" cy="1719072"/>
          </a:xfrm>
          <a:prstGeom prst="roundRect">
            <a:avLst>
              <a:gd name="adj" fmla="val 5319"/>
            </a:avLst>
          </a:prstGeom>
          <a:solidFill>
            <a:srgbClr val="FFFFFF"/>
          </a:solidFill>
          <a:ln w="12700">
            <a:solidFill>
              <a:srgbClr val="E8EDF2"/>
            </a:solidFill>
            <a:prstDash val="solid"/>
          </a:ln>
        </p:spPr>
      </p:sp>
      <p:sp>
        <p:nvSpPr>
          <p:cNvPr id="12" name="Shape 10"/>
          <p:cNvSpPr/>
          <p:nvPr/>
        </p:nvSpPr>
        <p:spPr>
          <a:xfrm>
            <a:off x="4553712" y="1719072"/>
            <a:ext cx="1325880" cy="274320"/>
          </a:xfrm>
          <a:prstGeom prst="roundRect">
            <a:avLst>
              <a:gd name="adj" fmla="val 50000"/>
            </a:avLst>
          </a:prstGeom>
          <a:solidFill>
            <a:srgbClr val="EAF3F8"/>
          </a:solidFill>
          <a:ln w="12700">
            <a:solidFill>
              <a:srgbClr val="EAF3F8"/>
            </a:solidFill>
            <a:prstDash val="solid"/>
          </a:ln>
        </p:spPr>
      </p:sp>
      <p:sp>
        <p:nvSpPr>
          <p:cNvPr id="13" name="Text 11"/>
          <p:cNvSpPr txBox="1"/>
          <p:nvPr/>
        </p:nvSpPr>
        <p:spPr>
          <a:xfrm>
            <a:off x="4553712" y="1719072"/>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4BB3C3"/>
                </a:solidFill>
                <a:latin typeface="Aptos" pitchFamily="34" charset="0"/>
                <a:ea typeface="Aptos" pitchFamily="34" charset="-122"/>
                <a:cs typeface="Aptos" pitchFamily="34" charset="-120"/>
              </a:rPr>
              <a:t>DAYS OF SUPPLY</a:t>
            </a:r>
            <a:endParaRPr lang="en-US" sz="1000" dirty="0"/>
          </a:p>
        </p:txBody>
      </p:sp>
      <p:sp>
        <p:nvSpPr>
          <p:cNvPr id="14" name="Text 12"/>
          <p:cNvSpPr txBox="1"/>
          <p:nvPr/>
        </p:nvSpPr>
        <p:spPr>
          <a:xfrm>
            <a:off x="4553712" y="2139696"/>
            <a:ext cx="3182112" cy="329184"/>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on-hand ÷ daily demand</a:t>
            </a:r>
            <a:endParaRPr lang="en-US" sz="1250" dirty="0"/>
          </a:p>
        </p:txBody>
      </p:sp>
      <p:sp>
        <p:nvSpPr>
          <p:cNvPr id="15" name="Text 13"/>
          <p:cNvSpPr txBox="1"/>
          <p:nvPr/>
        </p:nvSpPr>
        <p:spPr>
          <a:xfrm>
            <a:off x="4553712" y="2532888"/>
            <a:ext cx="1298448" cy="228600"/>
          </a:xfrm>
          <a:prstGeom prst="rect">
            <a:avLst/>
          </a:prstGeom>
          <a:noFill/>
          <a:ln/>
        </p:spPr>
        <p:txBody>
          <a:bodyPr wrap="square" lIns="0" tIns="0" rIns="0" bIns="0" rtlCol="0" anchor="ctr">
            <a:normAutofit/>
          </a:bodyPr>
          <a:lstStyle/>
          <a:p>
            <a:pPr algn="l" indent="0" marL="0">
              <a:buNone/>
            </a:pPr>
            <a:r>
              <a:rPr lang="en-US" sz="1000" b="1" dirty="0">
                <a:solidFill>
                  <a:srgbClr val="4BB3C3"/>
                </a:solidFill>
                <a:latin typeface="Aptos" pitchFamily="34" charset="0"/>
                <a:ea typeface="Aptos" pitchFamily="34" charset="-122"/>
                <a:cs typeface="Aptos" pitchFamily="34" charset="-120"/>
              </a:rPr>
              <a:t>Exposure / runway</a:t>
            </a:r>
            <a:endParaRPr lang="en-US" sz="1000" dirty="0"/>
          </a:p>
        </p:txBody>
      </p:sp>
      <p:sp>
        <p:nvSpPr>
          <p:cNvPr id="16" name="Text 14"/>
          <p:cNvSpPr txBox="1"/>
          <p:nvPr/>
        </p:nvSpPr>
        <p:spPr>
          <a:xfrm>
            <a:off x="5833872" y="2468880"/>
            <a:ext cx="1901952" cy="502920"/>
          </a:xfrm>
          <a:prstGeom prst="rect">
            <a:avLst/>
          </a:prstGeom>
          <a:noFill/>
          <a:ln/>
        </p:spPr>
        <p:txBody>
          <a:bodyPr wrap="square" lIns="0" tIns="0" rIns="0" bIns="0" rtlCol="0" anchor="ctr">
            <a:normAutofit/>
          </a:bodyPr>
          <a:lstStyle/>
          <a:p>
            <a:pPr algn="l" indent="0" marL="0">
              <a:buNone/>
            </a:pPr>
            <a:r>
              <a:rPr lang="en-US" sz="1050" dirty="0">
                <a:solidFill>
                  <a:srgbClr val="6B7785"/>
                </a:solidFill>
                <a:latin typeface="Aptos" pitchFamily="34" charset="0"/>
                <a:ea typeface="Aptos" pitchFamily="34" charset="-122"/>
                <a:cs typeface="Aptos" pitchFamily="34" charset="-120"/>
              </a:rPr>
              <a:t>Unstable with intermittent demand</a:t>
            </a:r>
            <a:endParaRPr lang="en-US" sz="1050" dirty="0"/>
          </a:p>
        </p:txBody>
      </p:sp>
      <p:sp>
        <p:nvSpPr>
          <p:cNvPr id="17" name="Shape 15"/>
          <p:cNvSpPr/>
          <p:nvPr/>
        </p:nvSpPr>
        <p:spPr>
          <a:xfrm>
            <a:off x="8211312" y="1572768"/>
            <a:ext cx="3584448" cy="1719072"/>
          </a:xfrm>
          <a:prstGeom prst="roundRect">
            <a:avLst>
              <a:gd name="adj" fmla="val 5319"/>
            </a:avLst>
          </a:prstGeom>
          <a:solidFill>
            <a:srgbClr val="FFFFFF"/>
          </a:solidFill>
          <a:ln w="12700">
            <a:solidFill>
              <a:srgbClr val="E8EDF2"/>
            </a:solidFill>
            <a:prstDash val="solid"/>
          </a:ln>
        </p:spPr>
      </p:sp>
      <p:sp>
        <p:nvSpPr>
          <p:cNvPr id="18" name="Shape 16"/>
          <p:cNvSpPr/>
          <p:nvPr/>
        </p:nvSpPr>
        <p:spPr>
          <a:xfrm>
            <a:off x="8375904" y="1719072"/>
            <a:ext cx="1325880" cy="274320"/>
          </a:xfrm>
          <a:prstGeom prst="roundRect">
            <a:avLst>
              <a:gd name="adj" fmla="val 50000"/>
            </a:avLst>
          </a:prstGeom>
          <a:solidFill>
            <a:srgbClr val="FFF1E3"/>
          </a:solidFill>
          <a:ln w="12700">
            <a:solidFill>
              <a:srgbClr val="FFF1E3"/>
            </a:solidFill>
            <a:prstDash val="solid"/>
          </a:ln>
        </p:spPr>
      </p:sp>
      <p:sp>
        <p:nvSpPr>
          <p:cNvPr id="19" name="Text 17"/>
          <p:cNvSpPr txBox="1"/>
          <p:nvPr/>
        </p:nvSpPr>
        <p:spPr>
          <a:xfrm>
            <a:off x="8375904" y="1719072"/>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F28E2B"/>
                </a:solidFill>
                <a:latin typeface="Aptos" pitchFamily="34" charset="0"/>
                <a:ea typeface="Aptos" pitchFamily="34" charset="-122"/>
                <a:cs typeface="Aptos" pitchFamily="34" charset="-120"/>
              </a:rPr>
              <a:t>FILL RATE</a:t>
            </a:r>
            <a:endParaRPr lang="en-US" sz="1000" dirty="0"/>
          </a:p>
        </p:txBody>
      </p:sp>
      <p:sp>
        <p:nvSpPr>
          <p:cNvPr id="20" name="Text 18"/>
          <p:cNvSpPr txBox="1"/>
          <p:nvPr/>
        </p:nvSpPr>
        <p:spPr>
          <a:xfrm>
            <a:off x="8375904" y="2139696"/>
            <a:ext cx="3182112" cy="329184"/>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units filled immediately ÷ units demanded</a:t>
            </a:r>
            <a:endParaRPr lang="en-US" sz="1250" dirty="0"/>
          </a:p>
        </p:txBody>
      </p:sp>
      <p:sp>
        <p:nvSpPr>
          <p:cNvPr id="21" name="Text 19"/>
          <p:cNvSpPr txBox="1"/>
          <p:nvPr/>
        </p:nvSpPr>
        <p:spPr>
          <a:xfrm>
            <a:off x="8375904" y="2532888"/>
            <a:ext cx="1298448" cy="228600"/>
          </a:xfrm>
          <a:prstGeom prst="rect">
            <a:avLst/>
          </a:prstGeom>
          <a:noFill/>
          <a:ln/>
        </p:spPr>
        <p:txBody>
          <a:bodyPr wrap="square" lIns="0" tIns="0" rIns="0" bIns="0" rtlCol="0" anchor="ctr">
            <a:normAutofit/>
          </a:bodyPr>
          <a:lstStyle/>
          <a:p>
            <a:pPr algn="l" indent="0" marL="0">
              <a:buNone/>
            </a:pPr>
            <a:r>
              <a:rPr lang="en-US" sz="1000" b="1" dirty="0">
                <a:solidFill>
                  <a:srgbClr val="F28E2B"/>
                </a:solidFill>
                <a:latin typeface="Aptos" pitchFamily="34" charset="0"/>
                <a:ea typeface="Aptos" pitchFamily="34" charset="-122"/>
                <a:cs typeface="Aptos" pitchFamily="34" charset="-120"/>
              </a:rPr>
              <a:t>Customer availability</a:t>
            </a:r>
            <a:endParaRPr lang="en-US" sz="1000" dirty="0"/>
          </a:p>
        </p:txBody>
      </p:sp>
      <p:sp>
        <p:nvSpPr>
          <p:cNvPr id="22" name="Text 20"/>
          <p:cNvSpPr txBox="1"/>
          <p:nvPr/>
        </p:nvSpPr>
        <p:spPr>
          <a:xfrm>
            <a:off x="9656064" y="2468880"/>
            <a:ext cx="1901952" cy="502920"/>
          </a:xfrm>
          <a:prstGeom prst="rect">
            <a:avLst/>
          </a:prstGeom>
          <a:noFill/>
          <a:ln/>
        </p:spPr>
        <p:txBody>
          <a:bodyPr wrap="square" lIns="0" tIns="0" rIns="0" bIns="0" rtlCol="0" anchor="ctr">
            <a:normAutofit/>
          </a:bodyPr>
          <a:lstStyle/>
          <a:p>
            <a:pPr algn="l" indent="0" marL="0">
              <a:buNone/>
            </a:pPr>
            <a:r>
              <a:rPr lang="en-US" sz="1050" dirty="0">
                <a:solidFill>
                  <a:srgbClr val="6B7785"/>
                </a:solidFill>
                <a:latin typeface="Aptos" pitchFamily="34" charset="0"/>
                <a:ea typeface="Aptos" pitchFamily="34" charset="-122"/>
                <a:cs typeface="Aptos" pitchFamily="34" charset="-120"/>
              </a:rPr>
              <a:t>Can hide repeated cycle failures</a:t>
            </a:r>
            <a:endParaRPr lang="en-US" sz="1050" dirty="0"/>
          </a:p>
        </p:txBody>
      </p:sp>
      <p:sp>
        <p:nvSpPr>
          <p:cNvPr id="23" name="Shape 21"/>
          <p:cNvSpPr/>
          <p:nvPr/>
        </p:nvSpPr>
        <p:spPr>
          <a:xfrm>
            <a:off x="566928" y="3538728"/>
            <a:ext cx="3584448" cy="1719072"/>
          </a:xfrm>
          <a:prstGeom prst="roundRect">
            <a:avLst>
              <a:gd name="adj" fmla="val 5319"/>
            </a:avLst>
          </a:prstGeom>
          <a:solidFill>
            <a:srgbClr val="FFFFFF"/>
          </a:solidFill>
          <a:ln w="12700">
            <a:solidFill>
              <a:srgbClr val="E8EDF2"/>
            </a:solidFill>
            <a:prstDash val="solid"/>
          </a:ln>
        </p:spPr>
      </p:sp>
      <p:sp>
        <p:nvSpPr>
          <p:cNvPr id="24" name="Shape 22"/>
          <p:cNvSpPr/>
          <p:nvPr/>
        </p:nvSpPr>
        <p:spPr>
          <a:xfrm>
            <a:off x="731520" y="3685032"/>
            <a:ext cx="1325880" cy="274320"/>
          </a:xfrm>
          <a:prstGeom prst="roundRect">
            <a:avLst>
              <a:gd name="adj" fmla="val 50000"/>
            </a:avLst>
          </a:prstGeom>
          <a:solidFill>
            <a:srgbClr val="FBEAEC"/>
          </a:solidFill>
          <a:ln w="12700">
            <a:solidFill>
              <a:srgbClr val="FBEAEC"/>
            </a:solidFill>
            <a:prstDash val="solid"/>
          </a:ln>
        </p:spPr>
      </p:sp>
      <p:sp>
        <p:nvSpPr>
          <p:cNvPr id="25" name="Text 23"/>
          <p:cNvSpPr txBox="1"/>
          <p:nvPr/>
        </p:nvSpPr>
        <p:spPr>
          <a:xfrm>
            <a:off x="731520" y="3685032"/>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D1495B"/>
                </a:solidFill>
                <a:latin typeface="Aptos" pitchFamily="34" charset="0"/>
                <a:ea typeface="Aptos" pitchFamily="34" charset="-122"/>
                <a:cs typeface="Aptos" pitchFamily="34" charset="-120"/>
              </a:rPr>
              <a:t>STOCKOUT RATE</a:t>
            </a:r>
            <a:endParaRPr lang="en-US" sz="1000" dirty="0"/>
          </a:p>
        </p:txBody>
      </p:sp>
      <p:sp>
        <p:nvSpPr>
          <p:cNvPr id="26" name="Text 24"/>
          <p:cNvSpPr txBox="1"/>
          <p:nvPr/>
        </p:nvSpPr>
        <p:spPr>
          <a:xfrm>
            <a:off x="731520" y="4105656"/>
            <a:ext cx="3182112" cy="329184"/>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stockout events ÷ opportunities</a:t>
            </a:r>
            <a:endParaRPr lang="en-US" sz="1250" dirty="0"/>
          </a:p>
        </p:txBody>
      </p:sp>
      <p:sp>
        <p:nvSpPr>
          <p:cNvPr id="27" name="Text 25"/>
          <p:cNvSpPr txBox="1"/>
          <p:nvPr/>
        </p:nvSpPr>
        <p:spPr>
          <a:xfrm>
            <a:off x="731520" y="4498848"/>
            <a:ext cx="1298448" cy="228600"/>
          </a:xfrm>
          <a:prstGeom prst="rect">
            <a:avLst/>
          </a:prstGeom>
          <a:noFill/>
          <a:ln/>
        </p:spPr>
        <p:txBody>
          <a:bodyPr wrap="square" lIns="0" tIns="0" rIns="0" bIns="0" rtlCol="0" anchor="ctr">
            <a:normAutofit/>
          </a:bodyPr>
          <a:lstStyle/>
          <a:p>
            <a:pPr algn="l" indent="0" marL="0">
              <a:buNone/>
            </a:pPr>
            <a:r>
              <a:rPr lang="en-US" sz="1000" b="1" dirty="0">
                <a:solidFill>
                  <a:srgbClr val="D1495B"/>
                </a:solidFill>
                <a:latin typeface="Aptos" pitchFamily="34" charset="0"/>
                <a:ea typeface="Aptos" pitchFamily="34" charset="-122"/>
                <a:cs typeface="Aptos" pitchFamily="34" charset="-120"/>
              </a:rPr>
              <a:t>Failure frequency</a:t>
            </a:r>
            <a:endParaRPr lang="en-US" sz="1000" dirty="0"/>
          </a:p>
        </p:txBody>
      </p:sp>
      <p:sp>
        <p:nvSpPr>
          <p:cNvPr id="28" name="Text 26"/>
          <p:cNvSpPr txBox="1"/>
          <p:nvPr/>
        </p:nvSpPr>
        <p:spPr>
          <a:xfrm>
            <a:off x="2011680" y="4434840"/>
            <a:ext cx="1901952" cy="502920"/>
          </a:xfrm>
          <a:prstGeom prst="rect">
            <a:avLst/>
          </a:prstGeom>
          <a:noFill/>
          <a:ln/>
        </p:spPr>
        <p:txBody>
          <a:bodyPr wrap="square" lIns="0" tIns="0" rIns="0" bIns="0" rtlCol="0" anchor="ctr">
            <a:normAutofit/>
          </a:bodyPr>
          <a:lstStyle/>
          <a:p>
            <a:pPr algn="l" indent="0" marL="0">
              <a:buNone/>
            </a:pPr>
            <a:r>
              <a:rPr lang="en-US" sz="1050" dirty="0">
                <a:solidFill>
                  <a:srgbClr val="6B7785"/>
                </a:solidFill>
                <a:latin typeface="Aptos" pitchFamily="34" charset="0"/>
                <a:ea typeface="Aptos" pitchFamily="34" charset="-122"/>
                <a:cs typeface="Aptos" pitchFamily="34" charset="-120"/>
              </a:rPr>
              <a:t>Definition varies by item/order/day</a:t>
            </a:r>
            <a:endParaRPr lang="en-US" sz="1050" dirty="0"/>
          </a:p>
        </p:txBody>
      </p:sp>
      <p:sp>
        <p:nvSpPr>
          <p:cNvPr id="29" name="Shape 27"/>
          <p:cNvSpPr/>
          <p:nvPr/>
        </p:nvSpPr>
        <p:spPr>
          <a:xfrm>
            <a:off x="4389120" y="3538728"/>
            <a:ext cx="3584448" cy="1719072"/>
          </a:xfrm>
          <a:prstGeom prst="roundRect">
            <a:avLst>
              <a:gd name="adj" fmla="val 5319"/>
            </a:avLst>
          </a:prstGeom>
          <a:solidFill>
            <a:srgbClr val="FFFFFF"/>
          </a:solidFill>
          <a:ln w="12700">
            <a:solidFill>
              <a:srgbClr val="E8EDF2"/>
            </a:solidFill>
            <a:prstDash val="solid"/>
          </a:ln>
        </p:spPr>
      </p:sp>
      <p:sp>
        <p:nvSpPr>
          <p:cNvPr id="30" name="Shape 28"/>
          <p:cNvSpPr/>
          <p:nvPr/>
        </p:nvSpPr>
        <p:spPr>
          <a:xfrm>
            <a:off x="4553712" y="3685032"/>
            <a:ext cx="1325880" cy="274320"/>
          </a:xfrm>
          <a:prstGeom prst="roundRect">
            <a:avLst>
              <a:gd name="adj" fmla="val 50000"/>
            </a:avLst>
          </a:prstGeom>
          <a:solidFill>
            <a:srgbClr val="E7F5F2"/>
          </a:solidFill>
          <a:ln w="12700">
            <a:solidFill>
              <a:srgbClr val="E7F5F2"/>
            </a:solidFill>
            <a:prstDash val="solid"/>
          </a:ln>
        </p:spPr>
      </p:sp>
      <p:sp>
        <p:nvSpPr>
          <p:cNvPr id="31" name="Text 29"/>
          <p:cNvSpPr txBox="1"/>
          <p:nvPr/>
        </p:nvSpPr>
        <p:spPr>
          <a:xfrm>
            <a:off x="4553712" y="3685032"/>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2A9D8F"/>
                </a:solidFill>
                <a:latin typeface="Aptos" pitchFamily="34" charset="0"/>
                <a:ea typeface="Aptos" pitchFamily="34" charset="-122"/>
                <a:cs typeface="Aptos" pitchFamily="34" charset="-120"/>
              </a:rPr>
              <a:t>FORECAST ERROR</a:t>
            </a:r>
            <a:endParaRPr lang="en-US" sz="1000" dirty="0"/>
          </a:p>
        </p:txBody>
      </p:sp>
      <p:sp>
        <p:nvSpPr>
          <p:cNvPr id="32" name="Text 30"/>
          <p:cNvSpPr txBox="1"/>
          <p:nvPr/>
        </p:nvSpPr>
        <p:spPr>
          <a:xfrm>
            <a:off x="4553712" y="4105656"/>
            <a:ext cx="3182112" cy="329184"/>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bias + scale-appropriate error</a:t>
            </a:r>
            <a:endParaRPr lang="en-US" sz="1250" dirty="0"/>
          </a:p>
        </p:txBody>
      </p:sp>
      <p:sp>
        <p:nvSpPr>
          <p:cNvPr id="33" name="Text 31"/>
          <p:cNvSpPr txBox="1"/>
          <p:nvPr/>
        </p:nvSpPr>
        <p:spPr>
          <a:xfrm>
            <a:off x="4553712" y="4498848"/>
            <a:ext cx="1298448" cy="228600"/>
          </a:xfrm>
          <a:prstGeom prst="rect">
            <a:avLst/>
          </a:prstGeom>
          <a:noFill/>
          <a:ln/>
        </p:spPr>
        <p:txBody>
          <a:bodyPr wrap="square" lIns="0" tIns="0" rIns="0" bIns="0" rtlCol="0" anchor="ctr">
            <a:normAutofit/>
          </a:bodyPr>
          <a:lstStyle/>
          <a:p>
            <a:pPr algn="l" indent="0" marL="0">
              <a:buNone/>
            </a:pPr>
            <a:r>
              <a:rPr lang="en-US" sz="1000" b="1" dirty="0">
                <a:solidFill>
                  <a:srgbClr val="2A9D8F"/>
                </a:solidFill>
                <a:latin typeface="Aptos" pitchFamily="34" charset="0"/>
                <a:ea typeface="Aptos" pitchFamily="34" charset="-122"/>
                <a:cs typeface="Aptos" pitchFamily="34" charset="-120"/>
              </a:rPr>
              <a:t>Planning uncertainty</a:t>
            </a:r>
            <a:endParaRPr lang="en-US" sz="1000" dirty="0"/>
          </a:p>
        </p:txBody>
      </p:sp>
      <p:sp>
        <p:nvSpPr>
          <p:cNvPr id="34" name="Text 32"/>
          <p:cNvSpPr txBox="1"/>
          <p:nvPr/>
        </p:nvSpPr>
        <p:spPr>
          <a:xfrm>
            <a:off x="5833872" y="4434840"/>
            <a:ext cx="1901952" cy="502920"/>
          </a:xfrm>
          <a:prstGeom prst="rect">
            <a:avLst/>
          </a:prstGeom>
          <a:noFill/>
          <a:ln/>
        </p:spPr>
        <p:txBody>
          <a:bodyPr wrap="square" lIns="0" tIns="0" rIns="0" bIns="0" rtlCol="0" anchor="ctr">
            <a:normAutofit/>
          </a:bodyPr>
          <a:lstStyle/>
          <a:p>
            <a:pPr algn="l" indent="0" marL="0">
              <a:buNone/>
            </a:pPr>
            <a:r>
              <a:rPr lang="en-US" sz="1050" dirty="0">
                <a:solidFill>
                  <a:srgbClr val="6B7785"/>
                </a:solidFill>
                <a:latin typeface="Aptos" pitchFamily="34" charset="0"/>
                <a:ea typeface="Aptos" pitchFamily="34" charset="-122"/>
                <a:cs typeface="Aptos" pitchFamily="34" charset="-120"/>
              </a:rPr>
              <a:t>Aggregate accuracy can hide SKU error</a:t>
            </a:r>
            <a:endParaRPr lang="en-US" sz="1050" dirty="0"/>
          </a:p>
        </p:txBody>
      </p:sp>
      <p:sp>
        <p:nvSpPr>
          <p:cNvPr id="35" name="Shape 33"/>
          <p:cNvSpPr/>
          <p:nvPr/>
        </p:nvSpPr>
        <p:spPr>
          <a:xfrm>
            <a:off x="8211312" y="3538728"/>
            <a:ext cx="3584448" cy="1719072"/>
          </a:xfrm>
          <a:prstGeom prst="roundRect">
            <a:avLst>
              <a:gd name="adj" fmla="val 5319"/>
            </a:avLst>
          </a:prstGeom>
          <a:solidFill>
            <a:srgbClr val="FFFFFF"/>
          </a:solidFill>
          <a:ln w="12700">
            <a:solidFill>
              <a:srgbClr val="E8EDF2"/>
            </a:solidFill>
            <a:prstDash val="solid"/>
          </a:ln>
        </p:spPr>
      </p:sp>
      <p:sp>
        <p:nvSpPr>
          <p:cNvPr id="36" name="Shape 34"/>
          <p:cNvSpPr/>
          <p:nvPr/>
        </p:nvSpPr>
        <p:spPr>
          <a:xfrm>
            <a:off x="8375904" y="3685032"/>
            <a:ext cx="1325880" cy="274320"/>
          </a:xfrm>
          <a:prstGeom prst="roundRect">
            <a:avLst>
              <a:gd name="adj" fmla="val 50000"/>
            </a:avLst>
          </a:prstGeom>
          <a:solidFill>
            <a:srgbClr val="EAF3F8"/>
          </a:solidFill>
          <a:ln w="12700">
            <a:solidFill>
              <a:srgbClr val="EAF3F8"/>
            </a:solidFill>
            <a:prstDash val="solid"/>
          </a:ln>
        </p:spPr>
      </p:sp>
      <p:sp>
        <p:nvSpPr>
          <p:cNvPr id="37" name="Text 35"/>
          <p:cNvSpPr txBox="1"/>
          <p:nvPr/>
        </p:nvSpPr>
        <p:spPr>
          <a:xfrm>
            <a:off x="8375904" y="3685032"/>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0B1F33"/>
                </a:solidFill>
                <a:latin typeface="Aptos" pitchFamily="34" charset="0"/>
                <a:ea typeface="Aptos" pitchFamily="34" charset="-122"/>
                <a:cs typeface="Aptos" pitchFamily="34" charset="-120"/>
              </a:rPr>
              <a:t>SLOW / OBSOLETE</a:t>
            </a:r>
            <a:endParaRPr lang="en-US" sz="1000" dirty="0"/>
          </a:p>
        </p:txBody>
      </p:sp>
      <p:sp>
        <p:nvSpPr>
          <p:cNvPr id="38" name="Text 36"/>
          <p:cNvSpPr txBox="1"/>
          <p:nvPr/>
        </p:nvSpPr>
        <p:spPr>
          <a:xfrm>
            <a:off x="8375904" y="4105656"/>
            <a:ext cx="3182112" cy="329184"/>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aged or no-move inventory</a:t>
            </a:r>
            <a:endParaRPr lang="en-US" sz="1250" dirty="0"/>
          </a:p>
        </p:txBody>
      </p:sp>
      <p:sp>
        <p:nvSpPr>
          <p:cNvPr id="39" name="Text 37"/>
          <p:cNvSpPr txBox="1"/>
          <p:nvPr/>
        </p:nvSpPr>
        <p:spPr>
          <a:xfrm>
            <a:off x="8375904" y="4498848"/>
            <a:ext cx="1298448" cy="228600"/>
          </a:xfrm>
          <a:prstGeom prst="rect">
            <a:avLst/>
          </a:prstGeom>
          <a:noFill/>
          <a:ln/>
        </p:spPr>
        <p:txBody>
          <a:bodyPr wrap="square" lIns="0" tIns="0" rIns="0" bIns="0" rtlCol="0" anchor="ctr">
            <a:normAutofit/>
          </a:bodyPr>
          <a:lstStyle/>
          <a:p>
            <a:pPr algn="l" indent="0" marL="0">
              <a:buNone/>
            </a:pPr>
            <a:r>
              <a:rPr lang="en-US" sz="1000" b="1" dirty="0">
                <a:solidFill>
                  <a:srgbClr val="0B1F33"/>
                </a:solidFill>
                <a:latin typeface="Aptos" pitchFamily="34" charset="0"/>
                <a:ea typeface="Aptos" pitchFamily="34" charset="-122"/>
                <a:cs typeface="Aptos" pitchFamily="34" charset="-120"/>
              </a:rPr>
              <a:t>Lifecycle risk</a:t>
            </a:r>
            <a:endParaRPr lang="en-US" sz="1000" dirty="0"/>
          </a:p>
        </p:txBody>
      </p:sp>
      <p:sp>
        <p:nvSpPr>
          <p:cNvPr id="40" name="Text 38"/>
          <p:cNvSpPr txBox="1"/>
          <p:nvPr/>
        </p:nvSpPr>
        <p:spPr>
          <a:xfrm>
            <a:off x="9656064" y="4434840"/>
            <a:ext cx="1901952" cy="502920"/>
          </a:xfrm>
          <a:prstGeom prst="rect">
            <a:avLst/>
          </a:prstGeom>
          <a:noFill/>
          <a:ln/>
        </p:spPr>
        <p:txBody>
          <a:bodyPr wrap="square" lIns="0" tIns="0" rIns="0" bIns="0" rtlCol="0" anchor="ctr">
            <a:normAutofit/>
          </a:bodyPr>
          <a:lstStyle/>
          <a:p>
            <a:pPr algn="l" indent="0" marL="0">
              <a:buNone/>
            </a:pPr>
            <a:r>
              <a:rPr lang="en-US" sz="1050" dirty="0">
                <a:solidFill>
                  <a:srgbClr val="6B7785"/>
                </a:solidFill>
                <a:latin typeface="Aptos" pitchFamily="34" charset="0"/>
                <a:ea typeface="Aptos" pitchFamily="34" charset="-122"/>
                <a:cs typeface="Aptos" pitchFamily="34" charset="-120"/>
              </a:rPr>
              <a:t>Thresholds need item context</a:t>
            </a:r>
            <a:endParaRPr lang="en-US" sz="1050" dirty="0"/>
          </a:p>
        </p:txBody>
      </p:sp>
      <p:sp>
        <p:nvSpPr>
          <p:cNvPr id="41" name="Shape 39"/>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42" name="Text 40"/>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43" name="Text 41"/>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Read metrics together: higher turns can be healthy—or a warning if fill rate and expedites deteriorate.</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02920" y="320040"/>
            <a:ext cx="246888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28E2B"/>
                </a:solidFill>
                <a:latin typeface="Aptos" pitchFamily="34" charset="0"/>
                <a:ea typeface="Aptos" pitchFamily="34" charset="-122"/>
                <a:cs typeface="Aptos" pitchFamily="34" charset="-120"/>
              </a:rPr>
              <a:t>EXECUTIVE DECISION FRAMEWORK</a:t>
            </a:r>
            <a:endParaRPr lang="en-US" sz="1000" dirty="0"/>
          </a:p>
        </p:txBody>
      </p:sp>
      <p:sp>
        <p:nvSpPr>
          <p:cNvPr id="3" name="Text 1"/>
          <p:cNvSpPr txBox="1"/>
          <p:nvPr/>
        </p:nvSpPr>
        <p:spPr>
          <a:xfrm>
            <a:off x="502920" y="621792"/>
            <a:ext cx="11018520" cy="530352"/>
          </a:xfrm>
          <a:prstGeom prst="rect">
            <a:avLst/>
          </a:prstGeom>
          <a:noFill/>
          <a:ln/>
        </p:spPr>
        <p:txBody>
          <a:bodyPr wrap="square" lIns="0" tIns="0" rIns="0" bIns="0" rtlCol="0" anchor="ctr">
            <a:normAutofit/>
          </a:bodyPr>
          <a:lstStyle/>
          <a:p>
            <a:pPr algn="l" indent="0" marL="0">
              <a:buNone/>
            </a:pPr>
            <a:r>
              <a:rPr lang="en-US" sz="2700" b="1" dirty="0">
                <a:solidFill>
                  <a:srgbClr val="0B1F33"/>
                </a:solidFill>
                <a:latin typeface="Aptos" pitchFamily="34" charset="0"/>
                <a:ea typeface="Aptos" pitchFamily="34" charset="-122"/>
                <a:cs typeface="Aptos" pitchFamily="34" charset="-120"/>
              </a:rPr>
              <a:t>Six steps from item facts to adaptive policy</a:t>
            </a:r>
            <a:endParaRPr lang="en-US" sz="2700" dirty="0"/>
          </a:p>
        </p:txBody>
      </p:sp>
      <p:sp>
        <p:nvSpPr>
          <p:cNvPr id="4" name="Text 2"/>
          <p:cNvSpPr txBox="1"/>
          <p:nvPr/>
        </p:nvSpPr>
        <p:spPr>
          <a:xfrm>
            <a:off x="502920" y="1133856"/>
            <a:ext cx="10972800" cy="329184"/>
          </a:xfrm>
          <a:prstGeom prst="rect">
            <a:avLst/>
          </a:prstGeom>
          <a:noFill/>
          <a:ln/>
        </p:spPr>
        <p:txBody>
          <a:bodyPr wrap="square" lIns="0" tIns="0" rIns="0" bIns="0" rtlCol="0" anchor="ctr">
            <a:normAutofit/>
          </a:bodyPr>
          <a:lstStyle/>
          <a:p>
            <a:pPr algn="l" indent="0" marL="0">
              <a:buNone/>
            </a:pPr>
            <a:r>
              <a:rPr lang="en-US" sz="1350" dirty="0">
                <a:solidFill>
                  <a:srgbClr val="6B7785"/>
                </a:solidFill>
                <a:latin typeface="Aptos" pitchFamily="34" charset="0"/>
                <a:ea typeface="Aptos" pitchFamily="34" charset="-122"/>
                <a:cs typeface="Aptos" pitchFamily="34" charset="-120"/>
              </a:rPr>
              <a:t>Use this sequence in a policy review or S&amp;OP decision.</a:t>
            </a:r>
            <a:endParaRPr lang="en-US" sz="1350" dirty="0"/>
          </a:p>
        </p:txBody>
      </p:sp>
      <p:sp>
        <p:nvSpPr>
          <p:cNvPr id="5" name="Shape 3"/>
          <p:cNvSpPr/>
          <p:nvPr/>
        </p:nvSpPr>
        <p:spPr>
          <a:xfrm>
            <a:off x="1005840" y="1783080"/>
            <a:ext cx="566928" cy="566928"/>
          </a:xfrm>
          <a:prstGeom prst="ellipse">
            <a:avLst/>
          </a:prstGeom>
          <a:solidFill>
            <a:srgbClr val="1D6FA5"/>
          </a:solidFill>
          <a:ln w="12700">
            <a:solidFill>
              <a:srgbClr val="1D6FA5"/>
            </a:solidFill>
            <a:prstDash val="solid"/>
          </a:ln>
        </p:spPr>
      </p:sp>
      <p:sp>
        <p:nvSpPr>
          <p:cNvPr id="6" name="Text 4"/>
          <p:cNvSpPr txBox="1"/>
          <p:nvPr/>
        </p:nvSpPr>
        <p:spPr>
          <a:xfrm>
            <a:off x="1005840" y="1783080"/>
            <a:ext cx="566928" cy="56692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7" name="Shape 5"/>
          <p:cNvSpPr/>
          <p:nvPr/>
        </p:nvSpPr>
        <p:spPr>
          <a:xfrm>
            <a:off x="1600200" y="2066544"/>
            <a:ext cx="777240" cy="0"/>
          </a:xfrm>
          <a:prstGeom prst="line">
            <a:avLst/>
          </a:prstGeom>
          <a:noFill/>
          <a:ln w="25400">
            <a:solidFill>
              <a:srgbClr val="9AA6B2"/>
            </a:solidFill>
            <a:prstDash val="solid"/>
            <a:tailEnd type="triangle"/>
          </a:ln>
        </p:spPr>
      </p:sp>
      <p:sp>
        <p:nvSpPr>
          <p:cNvPr id="8" name="Text 6"/>
          <p:cNvSpPr txBox="1"/>
          <p:nvPr/>
        </p:nvSpPr>
        <p:spPr>
          <a:xfrm>
            <a:off x="502920" y="2542032"/>
            <a:ext cx="1572768" cy="274320"/>
          </a:xfrm>
          <a:prstGeom prst="rect">
            <a:avLst/>
          </a:prstGeom>
          <a:noFill/>
          <a:ln/>
        </p:spPr>
        <p:txBody>
          <a:bodyPr wrap="square" lIns="0" tIns="0" rIns="0" bIns="0" rtlCol="0" anchor="ctr">
            <a:normAutofit/>
          </a:bodyPr>
          <a:lstStyle/>
          <a:p>
            <a:pPr algn="ctr" indent="0" marL="0">
              <a:buNone/>
            </a:pPr>
            <a:r>
              <a:rPr lang="en-US" sz="1200" b="1" dirty="0">
                <a:solidFill>
                  <a:srgbClr val="0B1F33"/>
                </a:solidFill>
                <a:latin typeface="Aptos" pitchFamily="34" charset="0"/>
                <a:ea typeface="Aptos" pitchFamily="34" charset="-122"/>
                <a:cs typeface="Aptos" pitchFamily="34" charset="-120"/>
              </a:rPr>
              <a:t>CLASSIFY</a:t>
            </a:r>
            <a:endParaRPr lang="en-US" sz="1200" dirty="0"/>
          </a:p>
        </p:txBody>
      </p:sp>
      <p:sp>
        <p:nvSpPr>
          <p:cNvPr id="9" name="Text 7"/>
          <p:cNvSpPr txBox="1"/>
          <p:nvPr/>
        </p:nvSpPr>
        <p:spPr>
          <a:xfrm>
            <a:off x="502920" y="2907792"/>
            <a:ext cx="1572768" cy="658368"/>
          </a:xfrm>
          <a:prstGeom prst="rect">
            <a:avLst/>
          </a:prstGeom>
          <a:noFill/>
          <a:ln/>
        </p:spPr>
        <p:txBody>
          <a:bodyPr wrap="square" lIns="0" tIns="0" rIns="0" bIns="0" rtlCol="0" anchor="t">
            <a:normAutofit/>
          </a:bodyPr>
          <a:lstStyle/>
          <a:p>
            <a:pPr algn="ctr" indent="0" marL="0">
              <a:buNone/>
            </a:pPr>
            <a:r>
              <a:rPr lang="en-US" sz="1100" dirty="0">
                <a:solidFill>
                  <a:srgbClr val="6B7785"/>
                </a:solidFill>
                <a:latin typeface="Aptos" pitchFamily="34" charset="0"/>
                <a:ea typeface="Aptos" pitchFamily="34" charset="-122"/>
                <a:cs typeface="Aptos" pitchFamily="34" charset="-120"/>
              </a:rPr>
              <a:t>value • criticality • movement</a:t>
            </a:r>
            <a:endParaRPr lang="en-US" sz="1100" dirty="0"/>
          </a:p>
        </p:txBody>
      </p:sp>
      <p:sp>
        <p:nvSpPr>
          <p:cNvPr id="10" name="Shape 8"/>
          <p:cNvSpPr/>
          <p:nvPr/>
        </p:nvSpPr>
        <p:spPr>
          <a:xfrm>
            <a:off x="2926080" y="1783080"/>
            <a:ext cx="566928" cy="566928"/>
          </a:xfrm>
          <a:prstGeom prst="ellipse">
            <a:avLst/>
          </a:prstGeom>
          <a:solidFill>
            <a:srgbClr val="1D6FA5"/>
          </a:solidFill>
          <a:ln w="12700">
            <a:solidFill>
              <a:srgbClr val="1D6FA5"/>
            </a:solidFill>
            <a:prstDash val="solid"/>
          </a:ln>
        </p:spPr>
      </p:sp>
      <p:sp>
        <p:nvSpPr>
          <p:cNvPr id="11" name="Text 9"/>
          <p:cNvSpPr txBox="1"/>
          <p:nvPr/>
        </p:nvSpPr>
        <p:spPr>
          <a:xfrm>
            <a:off x="2926080" y="1783080"/>
            <a:ext cx="566928" cy="56692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2" name="Shape 10"/>
          <p:cNvSpPr/>
          <p:nvPr/>
        </p:nvSpPr>
        <p:spPr>
          <a:xfrm>
            <a:off x="3520440" y="2066544"/>
            <a:ext cx="777240" cy="0"/>
          </a:xfrm>
          <a:prstGeom prst="line">
            <a:avLst/>
          </a:prstGeom>
          <a:noFill/>
          <a:ln w="25400">
            <a:solidFill>
              <a:srgbClr val="9AA6B2"/>
            </a:solidFill>
            <a:prstDash val="solid"/>
            <a:tailEnd type="triangle"/>
          </a:ln>
        </p:spPr>
      </p:sp>
      <p:sp>
        <p:nvSpPr>
          <p:cNvPr id="13" name="Text 11"/>
          <p:cNvSpPr txBox="1"/>
          <p:nvPr/>
        </p:nvSpPr>
        <p:spPr>
          <a:xfrm>
            <a:off x="2423160" y="2542032"/>
            <a:ext cx="1572768" cy="274320"/>
          </a:xfrm>
          <a:prstGeom prst="rect">
            <a:avLst/>
          </a:prstGeom>
          <a:noFill/>
          <a:ln/>
        </p:spPr>
        <p:txBody>
          <a:bodyPr wrap="square" lIns="0" tIns="0" rIns="0" bIns="0" rtlCol="0" anchor="ctr">
            <a:normAutofit/>
          </a:bodyPr>
          <a:lstStyle/>
          <a:p>
            <a:pPr algn="ctr" indent="0" marL="0">
              <a:buNone/>
            </a:pPr>
            <a:r>
              <a:rPr lang="en-US" sz="1200" b="1" dirty="0">
                <a:solidFill>
                  <a:srgbClr val="0B1F33"/>
                </a:solidFill>
                <a:latin typeface="Aptos" pitchFamily="34" charset="0"/>
                <a:ea typeface="Aptos" pitchFamily="34" charset="-122"/>
                <a:cs typeface="Aptos" pitchFamily="34" charset="-120"/>
              </a:rPr>
              <a:t>DIAGNOSE</a:t>
            </a:r>
            <a:endParaRPr lang="en-US" sz="1200" dirty="0"/>
          </a:p>
        </p:txBody>
      </p:sp>
      <p:sp>
        <p:nvSpPr>
          <p:cNvPr id="14" name="Text 12"/>
          <p:cNvSpPr txBox="1"/>
          <p:nvPr/>
        </p:nvSpPr>
        <p:spPr>
          <a:xfrm>
            <a:off x="2423160" y="2907792"/>
            <a:ext cx="1572768" cy="658368"/>
          </a:xfrm>
          <a:prstGeom prst="rect">
            <a:avLst/>
          </a:prstGeom>
          <a:noFill/>
          <a:ln/>
        </p:spPr>
        <p:txBody>
          <a:bodyPr wrap="square" lIns="0" tIns="0" rIns="0" bIns="0" rtlCol="0" anchor="t">
            <a:normAutofit/>
          </a:bodyPr>
          <a:lstStyle/>
          <a:p>
            <a:pPr algn="ctr" indent="0" marL="0">
              <a:buNone/>
            </a:pPr>
            <a:r>
              <a:rPr lang="en-US" sz="1100" dirty="0">
                <a:solidFill>
                  <a:srgbClr val="6B7785"/>
                </a:solidFill>
                <a:latin typeface="Aptos" pitchFamily="34" charset="0"/>
                <a:ea typeface="Aptos" pitchFamily="34" charset="-122"/>
                <a:cs typeface="Aptos" pitchFamily="34" charset="-120"/>
              </a:rPr>
              <a:t>uncertainty • cost • lifecycle</a:t>
            </a:r>
            <a:endParaRPr lang="en-US" sz="1100" dirty="0"/>
          </a:p>
        </p:txBody>
      </p:sp>
      <p:sp>
        <p:nvSpPr>
          <p:cNvPr id="15" name="Shape 13"/>
          <p:cNvSpPr/>
          <p:nvPr/>
        </p:nvSpPr>
        <p:spPr>
          <a:xfrm>
            <a:off x="4846320" y="1783080"/>
            <a:ext cx="566928" cy="566928"/>
          </a:xfrm>
          <a:prstGeom prst="ellipse">
            <a:avLst/>
          </a:prstGeom>
          <a:solidFill>
            <a:srgbClr val="F28E2B"/>
          </a:solidFill>
          <a:ln w="12700">
            <a:solidFill>
              <a:srgbClr val="F28E2B"/>
            </a:solidFill>
            <a:prstDash val="solid"/>
          </a:ln>
        </p:spPr>
      </p:sp>
      <p:sp>
        <p:nvSpPr>
          <p:cNvPr id="16" name="Text 14"/>
          <p:cNvSpPr txBox="1"/>
          <p:nvPr/>
        </p:nvSpPr>
        <p:spPr>
          <a:xfrm>
            <a:off x="4846320" y="1783080"/>
            <a:ext cx="566928" cy="56692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17" name="Shape 15"/>
          <p:cNvSpPr/>
          <p:nvPr/>
        </p:nvSpPr>
        <p:spPr>
          <a:xfrm>
            <a:off x="5440680" y="2066544"/>
            <a:ext cx="777240" cy="0"/>
          </a:xfrm>
          <a:prstGeom prst="line">
            <a:avLst/>
          </a:prstGeom>
          <a:noFill/>
          <a:ln w="25400">
            <a:solidFill>
              <a:srgbClr val="9AA6B2"/>
            </a:solidFill>
            <a:prstDash val="solid"/>
            <a:tailEnd type="triangle"/>
          </a:ln>
        </p:spPr>
      </p:sp>
      <p:sp>
        <p:nvSpPr>
          <p:cNvPr id="18" name="Text 16"/>
          <p:cNvSpPr txBox="1"/>
          <p:nvPr/>
        </p:nvSpPr>
        <p:spPr>
          <a:xfrm>
            <a:off x="4343400" y="2542032"/>
            <a:ext cx="1572768" cy="274320"/>
          </a:xfrm>
          <a:prstGeom prst="rect">
            <a:avLst/>
          </a:prstGeom>
          <a:noFill/>
          <a:ln/>
        </p:spPr>
        <p:txBody>
          <a:bodyPr wrap="square" lIns="0" tIns="0" rIns="0" bIns="0" rtlCol="0" anchor="ctr">
            <a:normAutofit/>
          </a:bodyPr>
          <a:lstStyle/>
          <a:p>
            <a:pPr algn="ctr" indent="0" marL="0">
              <a:buNone/>
            </a:pPr>
            <a:r>
              <a:rPr lang="en-US" sz="1200" b="1" dirty="0">
                <a:solidFill>
                  <a:srgbClr val="0B1F33"/>
                </a:solidFill>
                <a:latin typeface="Aptos" pitchFamily="34" charset="0"/>
                <a:ea typeface="Aptos" pitchFamily="34" charset="-122"/>
                <a:cs typeface="Aptos" pitchFamily="34" charset="-120"/>
              </a:rPr>
              <a:t>CHOOSE</a:t>
            </a:r>
            <a:endParaRPr lang="en-US" sz="1200" dirty="0"/>
          </a:p>
        </p:txBody>
      </p:sp>
      <p:sp>
        <p:nvSpPr>
          <p:cNvPr id="19" name="Text 17"/>
          <p:cNvSpPr txBox="1"/>
          <p:nvPr/>
        </p:nvSpPr>
        <p:spPr>
          <a:xfrm>
            <a:off x="4343400" y="2907792"/>
            <a:ext cx="1572768" cy="658368"/>
          </a:xfrm>
          <a:prstGeom prst="rect">
            <a:avLst/>
          </a:prstGeom>
          <a:noFill/>
          <a:ln/>
        </p:spPr>
        <p:txBody>
          <a:bodyPr wrap="square" lIns="0" tIns="0" rIns="0" bIns="0" rtlCol="0" anchor="t">
            <a:normAutofit/>
          </a:bodyPr>
          <a:lstStyle/>
          <a:p>
            <a:pPr algn="ctr" indent="0" marL="0">
              <a:buNone/>
            </a:pPr>
            <a:r>
              <a:rPr lang="en-US" sz="1100" dirty="0">
                <a:solidFill>
                  <a:srgbClr val="6B7785"/>
                </a:solidFill>
                <a:latin typeface="Aptos" pitchFamily="34" charset="0"/>
                <a:ea typeface="Aptos" pitchFamily="34" charset="-122"/>
                <a:cs typeface="Aptos" pitchFamily="34" charset="-120"/>
              </a:rPr>
              <a:t>Q/R • periodic • L4L • constrained</a:t>
            </a:r>
            <a:endParaRPr lang="en-US" sz="1100" dirty="0"/>
          </a:p>
        </p:txBody>
      </p:sp>
      <p:sp>
        <p:nvSpPr>
          <p:cNvPr id="20" name="Shape 18"/>
          <p:cNvSpPr/>
          <p:nvPr/>
        </p:nvSpPr>
        <p:spPr>
          <a:xfrm>
            <a:off x="6766560" y="1783080"/>
            <a:ext cx="566928" cy="566928"/>
          </a:xfrm>
          <a:prstGeom prst="ellipse">
            <a:avLst/>
          </a:prstGeom>
          <a:solidFill>
            <a:srgbClr val="F28E2B"/>
          </a:solidFill>
          <a:ln w="12700">
            <a:solidFill>
              <a:srgbClr val="F28E2B"/>
            </a:solidFill>
            <a:prstDash val="solid"/>
          </a:ln>
        </p:spPr>
      </p:sp>
      <p:sp>
        <p:nvSpPr>
          <p:cNvPr id="21" name="Text 19"/>
          <p:cNvSpPr txBox="1"/>
          <p:nvPr/>
        </p:nvSpPr>
        <p:spPr>
          <a:xfrm>
            <a:off x="6766560" y="1783080"/>
            <a:ext cx="566928" cy="56692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2" name="Shape 20"/>
          <p:cNvSpPr/>
          <p:nvPr/>
        </p:nvSpPr>
        <p:spPr>
          <a:xfrm>
            <a:off x="7360920" y="2066544"/>
            <a:ext cx="777240" cy="0"/>
          </a:xfrm>
          <a:prstGeom prst="line">
            <a:avLst/>
          </a:prstGeom>
          <a:noFill/>
          <a:ln w="25400">
            <a:solidFill>
              <a:srgbClr val="9AA6B2"/>
            </a:solidFill>
            <a:prstDash val="solid"/>
            <a:tailEnd type="triangle"/>
          </a:ln>
        </p:spPr>
      </p:sp>
      <p:sp>
        <p:nvSpPr>
          <p:cNvPr id="23" name="Text 21"/>
          <p:cNvSpPr txBox="1"/>
          <p:nvPr/>
        </p:nvSpPr>
        <p:spPr>
          <a:xfrm>
            <a:off x="6263640" y="2542032"/>
            <a:ext cx="1572768" cy="274320"/>
          </a:xfrm>
          <a:prstGeom prst="rect">
            <a:avLst/>
          </a:prstGeom>
          <a:noFill/>
          <a:ln/>
        </p:spPr>
        <p:txBody>
          <a:bodyPr wrap="square" lIns="0" tIns="0" rIns="0" bIns="0" rtlCol="0" anchor="ctr">
            <a:normAutofit/>
          </a:bodyPr>
          <a:lstStyle/>
          <a:p>
            <a:pPr algn="ctr" indent="0" marL="0">
              <a:buNone/>
            </a:pPr>
            <a:r>
              <a:rPr lang="en-US" sz="1200" b="1" dirty="0">
                <a:solidFill>
                  <a:srgbClr val="0B1F33"/>
                </a:solidFill>
                <a:latin typeface="Aptos" pitchFamily="34" charset="0"/>
                <a:ea typeface="Aptos" pitchFamily="34" charset="-122"/>
                <a:cs typeface="Aptos" pitchFamily="34" charset="-120"/>
              </a:rPr>
              <a:t>TARGET</a:t>
            </a:r>
            <a:endParaRPr lang="en-US" sz="1200" dirty="0"/>
          </a:p>
        </p:txBody>
      </p:sp>
      <p:sp>
        <p:nvSpPr>
          <p:cNvPr id="24" name="Text 22"/>
          <p:cNvSpPr txBox="1"/>
          <p:nvPr/>
        </p:nvSpPr>
        <p:spPr>
          <a:xfrm>
            <a:off x="6263640" y="2907792"/>
            <a:ext cx="1572768" cy="658368"/>
          </a:xfrm>
          <a:prstGeom prst="rect">
            <a:avLst/>
          </a:prstGeom>
          <a:noFill/>
          <a:ln/>
        </p:spPr>
        <p:txBody>
          <a:bodyPr wrap="square" lIns="0" tIns="0" rIns="0" bIns="0" rtlCol="0" anchor="t">
            <a:normAutofit/>
          </a:bodyPr>
          <a:lstStyle/>
          <a:p>
            <a:pPr algn="ctr" indent="0" marL="0">
              <a:buNone/>
            </a:pPr>
            <a:r>
              <a:rPr lang="en-US" sz="1100" dirty="0">
                <a:solidFill>
                  <a:srgbClr val="6B7785"/>
                </a:solidFill>
                <a:latin typeface="Aptos" pitchFamily="34" charset="0"/>
                <a:ea typeface="Aptos" pitchFamily="34" charset="-122"/>
                <a:cs typeface="Aptos" pitchFamily="34" charset="-120"/>
              </a:rPr>
              <a:t>define service and shortage consequence</a:t>
            </a:r>
            <a:endParaRPr lang="en-US" sz="1100" dirty="0"/>
          </a:p>
        </p:txBody>
      </p:sp>
      <p:sp>
        <p:nvSpPr>
          <p:cNvPr id="25" name="Shape 23"/>
          <p:cNvSpPr/>
          <p:nvPr/>
        </p:nvSpPr>
        <p:spPr>
          <a:xfrm>
            <a:off x="8686800" y="1783080"/>
            <a:ext cx="566928" cy="566928"/>
          </a:xfrm>
          <a:prstGeom prst="ellipse">
            <a:avLst/>
          </a:prstGeom>
          <a:solidFill>
            <a:srgbClr val="2A9D8F"/>
          </a:solidFill>
          <a:ln w="12700">
            <a:solidFill>
              <a:srgbClr val="2A9D8F"/>
            </a:solidFill>
            <a:prstDash val="solid"/>
          </a:ln>
        </p:spPr>
      </p:sp>
      <p:sp>
        <p:nvSpPr>
          <p:cNvPr id="26" name="Text 24"/>
          <p:cNvSpPr txBox="1"/>
          <p:nvPr/>
        </p:nvSpPr>
        <p:spPr>
          <a:xfrm>
            <a:off x="8686800" y="1783080"/>
            <a:ext cx="566928" cy="56692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5</a:t>
            </a:r>
            <a:endParaRPr lang="en-US" sz="1400" dirty="0"/>
          </a:p>
        </p:txBody>
      </p:sp>
      <p:sp>
        <p:nvSpPr>
          <p:cNvPr id="27" name="Shape 25"/>
          <p:cNvSpPr/>
          <p:nvPr/>
        </p:nvSpPr>
        <p:spPr>
          <a:xfrm>
            <a:off x="9281160" y="2066544"/>
            <a:ext cx="777240" cy="0"/>
          </a:xfrm>
          <a:prstGeom prst="line">
            <a:avLst/>
          </a:prstGeom>
          <a:noFill/>
          <a:ln w="25400">
            <a:solidFill>
              <a:srgbClr val="9AA6B2"/>
            </a:solidFill>
            <a:prstDash val="solid"/>
            <a:tailEnd type="triangle"/>
          </a:ln>
        </p:spPr>
      </p:sp>
      <p:sp>
        <p:nvSpPr>
          <p:cNvPr id="28" name="Text 26"/>
          <p:cNvSpPr txBox="1"/>
          <p:nvPr/>
        </p:nvSpPr>
        <p:spPr>
          <a:xfrm>
            <a:off x="8183880" y="2542032"/>
            <a:ext cx="1572768" cy="274320"/>
          </a:xfrm>
          <a:prstGeom prst="rect">
            <a:avLst/>
          </a:prstGeom>
          <a:noFill/>
          <a:ln/>
        </p:spPr>
        <p:txBody>
          <a:bodyPr wrap="square" lIns="0" tIns="0" rIns="0" bIns="0" rtlCol="0" anchor="ctr">
            <a:normAutofit/>
          </a:bodyPr>
          <a:lstStyle/>
          <a:p>
            <a:pPr algn="ctr" indent="0" marL="0">
              <a:buNone/>
            </a:pPr>
            <a:r>
              <a:rPr lang="en-US" sz="1200" b="1" dirty="0">
                <a:solidFill>
                  <a:srgbClr val="0B1F33"/>
                </a:solidFill>
                <a:latin typeface="Aptos" pitchFamily="34" charset="0"/>
                <a:ea typeface="Aptos" pitchFamily="34" charset="-122"/>
                <a:cs typeface="Aptos" pitchFamily="34" charset="-120"/>
              </a:rPr>
              <a:t>MONITOR</a:t>
            </a:r>
            <a:endParaRPr lang="en-US" sz="1200" dirty="0"/>
          </a:p>
        </p:txBody>
      </p:sp>
      <p:sp>
        <p:nvSpPr>
          <p:cNvPr id="29" name="Text 27"/>
          <p:cNvSpPr txBox="1"/>
          <p:nvPr/>
        </p:nvSpPr>
        <p:spPr>
          <a:xfrm>
            <a:off x="8183880" y="2907792"/>
            <a:ext cx="1572768" cy="658368"/>
          </a:xfrm>
          <a:prstGeom prst="rect">
            <a:avLst/>
          </a:prstGeom>
          <a:noFill/>
          <a:ln/>
        </p:spPr>
        <p:txBody>
          <a:bodyPr wrap="square" lIns="0" tIns="0" rIns="0" bIns="0" rtlCol="0" anchor="t">
            <a:normAutofit/>
          </a:bodyPr>
          <a:lstStyle/>
          <a:p>
            <a:pPr algn="ctr" indent="0" marL="0">
              <a:buNone/>
            </a:pPr>
            <a:r>
              <a:rPr lang="en-US" sz="1100" dirty="0">
                <a:solidFill>
                  <a:srgbClr val="6B7785"/>
                </a:solidFill>
                <a:latin typeface="Aptos" pitchFamily="34" charset="0"/>
                <a:ea typeface="Aptos" pitchFamily="34" charset="-122"/>
                <a:cs typeface="Aptos" pitchFamily="34" charset="-120"/>
              </a:rPr>
              <a:t>cash • service • error • ageing</a:t>
            </a:r>
            <a:endParaRPr lang="en-US" sz="1100" dirty="0"/>
          </a:p>
        </p:txBody>
      </p:sp>
      <p:sp>
        <p:nvSpPr>
          <p:cNvPr id="30" name="Shape 28"/>
          <p:cNvSpPr/>
          <p:nvPr/>
        </p:nvSpPr>
        <p:spPr>
          <a:xfrm>
            <a:off x="10607040" y="1783080"/>
            <a:ext cx="566928" cy="566928"/>
          </a:xfrm>
          <a:prstGeom prst="ellipse">
            <a:avLst/>
          </a:prstGeom>
          <a:solidFill>
            <a:srgbClr val="D1495B"/>
          </a:solidFill>
          <a:ln w="12700">
            <a:solidFill>
              <a:srgbClr val="D1495B"/>
            </a:solidFill>
            <a:prstDash val="solid"/>
          </a:ln>
        </p:spPr>
      </p:sp>
      <p:sp>
        <p:nvSpPr>
          <p:cNvPr id="31" name="Text 29"/>
          <p:cNvSpPr txBox="1"/>
          <p:nvPr/>
        </p:nvSpPr>
        <p:spPr>
          <a:xfrm>
            <a:off x="10607040" y="1783080"/>
            <a:ext cx="566928" cy="56692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6</a:t>
            </a:r>
            <a:endParaRPr lang="en-US" sz="1400" dirty="0"/>
          </a:p>
        </p:txBody>
      </p:sp>
      <p:sp>
        <p:nvSpPr>
          <p:cNvPr id="32" name="Text 30"/>
          <p:cNvSpPr txBox="1"/>
          <p:nvPr/>
        </p:nvSpPr>
        <p:spPr>
          <a:xfrm>
            <a:off x="10104120" y="2542032"/>
            <a:ext cx="1572768" cy="274320"/>
          </a:xfrm>
          <a:prstGeom prst="rect">
            <a:avLst/>
          </a:prstGeom>
          <a:noFill/>
          <a:ln/>
        </p:spPr>
        <p:txBody>
          <a:bodyPr wrap="square" lIns="0" tIns="0" rIns="0" bIns="0" rtlCol="0" anchor="ctr">
            <a:normAutofit/>
          </a:bodyPr>
          <a:lstStyle/>
          <a:p>
            <a:pPr algn="ctr" indent="0" marL="0">
              <a:buNone/>
            </a:pPr>
            <a:r>
              <a:rPr lang="en-US" sz="1200" b="1" dirty="0">
                <a:solidFill>
                  <a:srgbClr val="0B1F33"/>
                </a:solidFill>
                <a:latin typeface="Aptos" pitchFamily="34" charset="0"/>
                <a:ea typeface="Aptos" pitchFamily="34" charset="-122"/>
                <a:cs typeface="Aptos" pitchFamily="34" charset="-120"/>
              </a:rPr>
              <a:t>REVISE</a:t>
            </a:r>
            <a:endParaRPr lang="en-US" sz="1200" dirty="0"/>
          </a:p>
        </p:txBody>
      </p:sp>
      <p:sp>
        <p:nvSpPr>
          <p:cNvPr id="33" name="Text 31"/>
          <p:cNvSpPr txBox="1"/>
          <p:nvPr/>
        </p:nvSpPr>
        <p:spPr>
          <a:xfrm>
            <a:off x="10104120" y="2907792"/>
            <a:ext cx="1572768" cy="658368"/>
          </a:xfrm>
          <a:prstGeom prst="rect">
            <a:avLst/>
          </a:prstGeom>
          <a:noFill/>
          <a:ln/>
        </p:spPr>
        <p:txBody>
          <a:bodyPr wrap="square" lIns="0" tIns="0" rIns="0" bIns="0" rtlCol="0" anchor="t">
            <a:normAutofit/>
          </a:bodyPr>
          <a:lstStyle/>
          <a:p>
            <a:pPr algn="ctr" indent="0" marL="0">
              <a:buNone/>
            </a:pPr>
            <a:r>
              <a:rPr lang="en-US" sz="1100" dirty="0">
                <a:solidFill>
                  <a:srgbClr val="6B7785"/>
                </a:solidFill>
                <a:latin typeface="Aptos" pitchFamily="34" charset="0"/>
                <a:ea typeface="Aptos" pitchFamily="34" charset="-122"/>
                <a:cs typeface="Aptos" pitchFamily="34" charset="-120"/>
              </a:rPr>
              <a:t>after drift, disruption, or redesign</a:t>
            </a:r>
            <a:endParaRPr lang="en-US" sz="1100" dirty="0"/>
          </a:p>
        </p:txBody>
      </p:sp>
      <p:sp>
        <p:nvSpPr>
          <p:cNvPr id="34" name="Shape 32"/>
          <p:cNvSpPr/>
          <p:nvPr/>
        </p:nvSpPr>
        <p:spPr>
          <a:xfrm>
            <a:off x="685800" y="4069080"/>
            <a:ext cx="10744200" cy="1005840"/>
          </a:xfrm>
          <a:prstGeom prst="roundRect">
            <a:avLst>
              <a:gd name="adj" fmla="val 10909"/>
            </a:avLst>
          </a:prstGeom>
          <a:solidFill>
            <a:srgbClr val="0B1F33"/>
          </a:solidFill>
          <a:ln w="12700">
            <a:solidFill>
              <a:srgbClr val="0B1F33"/>
            </a:solidFill>
            <a:prstDash val="solid"/>
          </a:ln>
        </p:spPr>
      </p:sp>
      <p:sp>
        <p:nvSpPr>
          <p:cNvPr id="35" name="Text 33"/>
          <p:cNvSpPr txBox="1"/>
          <p:nvPr/>
        </p:nvSpPr>
        <p:spPr>
          <a:xfrm>
            <a:off x="941832" y="4370832"/>
            <a:ext cx="1143000" cy="237744"/>
          </a:xfrm>
          <a:prstGeom prst="rect">
            <a:avLst/>
          </a:prstGeom>
          <a:noFill/>
          <a:ln/>
        </p:spPr>
        <p:txBody>
          <a:bodyPr wrap="square" lIns="0" tIns="0" rIns="0" bIns="0" rtlCol="0" anchor="ctr">
            <a:normAutofit/>
          </a:bodyPr>
          <a:lstStyle/>
          <a:p>
            <a:pPr algn="l" indent="0" marL="0">
              <a:buNone/>
            </a:pPr>
            <a:r>
              <a:rPr lang="en-US" sz="1000" b="1" dirty="0">
                <a:solidFill>
                  <a:srgbClr val="F4C95D"/>
                </a:solidFill>
                <a:latin typeface="Aptos" pitchFamily="34" charset="0"/>
                <a:ea typeface="Aptos" pitchFamily="34" charset="-122"/>
                <a:cs typeface="Aptos" pitchFamily="34" charset="-120"/>
              </a:rPr>
              <a:t>POLICY CARD</a:t>
            </a:r>
            <a:endParaRPr lang="en-US" sz="1000" dirty="0"/>
          </a:p>
        </p:txBody>
      </p:sp>
      <p:sp>
        <p:nvSpPr>
          <p:cNvPr id="36" name="Text 34"/>
          <p:cNvSpPr txBox="1"/>
          <p:nvPr/>
        </p:nvSpPr>
        <p:spPr>
          <a:xfrm>
            <a:off x="2029968" y="4279392"/>
            <a:ext cx="8961120" cy="41148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Item segment  |  Review mode  |  Q / order-up-to level  |  R / trigger  |  Service metric  |  Owner  |  Recalibration rule</a:t>
            </a:r>
            <a:endParaRPr lang="en-US" sz="1400" dirty="0"/>
          </a:p>
        </p:txBody>
      </p:sp>
      <p:sp>
        <p:nvSpPr>
          <p:cNvPr id="37" name="Shape 35"/>
          <p:cNvSpPr/>
          <p:nvPr/>
        </p:nvSpPr>
        <p:spPr>
          <a:xfrm>
            <a:off x="530352" y="5980176"/>
            <a:ext cx="11109960" cy="384048"/>
          </a:xfrm>
          <a:prstGeom prst="roundRect">
            <a:avLst>
              <a:gd name="adj" fmla="val 19048"/>
            </a:avLst>
          </a:prstGeom>
          <a:solidFill>
            <a:srgbClr val="0B1F33"/>
          </a:solidFill>
          <a:ln w="12700">
            <a:solidFill>
              <a:srgbClr val="0B1F33"/>
            </a:solidFill>
            <a:prstDash val="solid"/>
          </a:ln>
        </p:spPr>
      </p:sp>
      <p:sp>
        <p:nvSpPr>
          <p:cNvPr id="38" name="Text 36"/>
          <p:cNvSpPr txBox="1"/>
          <p:nvPr/>
        </p:nvSpPr>
        <p:spPr>
          <a:xfrm>
            <a:off x="713232" y="6044184"/>
            <a:ext cx="1554480" cy="219456"/>
          </a:xfrm>
          <a:prstGeom prst="rect">
            <a:avLst/>
          </a:prstGeom>
          <a:noFill/>
          <a:ln/>
        </p:spPr>
        <p:txBody>
          <a:bodyPr wrap="square" lIns="0" tIns="0" rIns="0" bIns="0" rtlCol="0" anchor="ctr">
            <a:normAutofit/>
          </a:bodyPr>
          <a:lstStyle/>
          <a:p>
            <a:pPr algn="l" indent="0" marL="0">
              <a:buNone/>
            </a:pPr>
            <a:r>
              <a:rPr lang="en-US" sz="900" b="1" dirty="0">
                <a:solidFill>
                  <a:srgbClr val="F4C95D"/>
                </a:solidFill>
                <a:latin typeface="Aptos" pitchFamily="34" charset="0"/>
                <a:ea typeface="Aptos" pitchFamily="34" charset="-122"/>
                <a:cs typeface="Aptos" pitchFamily="34" charset="-120"/>
              </a:rPr>
              <a:t>MANAGERIAL TAKEAWAY</a:t>
            </a:r>
            <a:endParaRPr lang="en-US" sz="900" dirty="0"/>
          </a:p>
        </p:txBody>
      </p:sp>
      <p:sp>
        <p:nvSpPr>
          <p:cNvPr id="39" name="Text 37"/>
          <p:cNvSpPr txBox="1"/>
          <p:nvPr/>
        </p:nvSpPr>
        <p:spPr>
          <a:xfrm>
            <a:off x="2221992" y="6025896"/>
            <a:ext cx="9098280" cy="25603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Make assumptions and review triggers visible beside the parameters; otherwise false precision becomes policy.</a:t>
            </a:r>
            <a:endParaRPr lang="en-US" sz="1250" dirty="0"/>
          </a:p>
        </p:txBody>
      </p:sp>
      <p:sp>
        <p:nvSpPr>
          <p:cNvPr id="25" name="Slide Number Placeholder 0"/>
          <p:cNvSpPr>
            <a:spLocks noGrp="1"/>
          </p:cNvSpPr>
          <p:nvPr>
            <p:ph type="sldNum" sz="quarter" idx="4294967295"/>
          </p:nvPr>
        </p:nvSpPr>
        <p:spPr>
          <a:xfrm>
            <a:off x="11795760" y="6547104"/>
            <a:ext cx="201168"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B7785"/>
                </a:solidFill>
                <a:latin typeface="Aptos"/>
                <a:ea typeface="Aptos"/>
                <a:cs typeface="Apto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640080" y="502920"/>
            <a:ext cx="3657600" cy="256032"/>
          </a:xfrm>
          <a:prstGeom prst="rect">
            <a:avLst/>
          </a:prstGeom>
          <a:noFill/>
          <a:ln/>
        </p:spPr>
        <p:txBody>
          <a:bodyPr wrap="square" lIns="0" tIns="0" rIns="0" bIns="0" rtlCol="0" anchor="ctr">
            <a:normAutofit/>
          </a:bodyPr>
          <a:lstStyle/>
          <a:p>
            <a:pPr algn="l" indent="0" marL="0">
              <a:buNone/>
            </a:pPr>
            <a:r>
              <a:rPr lang="en-US" sz="1100" b="1" spc="120" kern="0" dirty="0">
                <a:solidFill>
                  <a:srgbClr val="4BB3C3"/>
                </a:solidFill>
                <a:latin typeface="Aptos" pitchFamily="34" charset="0"/>
                <a:ea typeface="Aptos" pitchFamily="34" charset="-122"/>
                <a:cs typeface="Aptos" pitchFamily="34" charset="-120"/>
              </a:rPr>
              <a:t>CLOSE • DISCUSS • APPLY</a:t>
            </a:r>
            <a:endParaRPr lang="en-US" sz="1100" dirty="0"/>
          </a:p>
        </p:txBody>
      </p:sp>
      <p:sp>
        <p:nvSpPr>
          <p:cNvPr id="3" name="Text 1"/>
          <p:cNvSpPr txBox="1"/>
          <p:nvPr/>
        </p:nvSpPr>
        <p:spPr>
          <a:xfrm>
            <a:off x="640080" y="1078992"/>
            <a:ext cx="6949440" cy="1143000"/>
          </a:xfrm>
          <a:prstGeom prst="rect">
            <a:avLst/>
          </a:prstGeom>
          <a:noFill/>
          <a:ln/>
        </p:spPr>
        <p:txBody>
          <a:bodyPr wrap="square" lIns="0" tIns="0" rIns="0" bIns="0" rtlCol="0" anchor="ctr">
            <a:normAutofit/>
          </a:bodyPr>
          <a:lstStyle/>
          <a:p>
            <a:pPr algn="l" indent="0" marL="0">
              <a:buNone/>
            </a:pPr>
            <a:r>
              <a:rPr lang="en-US" sz="3800" b="1" dirty="0">
                <a:solidFill>
                  <a:srgbClr val="FFFFFF"/>
                </a:solidFill>
                <a:latin typeface="Aptos" pitchFamily="34" charset="0"/>
                <a:ea typeface="Aptos" pitchFamily="34" charset="-122"/>
                <a:cs typeface="Aptos" pitchFamily="34" charset="-120"/>
              </a:rPr>
              <a:t>Inventory is a portfolio of</a:t>
            </a:r>
            <a:endParaRPr lang="en-US" sz="3800" dirty="0"/>
          </a:p>
          <a:p>
            <a:pPr algn="l" indent="0" marL="0">
              <a:buNone/>
            </a:pPr>
            <a:r>
              <a:rPr lang="en-US" sz="3800" b="1" dirty="0">
                <a:solidFill>
                  <a:srgbClr val="FFFFFF"/>
                </a:solidFill>
                <a:latin typeface="Aptos" pitchFamily="34" charset="0"/>
                <a:ea typeface="Aptos" pitchFamily="34" charset="-122"/>
                <a:cs typeface="Aptos" pitchFamily="34" charset="-120"/>
              </a:rPr>
              <a:t>strategic trade-offs.</a:t>
            </a:r>
            <a:endParaRPr lang="en-US" sz="3800" dirty="0"/>
          </a:p>
        </p:txBody>
      </p:sp>
      <p:sp>
        <p:nvSpPr>
          <p:cNvPr id="4" name="Shape 2"/>
          <p:cNvSpPr/>
          <p:nvPr/>
        </p:nvSpPr>
        <p:spPr>
          <a:xfrm>
            <a:off x="658368" y="2834640"/>
            <a:ext cx="3456432" cy="1508760"/>
          </a:xfrm>
          <a:prstGeom prst="roundRect">
            <a:avLst>
              <a:gd name="adj" fmla="val 7273"/>
            </a:avLst>
          </a:prstGeom>
          <a:solidFill>
            <a:srgbClr val="173B57"/>
          </a:solidFill>
          <a:ln w="12700">
            <a:solidFill>
              <a:srgbClr val="173B57"/>
            </a:solidFill>
            <a:prstDash val="solid"/>
          </a:ln>
        </p:spPr>
      </p:sp>
      <p:sp>
        <p:nvSpPr>
          <p:cNvPr id="5" name="Shape 3"/>
          <p:cNvSpPr/>
          <p:nvPr/>
        </p:nvSpPr>
        <p:spPr>
          <a:xfrm>
            <a:off x="859536" y="3063240"/>
            <a:ext cx="1078992" cy="274320"/>
          </a:xfrm>
          <a:prstGeom prst="roundRect">
            <a:avLst>
              <a:gd name="adj" fmla="val 50000"/>
            </a:avLst>
          </a:prstGeom>
          <a:solidFill>
            <a:srgbClr val="1D6FA5"/>
          </a:solidFill>
          <a:ln w="12700">
            <a:solidFill>
              <a:srgbClr val="1D6FA5"/>
            </a:solidFill>
            <a:prstDash val="solid"/>
          </a:ln>
        </p:spPr>
      </p:sp>
      <p:sp>
        <p:nvSpPr>
          <p:cNvPr id="6" name="Text 4"/>
          <p:cNvSpPr txBox="1"/>
          <p:nvPr/>
        </p:nvSpPr>
        <p:spPr>
          <a:xfrm>
            <a:off x="859536" y="3063240"/>
            <a:ext cx="1078992"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CASH</a:t>
            </a:r>
            <a:endParaRPr lang="en-US" sz="1000" dirty="0"/>
          </a:p>
        </p:txBody>
      </p:sp>
      <p:sp>
        <p:nvSpPr>
          <p:cNvPr id="7" name="Text 5"/>
          <p:cNvSpPr txBox="1"/>
          <p:nvPr/>
        </p:nvSpPr>
        <p:spPr>
          <a:xfrm>
            <a:off x="859536" y="3547872"/>
            <a:ext cx="2971800" cy="59436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Where is inventory absorbing cash without buying service?</a:t>
            </a:r>
            <a:endParaRPr lang="en-US" sz="1400" dirty="0"/>
          </a:p>
        </p:txBody>
      </p:sp>
      <p:sp>
        <p:nvSpPr>
          <p:cNvPr id="8" name="Shape 6"/>
          <p:cNvSpPr/>
          <p:nvPr/>
        </p:nvSpPr>
        <p:spPr>
          <a:xfrm>
            <a:off x="4425696" y="2834640"/>
            <a:ext cx="3456432" cy="1508760"/>
          </a:xfrm>
          <a:prstGeom prst="roundRect">
            <a:avLst>
              <a:gd name="adj" fmla="val 7273"/>
            </a:avLst>
          </a:prstGeom>
          <a:solidFill>
            <a:srgbClr val="204B63"/>
          </a:solidFill>
          <a:ln w="12700">
            <a:solidFill>
              <a:srgbClr val="204B63"/>
            </a:solidFill>
            <a:prstDash val="solid"/>
          </a:ln>
        </p:spPr>
      </p:sp>
      <p:sp>
        <p:nvSpPr>
          <p:cNvPr id="9" name="Shape 7"/>
          <p:cNvSpPr/>
          <p:nvPr/>
        </p:nvSpPr>
        <p:spPr>
          <a:xfrm>
            <a:off x="4626864" y="3063240"/>
            <a:ext cx="1078992" cy="274320"/>
          </a:xfrm>
          <a:prstGeom prst="roundRect">
            <a:avLst>
              <a:gd name="adj" fmla="val 50000"/>
            </a:avLst>
          </a:prstGeom>
          <a:solidFill>
            <a:srgbClr val="F28E2B"/>
          </a:solidFill>
          <a:ln w="12700">
            <a:solidFill>
              <a:srgbClr val="F28E2B"/>
            </a:solidFill>
            <a:prstDash val="solid"/>
          </a:ln>
        </p:spPr>
      </p:sp>
      <p:sp>
        <p:nvSpPr>
          <p:cNvPr id="10" name="Text 8"/>
          <p:cNvSpPr txBox="1"/>
          <p:nvPr/>
        </p:nvSpPr>
        <p:spPr>
          <a:xfrm>
            <a:off x="4626864" y="3063240"/>
            <a:ext cx="1078992"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EXPERIENCE</a:t>
            </a:r>
            <a:endParaRPr lang="en-US" sz="1000" dirty="0"/>
          </a:p>
        </p:txBody>
      </p:sp>
      <p:sp>
        <p:nvSpPr>
          <p:cNvPr id="11" name="Text 9"/>
          <p:cNvSpPr txBox="1"/>
          <p:nvPr/>
        </p:nvSpPr>
        <p:spPr>
          <a:xfrm>
            <a:off x="4626864" y="3547872"/>
            <a:ext cx="2971800" cy="59436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Which stockout damages the customer relationship most?</a:t>
            </a:r>
            <a:endParaRPr lang="en-US" sz="1400" dirty="0"/>
          </a:p>
        </p:txBody>
      </p:sp>
      <p:sp>
        <p:nvSpPr>
          <p:cNvPr id="12" name="Shape 10"/>
          <p:cNvSpPr/>
          <p:nvPr/>
        </p:nvSpPr>
        <p:spPr>
          <a:xfrm>
            <a:off x="8193024" y="2834640"/>
            <a:ext cx="3456432" cy="1508760"/>
          </a:xfrm>
          <a:prstGeom prst="roundRect">
            <a:avLst>
              <a:gd name="adj" fmla="val 7273"/>
            </a:avLst>
          </a:prstGeom>
          <a:solidFill>
            <a:srgbClr val="284F58"/>
          </a:solidFill>
          <a:ln w="12700">
            <a:solidFill>
              <a:srgbClr val="284F58"/>
            </a:solidFill>
            <a:prstDash val="solid"/>
          </a:ln>
        </p:spPr>
      </p:sp>
      <p:sp>
        <p:nvSpPr>
          <p:cNvPr id="13" name="Shape 11"/>
          <p:cNvSpPr/>
          <p:nvPr/>
        </p:nvSpPr>
        <p:spPr>
          <a:xfrm>
            <a:off x="8394192" y="3063240"/>
            <a:ext cx="1078992" cy="274320"/>
          </a:xfrm>
          <a:prstGeom prst="roundRect">
            <a:avLst>
              <a:gd name="adj" fmla="val 50000"/>
            </a:avLst>
          </a:prstGeom>
          <a:solidFill>
            <a:srgbClr val="2A9D8F"/>
          </a:solidFill>
          <a:ln w="12700">
            <a:solidFill>
              <a:srgbClr val="2A9D8F"/>
            </a:solidFill>
            <a:prstDash val="solid"/>
          </a:ln>
        </p:spPr>
      </p:sp>
      <p:sp>
        <p:nvSpPr>
          <p:cNvPr id="14" name="Text 12"/>
          <p:cNvSpPr txBox="1"/>
          <p:nvPr/>
        </p:nvSpPr>
        <p:spPr>
          <a:xfrm>
            <a:off x="8394192" y="3063240"/>
            <a:ext cx="1078992"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RESILIENCE</a:t>
            </a:r>
            <a:endParaRPr lang="en-US" sz="1000" dirty="0"/>
          </a:p>
        </p:txBody>
      </p:sp>
      <p:sp>
        <p:nvSpPr>
          <p:cNvPr id="15" name="Text 13"/>
          <p:cNvSpPr txBox="1"/>
          <p:nvPr/>
        </p:nvSpPr>
        <p:spPr>
          <a:xfrm>
            <a:off x="8394192" y="3547872"/>
            <a:ext cx="2971800" cy="59436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Which buffer reduces risk—and which merely hides it?</a:t>
            </a:r>
            <a:endParaRPr lang="en-US" sz="1400" dirty="0"/>
          </a:p>
        </p:txBody>
      </p:sp>
      <p:sp>
        <p:nvSpPr>
          <p:cNvPr id="16" name="Text 14"/>
          <p:cNvSpPr txBox="1"/>
          <p:nvPr/>
        </p:nvSpPr>
        <p:spPr>
          <a:xfrm>
            <a:off x="667512" y="4892040"/>
            <a:ext cx="1280160" cy="246888"/>
          </a:xfrm>
          <a:prstGeom prst="rect">
            <a:avLst/>
          </a:prstGeom>
          <a:noFill/>
          <a:ln/>
        </p:spPr>
        <p:txBody>
          <a:bodyPr wrap="square" lIns="0" tIns="0" rIns="0" bIns="0" rtlCol="0" anchor="ctr">
            <a:normAutofit/>
          </a:bodyPr>
          <a:lstStyle/>
          <a:p>
            <a:pPr algn="l" indent="0" marL="0">
              <a:buNone/>
            </a:pPr>
            <a:r>
              <a:rPr lang="en-US" sz="1000" b="1" dirty="0">
                <a:solidFill>
                  <a:srgbClr val="F4C95D"/>
                </a:solidFill>
                <a:latin typeface="Aptos" pitchFamily="34" charset="0"/>
                <a:ea typeface="Aptos" pitchFamily="34" charset="-122"/>
                <a:cs typeface="Aptos" pitchFamily="34" charset="-120"/>
              </a:rPr>
              <a:t>EXIT TICKET</a:t>
            </a:r>
            <a:endParaRPr lang="en-US" sz="1000" dirty="0"/>
          </a:p>
        </p:txBody>
      </p:sp>
      <p:sp>
        <p:nvSpPr>
          <p:cNvPr id="17" name="Text 15"/>
          <p:cNvSpPr txBox="1"/>
          <p:nvPr/>
        </p:nvSpPr>
        <p:spPr>
          <a:xfrm>
            <a:off x="667512" y="5257800"/>
            <a:ext cx="10698480" cy="402336"/>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Aptos" pitchFamily="34" charset="0"/>
                <a:ea typeface="Aptos" pitchFamily="34" charset="-122"/>
                <a:cs typeface="Aptos" pitchFamily="34" charset="-120"/>
              </a:rPr>
              <a:t>One formula you can use • one assumption you would test • one lever other than “buy more.”</a:t>
            </a:r>
            <a:endParaRPr lang="en-US" sz="1900" dirty="0"/>
          </a:p>
        </p:txBody>
      </p:sp>
      <p:sp>
        <p:nvSpPr>
          <p:cNvPr id="18" name="Text 16"/>
          <p:cNvSpPr txBox="1"/>
          <p:nvPr/>
        </p:nvSpPr>
        <p:spPr>
          <a:xfrm>
            <a:off x="667512" y="5989320"/>
            <a:ext cx="10607040" cy="292608"/>
          </a:xfrm>
          <a:prstGeom prst="rect">
            <a:avLst/>
          </a:prstGeom>
          <a:noFill/>
          <a:ln/>
        </p:spPr>
        <p:txBody>
          <a:bodyPr wrap="square" lIns="0" tIns="0" rIns="0" bIns="0" rtlCol="0" anchor="ctr">
            <a:normAutofit/>
          </a:bodyPr>
          <a:lstStyle/>
          <a:p>
            <a:pPr algn="l" indent="0" marL="0">
              <a:buNone/>
            </a:pPr>
            <a:r>
              <a:rPr lang="en-US" sz="1400" i="1" dirty="0">
                <a:solidFill>
                  <a:srgbClr val="4BB3C3"/>
                </a:solidFill>
                <a:latin typeface="Aptos" pitchFamily="34" charset="0"/>
                <a:ea typeface="Aptos" pitchFamily="34" charset="-122"/>
                <a:cs typeface="Aptos" pitchFamily="34" charset="-120"/>
              </a:rPr>
              <a:t>The calculation begins the decision. The assumptions and trade-offs are the decision.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MBA Executive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Planning &amp; Control Models: Balancing Cost, Service, and Risk</dc:title>
  <dc:subject>90-minute MBA lecture on inventory planning and control</dc:subject>
  <dc:creator>Kiro</dc:creator>
  <cp:lastModifiedBy>Kiro</cp:lastModifiedBy>
  <cp:revision>1</cp:revision>
  <dcterms:created xsi:type="dcterms:W3CDTF">2026-10-06T16:34:30Z</dcterms:created>
  <dcterms:modified xsi:type="dcterms:W3CDTF">2026-10-06T16:34:30Z</dcterms:modified>
</cp:coreProperties>
</file>